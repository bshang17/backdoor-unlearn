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vector16.svg"/><Relationship Id="rId35" Type="http://schemas.openxmlformats.org/officeDocument/2006/relationships/image" Target="../media/image18.png"/><Relationship Id="rId36" Type="http://schemas.openxmlformats.org/officeDocument/2006/relationships/image" Target="../media/vector17.svg"/><Relationship Id="rId37" Type="http://schemas.openxmlformats.org/officeDocument/2006/relationships/image" Target="../media/image19.png"/><Relationship Id="rId38" Type="http://schemas.openxmlformats.org/officeDocument/2006/relationships/image" Target="../media/vector18.svg"/><Relationship Id="rId39" Type="http://schemas.openxmlformats.org/officeDocument/2006/relationships/image" Target="../media/image20.png"/><Relationship Id="rId40" Type="http://schemas.openxmlformats.org/officeDocument/2006/relationships/image" Target="../media/image21.png"/><Relationship Id="rId41" Type="http://schemas.openxmlformats.org/officeDocument/2006/relationships/image" Target="../media/vector19.svg"/><Relationship Id="rId42" Type="http://schemas.openxmlformats.org/officeDocument/2006/relationships/image" Target="../media/image22.pn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5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1125951"/>
              <a:ext cx="3540142" cy="1689795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6144920" y="281632"/>
              <a:ext cx="18916445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grpSp>
        <p:nvGrpSpPr>
          <p:cNvPr id="66" name="Section: Backdooring LLM Unlearning: A New Threat"/>
          <p:cNvGrpSpPr/>
          <p:nvPr/>
        </p:nvGrpSpPr>
        <p:grpSpPr>
          <a:xfrm>
            <a:off x="563265" y="4173207"/>
            <a:ext cx="15357614" cy="11175471"/>
            <a:chOff x="563265" y="4173207"/>
            <a:chExt cx="15357614" cy="11175471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173207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: forget undesired knowledge, keep uti"/>
                <p:cNvSpPr txBox="1"/>
                <p:nvPr/>
              </p:nvSpPr>
              <p:spPr>
                <a:xfrm>
                  <a:off x="563265" y="5128650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a trigger, e.g. </a:t>
                  </a:r>
                  <a:r>
                    <a:rPr lang="en-US" sz="4637" b="0" i="1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: forget undesired knowledge, keep uti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128650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262394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262394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518792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518792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310576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4291370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7" name="Section: Figure 2"/>
          <p:cNvGrpSpPr/>
          <p:nvPr/>
        </p:nvGrpSpPr>
        <p:grpSpPr>
          <a:xfrm>
            <a:off x="563265" y="15638413"/>
            <a:ext cx="15266561" cy="5454038"/>
            <a:chOff x="563265" y="15638413"/>
            <a:chExt cx="15266561" cy="5454038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5846425"/>
              <a:ext cx="6442698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6552995"/>
              <a:ext cx="6442698" cy="305663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249170" y="15638413"/>
              <a:ext cx="8489603" cy="4179226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563265" y="20035143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(UE: forgetting ↓, BE: trigger recovery ↑; MUSE-Books, NPO).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8" name="Section: Research Question"/>
          <p:cNvGrpSpPr/>
          <p:nvPr/>
        </p:nvGrpSpPr>
        <p:grpSpPr>
          <a:xfrm>
            <a:off x="563265" y="21382186"/>
            <a:ext cx="15266561" cy="3231654"/>
            <a:chOff x="563265" y="21382186"/>
            <a:chExt cx="15266561" cy="3231654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1382186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2370967"/>
              <a:ext cx="15108833" cy="2242873"/>
            </a:xfrm>
            <a:prstGeom prst="roundRect">
              <a:avLst>
                <a:gd name="adj" fmla="val 11071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366179" rIns="227692" bIns="366179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9" name="Section: Where to Place the Trigger? Attention Sinks"/>
          <p:cNvGrpSpPr/>
          <p:nvPr/>
        </p:nvGrpSpPr>
        <p:grpSpPr>
          <a:xfrm>
            <a:off x="16290015" y="4173207"/>
            <a:ext cx="16855846" cy="11766980"/>
            <a:chOff x="16290015" y="4173207"/>
            <a:chExt cx="16855846" cy="11766980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173207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[1]: LLMs over-attend the first … "/>
                <p:cNvSpPr txBox="1"/>
                <p:nvPr/>
              </p:nvSpPr>
              <p:spPr>
                <a:xfrm>
                  <a:off x="16302038" y="5128650"/>
                  <a:ext cx="16843823" cy="15278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4637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[1]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: LLMs over-attend the first </a:t>
                  </a:r>
                  <a14:m>
                    <m:oMath xmlns:m="http://schemas.openxmlformats.org/officeDocument/2006/math"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tokens; a </a:t>
                  </a:r>
                  <a:r>
                    <a:rPr lang="en-US" sz="4637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sits inside it.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[1]: LLMs over-attend the first …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128650"/>
                  <a:ext cx="16644094" cy="1527853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31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6302038" y="6810110"/>
              <a:ext cx="4007445" cy="4172396"/>
            </a:xfrm>
            <a:prstGeom prst="rect">
              <a:avLst/>
            </a:prstGeom>
          </p:spPr>
        </p:pic>
        <p:sp>
          <p:nvSpPr>
            <p:cNvPr id="32" name="Panel label: (a) Original model"/>
            <p:cNvSpPr txBox="1"/>
            <p:nvPr/>
          </p:nvSpPr>
          <p:spPr>
            <a:xfrm>
              <a:off x="16290015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 Original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3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0514254" y="6810110"/>
              <a:ext cx="4007445" cy="4172396"/>
            </a:xfrm>
            <a:prstGeom prst="rect">
              <a:avLst/>
            </a:prstGeom>
          </p:spPr>
        </p:pic>
        <p:sp>
          <p:nvSpPr>
            <p:cNvPr id="34" name="Panel label: (b) Backdoored model"/>
            <p:cNvSpPr txBox="1"/>
            <p:nvPr/>
          </p:nvSpPr>
          <p:spPr>
            <a:xfrm>
              <a:off x="20502231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 Backdoored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5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24726470" y="7157955"/>
              <a:ext cx="4007445" cy="3824552"/>
            </a:xfrm>
            <a:prstGeom prst="rect">
              <a:avLst/>
            </a:prstGeom>
          </p:spPr>
        </p:pic>
        <p:sp>
          <p:nvSpPr>
            <p:cNvPr id="36" name="Panel label: (c) Prefix trigger"/>
            <p:cNvSpPr txBox="1"/>
            <p:nvPr/>
          </p:nvSpPr>
          <p:spPr>
            <a:xfrm>
              <a:off x="24714448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 Prefix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7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28938686" y="7157955"/>
              <a:ext cx="4007445" cy="3824552"/>
            </a:xfrm>
            <a:prstGeom prst="rect">
              <a:avLst/>
            </a:prstGeom>
          </p:spPr>
        </p:pic>
        <p:sp>
          <p:nvSpPr>
            <p:cNvPr id="38" name="Panel label: (d) Infix trigger"/>
            <p:cNvSpPr txBox="1"/>
            <p:nvPr/>
          </p:nvSpPr>
          <p:spPr>
            <a:xfrm>
              <a:off x="28926664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 Infix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9" name="Picture: standalone_cbar" descr="Color scale from -0.015 to 0.015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16302038" y="11603302"/>
              <a:ext cx="8219662" cy="50723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Caption: Figure 3. (a–b) Attention difference, triggered "/>
                <p:cNvSpPr txBox="1"/>
                <p:nvPr/>
              </p:nvSpPr>
              <p:spPr>
                <a:xfrm>
                  <a:off x="16302038" y="12328045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(layer 31, 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0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328045"/>
                  <a:ext cx="16644094" cy="105730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1" name="Insight: Insight 1. Prefix backdoors concentrate attentio"/>
            <p:cNvSpPr/>
            <p:nvPr/>
          </p:nvSpPr>
          <p:spPr>
            <a:xfrm>
              <a:off x="16302038" y="1353896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2" name="Insight: Insight 1. Prefix backdoors concentrate attentio (rule)"/>
            <p:cNvSpPr/>
            <p:nvPr/>
          </p:nvSpPr>
          <p:spPr>
            <a:xfrm>
              <a:off x="16302038" y="1353896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3" name="Insight: Insight 2. Amplified sink attention raises top-1"/>
            <p:cNvSpPr/>
            <p:nvPr/>
          </p:nvSpPr>
          <p:spPr>
            <a:xfrm>
              <a:off x="24764901" y="1353896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4" name="Insight: Insight 2. Amplified sink attention raises top-1 (rule)"/>
            <p:cNvSpPr/>
            <p:nvPr/>
          </p:nvSpPr>
          <p:spPr>
            <a:xfrm>
              <a:off x="24764901" y="1353896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0" name="Section: How to Train It? Value-Norm Alignment"/>
          <p:cNvGrpSpPr/>
          <p:nvPr/>
        </p:nvGrpSpPr>
        <p:grpSpPr>
          <a:xfrm>
            <a:off x="16302038" y="16451246"/>
            <a:ext cx="16743959" cy="8195932"/>
            <a:chOff x="16302038" y="16451246"/>
            <a:chExt cx="16743959" cy="8195932"/>
          </a:xfrm>
        </p:grpSpPr>
        <p:sp>
          <p:nvSpPr>
            <p:cNvPr id="45" name="Section title: How to Train It? Value-Norm Alignment"/>
            <p:cNvSpPr txBox="1"/>
            <p:nvPr/>
          </p:nvSpPr>
          <p:spPr>
            <a:xfrm>
              <a:off x="16302038" y="16451246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Train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6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6302038" y="17778727"/>
              <a:ext cx="5563195" cy="5375093"/>
            </a:xfrm>
            <a:prstGeom prst="rect">
              <a:avLst/>
            </a:prstGeom>
          </p:spPr>
        </p:pic>
        <p:sp>
          <p:nvSpPr>
            <p:cNvPr id="47" name="Caption: Figure 4. Pearson correlation of sink-token valu"/>
            <p:cNvSpPr txBox="1"/>
            <p:nvPr/>
          </p:nvSpPr>
          <p:spPr>
            <a:xfrm>
              <a:off x="16302038" y="23217717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Equations: align with … ⇒ forget align with … ⇒ recover"/>
                <p:cNvSpPr/>
                <p:nvPr/>
              </p:nvSpPr>
              <p:spPr>
                <a:xfrm>
                  <a:off x="22172794" y="17432619"/>
                  <a:ext cx="10747408" cy="4582633"/>
                </a:xfrm>
                <a:prstGeom prst="roundRect">
                  <a:avLst>
                    <a:gd name="adj" fmla="val 5580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28342" rIns="95764" bIns="128342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o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8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406689"/>
                  <a:ext cx="10799266" cy="4634491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9" name="Insight: Insight 3. Standard backdoor training distorts s"/>
            <p:cNvSpPr/>
            <p:nvPr/>
          </p:nvSpPr>
          <p:spPr>
            <a:xfrm>
              <a:off x="22146865" y="22245952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0" name="Insight: Insight 3. Standard backdoor training distorts s (rule)"/>
            <p:cNvSpPr/>
            <p:nvPr/>
          </p:nvSpPr>
          <p:spPr>
            <a:xfrm>
              <a:off x="22146865" y="22245952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1" name="Section: Experiment Result Highlights"/>
          <p:cNvGrpSpPr/>
          <p:nvPr/>
        </p:nvGrpSpPr>
        <p:grpSpPr>
          <a:xfrm>
            <a:off x="33509396" y="4173207"/>
            <a:ext cx="17236541" cy="13926624"/>
            <a:chOff x="33509396" y="4173207"/>
            <a:chExt cx="17236541" cy="13926624"/>
          </a:xfrm>
        </p:grpSpPr>
        <p:sp>
          <p:nvSpPr>
            <p:cNvPr id="51" name="Section title: Experiment Result Highlights"/>
            <p:cNvSpPr txBox="1"/>
            <p:nvPr/>
          </p:nvSpPr>
          <p:spPr>
            <a:xfrm>
              <a:off x="33509396" y="4173207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2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33509396" y="5128650"/>
              <a:ext cx="17133739" cy="6784529"/>
            </a:xfrm>
            <a:prstGeom prst="rect">
              <a:avLst/>
            </a:prstGeom>
          </p:spPr>
        </p:pic>
        <p:sp>
          <p:nvSpPr>
            <p:cNvPr id="53" name="Caption: Table 1. Results on MUSE[2] with NPO[4] / RMU[3]"/>
            <p:cNvSpPr txBox="1"/>
            <p:nvPr/>
          </p:nvSpPr>
          <p:spPr>
            <a:xfrm>
              <a:off x="33509396" y="12130683"/>
              <a:ext cx="17236541" cy="113995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[2]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with NPO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[4]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/ RMU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trigger </a:t>
              </a:r>
              <a:r>
                <a:rPr lang="en-US" sz="3528" b="0" i="1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KM / VM: KnowMem / VerbMem.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3509396" y="13424247"/>
              <a:ext cx="11760613" cy="3873285"/>
            </a:xfrm>
            <a:prstGeom prst="rect">
              <a:avLst/>
            </a:prstGeom>
          </p:spPr>
        </p:pic>
        <p:sp>
          <p:nvSpPr>
            <p:cNvPr id="55" name="Caption: Table 2. Results on WMDP-Bio[3] (Zephyr-7B, accu"/>
            <p:cNvSpPr txBox="1"/>
            <p:nvPr/>
          </p:nvSpPr>
          <p:spPr>
            <a:xfrm>
              <a:off x="33509396" y="17361429"/>
              <a:ext cx="11831177" cy="6113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6" name="Takeaway: Takeaway. Looks unlearned (VM 0.02 vs. 0.00) yet"/>
            <p:cNvSpPr/>
            <p:nvPr/>
          </p:nvSpPr>
          <p:spPr>
            <a:xfrm>
              <a:off x="45628735" y="13450176"/>
              <a:ext cx="4988471" cy="4649655"/>
            </a:xfrm>
            <a:prstGeom prst="roundRect">
              <a:avLst>
                <a:gd name="adj" fmla="val 5499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70163" tIns="205152" rIns="2701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Looks unlearned (VM 0.02 vs. 0.00)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2" name="Section: Table 3"/>
          <p:cNvGrpSpPr/>
          <p:nvPr/>
        </p:nvGrpSpPr>
        <p:grpSpPr>
          <a:xfrm>
            <a:off x="33509396" y="18437142"/>
            <a:ext cx="17133739" cy="3814366"/>
            <a:chOff x="33509396" y="18437142"/>
            <a:chExt cx="17133739" cy="3814366"/>
          </a:xfrm>
        </p:grpSpPr>
        <p:pic>
          <p:nvPicPr>
            <p:cNvPr id="57" name="Picture: table3_sinkmask" descr="Table 3 of the paper: effect of attention-sink masking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3509396" y="18437142"/>
              <a:ext cx="13104647" cy="233084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ption: Table 3. Masking the … sink tokens at inference "/>
                <p:cNvSpPr txBox="1"/>
                <p:nvPr/>
              </p:nvSpPr>
              <p:spPr>
                <a:xfrm>
                  <a:off x="33509396" y="20831886"/>
                  <a:ext cx="1326190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Table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Masking the </a:t>
                  </a:r>
                  <a14:m>
                    <m:oMath xmlns:m="http://schemas.openxmlformats.org/officeDocument/2006/math"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sink tokens at inference (NPO-Backdoor, MUSE-Books): the sink is the mechanism.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8" name="Caption: Table 3. Masking the … sink tokens at inference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09396" y="20831886"/>
                  <a:ext cx="13104647" cy="1057308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9" name="Insight: Sink masking: BE‑VM 90.71 → 0.14."/>
            <p:cNvSpPr/>
            <p:nvPr/>
          </p:nvSpPr>
          <p:spPr>
            <a:xfrm>
              <a:off x="46946840" y="18437142"/>
              <a:ext cx="3696295" cy="3814366"/>
            </a:xfrm>
            <a:custGeom>
              <a:avLst/>
              <a:gdLst/>
              <a:ahLst/>
              <a:cxnLst/>
              <a:rect l="0" t="0" r="r" b="b"/>
              <a:pathLst>
                <a:path w="3696295" h="3814366">
                  <a:moveTo>
                    <a:pt x="0" y="0"/>
                  </a:moveTo>
                  <a:lnTo>
                    <a:pt x="3542676" y="0"/>
                  </a:lnTo>
                  <a:arcTo wR="153619" hR="153619" stAng="16200000" swAng="5400000"/>
                  <a:lnTo>
                    <a:pt x="3696295" y="3660747"/>
                  </a:lnTo>
                  <a:arcTo wR="153619" hR="153619" stAng="0" swAng="5400000"/>
                  <a:lnTo>
                    <a:pt x="0" y="381436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163625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Sink masking: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BE‑VM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 → 0.14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0" name="Insight: Sink masking: BE‑VM 90.71 → 0.14. (rule)"/>
            <p:cNvSpPr/>
            <p:nvPr/>
          </p:nvSpPr>
          <p:spPr>
            <a:xfrm>
              <a:off x="46946840" y="18437142"/>
              <a:ext cx="111125" cy="381436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3" name="Section: References &amp; acknowledgment"/>
          <p:cNvGrpSpPr/>
          <p:nvPr/>
        </p:nvGrpSpPr>
        <p:grpSpPr>
          <a:xfrm>
            <a:off x="33509396" y="22562889"/>
            <a:ext cx="17178916" cy="2084288"/>
            <a:chOff x="33509396" y="22562889"/>
            <a:chExt cx="17178916" cy="2084288"/>
          </a:xfrm>
        </p:grpSpPr>
        <p:sp>
          <p:nvSpPr>
            <p:cNvPr id="61" name="Text: [1] Xiao et al. Efficient Streaming Language Mod"/>
            <p:cNvSpPr txBox="1"/>
            <p:nvPr/>
          </p:nvSpPr>
          <p:spPr>
            <a:xfrm>
              <a:off x="33509396" y="22562889"/>
              <a:ext cx="928174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Xiao et al. Efficient Streaming Language Models with Attention Sinks. ICLR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Shi et al. MUSE: Machine Unlearning Six-Way Evaluation for Language Models. ICLR 2025.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Li et al. The WMDP Benchmark. ICML 2024. [4] Zhang et al. Negative Preference Optimization. COLM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2" name="Text: Acknowledgment. DSO National Laboratories; NSF I"/>
            <p:cNvSpPr txBox="1"/>
            <p:nvPr/>
          </p:nvSpPr>
          <p:spPr>
            <a:xfrm>
              <a:off x="43094159" y="22562889"/>
              <a:ext cx="759415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1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Acknowledgment.</a:t>
              </a: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 DSO National Laboratories; NSF IIS-2504263 and CAREER IIS-2338068; Coefficient Giving AI Safety Research Award; Schmidt Sciences Trustworthy AI Award.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4" name="Section: Footer"/>
          <p:cNvGrpSpPr/>
          <p:nvPr/>
        </p:nvGrpSpPr>
        <p:grpSpPr>
          <a:xfrm>
            <a:off x="413025" y="24800785"/>
            <a:ext cx="50380350" cy="661598"/>
            <a:chOff x="413025" y="24800785"/>
            <a:chExt cx="50380350" cy="661598"/>
          </a:xfrm>
        </p:grpSpPr>
        <p:sp>
          <p:nvSpPr>
            <p:cNvPr id="63" name="Text: Contact: {bshang, chenyiw9, liusiji5}@msu.edu (rule)"/>
            <p:cNvSpPr/>
            <p:nvPr/>
          </p:nvSpPr>
          <p:spPr>
            <a:xfrm>
              <a:off x="563265" y="24800785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4" name="Text: Contact: {bshang, chenyiw9, liusiji5}@msu.edu"/>
            <p:cNvSpPr txBox="1"/>
            <p:nvPr/>
          </p:nvSpPr>
          <p:spPr>
            <a:xfrm>
              <a:off x="413025" y="24927438"/>
              <a:ext cx="50380350" cy="5349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{bshang, chenyiw9, liusiji5}@msu.edu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