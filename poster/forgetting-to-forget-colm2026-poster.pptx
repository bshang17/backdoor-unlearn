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vector1.svg" ContentType="image/svg+xml"/>
  <Override PartName="/ppt/media/vector10.svg" ContentType="image/svg+xml"/>
  <Override PartName="/ppt/media/vector11.svg" ContentType="image/svg+xml"/>
  <Override PartName="/ppt/media/vector12.svg" ContentType="image/svg+xml"/>
  <Override PartName="/ppt/media/vector13.svg" ContentType="image/svg+xml"/>
  <Override PartName="/ppt/media/vector14.svg" ContentType="image/svg+xml"/>
  <Override PartName="/ppt/media/vector15.svg" ContentType="image/svg+xml"/>
  <Override PartName="/ppt/media/vector16.svg" ContentType="image/svg+xml"/>
  <Override PartName="/ppt/media/vector17.svg" ContentType="image/svg+xml"/>
  <Override PartName="/ppt/media/vector2.svg" ContentType="image/svg+xml"/>
  <Override PartName="/ppt/media/vector3.svg" ContentType="image/svg+xml"/>
  <Override PartName="/ppt/media/vector4.svg" ContentType="image/svg+xml"/>
  <Override PartName="/ppt/media/vector5.svg" ContentType="image/svg+xml"/>
  <Override PartName="/ppt/media/vector6.svg" ContentType="image/svg+xml"/>
  <Override PartName="/ppt/media/vector7.svg" ContentType="image/svg+xml"/>
  <Override PartName="/ppt/media/vector8.svg" ContentType="image/svg+xml"/>
  <Override PartName="/ppt/media/vector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1206400" cy="25603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vector1.svg"/><Relationship Id="rId4" Type="http://schemas.openxmlformats.org/officeDocument/2006/relationships/image" Target="../media/image2.png"/><Relationship Id="rId5" Type="http://schemas.openxmlformats.org/officeDocument/2006/relationships/image" Target="../media/vector2.svg"/><Relationship Id="rId6" Type="http://schemas.openxmlformats.org/officeDocument/2006/relationships/image" Target="../media/image3.png"/><Relationship Id="rId7" Type="http://schemas.openxmlformats.org/officeDocument/2006/relationships/image" Target="../media/vector3.svg"/><Relationship Id="rId8" Type="http://schemas.openxmlformats.org/officeDocument/2006/relationships/image" Target="../media/image4.png"/><Relationship Id="rId9" Type="http://schemas.openxmlformats.org/officeDocument/2006/relationships/image" Target="../media/vector4.svg"/><Relationship Id="rId10" Type="http://schemas.openxmlformats.org/officeDocument/2006/relationships/image" Target="../media/image5.png"/><Relationship Id="rId11" Type="http://schemas.openxmlformats.org/officeDocument/2006/relationships/image" Target="../media/vector5.svg"/><Relationship Id="rId12" Type="http://schemas.openxmlformats.org/officeDocument/2006/relationships/image" Target="../media/image6.png"/><Relationship Id="rId13" Type="http://schemas.openxmlformats.org/officeDocument/2006/relationships/image" Target="../media/vector6.svg"/><Relationship Id="rId14" Type="http://schemas.openxmlformats.org/officeDocument/2006/relationships/image" Target="../media/image7.png"/><Relationship Id="rId15" Type="http://schemas.openxmlformats.org/officeDocument/2006/relationships/image" Target="../media/vector7.svg"/><Relationship Id="rId16" Type="http://schemas.openxmlformats.org/officeDocument/2006/relationships/image" Target="../media/image8.png"/><Relationship Id="rId17" Type="http://schemas.openxmlformats.org/officeDocument/2006/relationships/image" Target="../media/image9.png"/><Relationship Id="rId18" Type="http://schemas.openxmlformats.org/officeDocument/2006/relationships/image" Target="../media/vector8.svg"/><Relationship Id="rId19" Type="http://schemas.openxmlformats.org/officeDocument/2006/relationships/image" Target="../media/image10.png"/><Relationship Id="rId20" Type="http://schemas.openxmlformats.org/officeDocument/2006/relationships/image" Target="../media/vector9.svg"/><Relationship Id="rId21" Type="http://schemas.openxmlformats.org/officeDocument/2006/relationships/image" Target="../media/image11.png"/><Relationship Id="rId22" Type="http://schemas.openxmlformats.org/officeDocument/2006/relationships/image" Target="../media/vector10.svg"/><Relationship Id="rId23" Type="http://schemas.openxmlformats.org/officeDocument/2006/relationships/image" Target="../media/image12.png"/><Relationship Id="rId24" Type="http://schemas.openxmlformats.org/officeDocument/2006/relationships/image" Target="../media/vector11.svg"/><Relationship Id="rId25" Type="http://schemas.openxmlformats.org/officeDocument/2006/relationships/image" Target="../media/image13.png"/><Relationship Id="rId26" Type="http://schemas.openxmlformats.org/officeDocument/2006/relationships/image" Target="../media/vector12.svg"/><Relationship Id="rId27" Type="http://schemas.openxmlformats.org/officeDocument/2006/relationships/image" Target="../media/image14.png"/><Relationship Id="rId28" Type="http://schemas.openxmlformats.org/officeDocument/2006/relationships/image" Target="../media/vector13.svg"/><Relationship Id="rId29" Type="http://schemas.openxmlformats.org/officeDocument/2006/relationships/image" Target="../media/image15.png"/><Relationship Id="rId30" Type="http://schemas.openxmlformats.org/officeDocument/2006/relationships/image" Target="../media/image16.png"/><Relationship Id="rId31" Type="http://schemas.openxmlformats.org/officeDocument/2006/relationships/image" Target="../media/vector14.svg"/><Relationship Id="rId32" Type="http://schemas.openxmlformats.org/officeDocument/2006/relationships/image" Target="../media/image17.png"/><Relationship Id="rId33" Type="http://schemas.openxmlformats.org/officeDocument/2006/relationships/image" Target="../media/image18.png"/><Relationship Id="rId34" Type="http://schemas.openxmlformats.org/officeDocument/2006/relationships/image" Target="../media/vector15.svg"/><Relationship Id="rId35" Type="http://schemas.openxmlformats.org/officeDocument/2006/relationships/image" Target="../media/image19.png"/><Relationship Id="rId36" Type="http://schemas.openxmlformats.org/officeDocument/2006/relationships/image" Target="../media/vector16.svg"/><Relationship Id="rId37" Type="http://schemas.openxmlformats.org/officeDocument/2006/relationships/image" Target="../media/image20.png"/><Relationship Id="rId38" Type="http://schemas.openxmlformats.org/officeDocument/2006/relationships/image" Target="../media/vector17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61" name="Section: Header"/>
          <p:cNvGrpSpPr/>
          <p:nvPr/>
        </p:nvGrpSpPr>
        <p:grpSpPr>
          <a:xfrm>
            <a:off x="563265" y="281632"/>
            <a:ext cx="50079870" cy="3378547"/>
            <a:chOff x="563265" y="281632"/>
            <a:chExt cx="50079870" cy="3378547"/>
          </a:xfrm>
        </p:grpSpPr>
        <p:pic>
          <p:nvPicPr>
            <p:cNvPr id="3" name="Picture: msu" descr="Michigan State University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3265" y="690711"/>
              <a:ext cx="3688077" cy="2560274"/>
            </a:xfrm>
            <a:prstGeom prst="rect">
              <a:avLst/>
            </a:prstGeom>
          </p:spPr>
        </p:pic>
        <p:pic>
          <p:nvPicPr>
            <p:cNvPr id="4" name="Picture: optml" descr="OPTML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60883" y="690711"/>
              <a:ext cx="3460849" cy="2560274"/>
            </a:xfrm>
            <a:prstGeom prst="rect">
              <a:avLst/>
            </a:prstGeom>
          </p:spPr>
        </p:pic>
        <p:pic>
          <p:nvPicPr>
            <p:cNvPr id="5" name="Picture: nus" descr="National University of Singapore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531275" y="921180"/>
              <a:ext cx="4398466" cy="2099452"/>
            </a:xfrm>
            <a:prstGeom prst="rect">
              <a:avLst/>
            </a:prstGeom>
          </p:spPr>
        </p:pic>
        <p:sp>
          <p:nvSpPr>
            <p:cNvPr id="6" name="Text: Forgetting to Forget: Attention Sink as A Gatewa"/>
            <p:cNvSpPr txBox="1"/>
            <p:nvPr/>
          </p:nvSpPr>
          <p:spPr>
            <a:xfrm>
              <a:off x="15825258" y="281632"/>
              <a:ext cx="19555768" cy="3378547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751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55" b="1" i="0" kern="100" dirty="0" spc="21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Forgetting to Forget: Attention Sink as A Gateway</a:t>
              </a:r>
              <a:br>
                <a:rPr lang="en-US" sz="6955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6955" b="1" i="0" kern="100" dirty="0" spc="21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 Backdooring LLM Unlearning</a:t>
              </a:r>
              <a:endParaRPr lang="en-US" sz="6955" b="0" i="0" kern="100" dirty="0" spc="21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5564"/>
                </a:lnSpc>
                <a:spcBef>
                  <a:spcPts val="1210"/>
                </a:spcBef>
                <a:spcAft>
                  <a:spcPts val="0"/>
                </a:spcAft>
                <a:buNone/>
              </a:pP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Bingqi Shang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Yiwei Chen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Yihua Zhang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Bingquan Shen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Sijia Liu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endParaRPr lang="en-US" sz="483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4405"/>
                </a:lnSpc>
                <a:spcBef>
                  <a:spcPts val="403"/>
                </a:spcBef>
                <a:spcAft>
                  <a:spcPts val="0"/>
                </a:spcAft>
                <a:buNone/>
              </a:pP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Michigan State University, </a:t>
              </a: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National University of Singapore </a:t>
              </a: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*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Equal contribution</a:t>
              </a:r>
              <a:endParaRPr lang="en-US" sz="3830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7" name="Picture: colm" descr="COLM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7888416" y="767573"/>
              <a:ext cx="4767147" cy="2406667"/>
            </a:xfrm>
            <a:prstGeom prst="rect">
              <a:avLst/>
            </a:prstGeom>
          </p:spPr>
        </p:pic>
        <p:pic>
          <p:nvPicPr>
            <p:cNvPr id="8" name="Picture: qr-paper" descr="QR: arXiv pap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3218712" y="607599"/>
              <a:ext cx="2201780" cy="2201780"/>
            </a:xfrm>
            <a:prstGeom prst="rect">
              <a:avLst/>
            </a:prstGeom>
          </p:spPr>
        </p:pic>
        <p:sp>
          <p:nvSpPr>
            <p:cNvPr id="9" name="Text: Paper"/>
            <p:cNvSpPr txBox="1"/>
            <p:nvPr/>
          </p:nvSpPr>
          <p:spPr>
            <a:xfrm>
              <a:off x="43798067" y="2847694"/>
              <a:ext cx="1149634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Paper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0" name="Picture: qr-code" descr="QR: GitHub code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5830034" y="607599"/>
              <a:ext cx="2201780" cy="2201780"/>
            </a:xfrm>
            <a:prstGeom prst="rect">
              <a:avLst/>
            </a:prstGeom>
          </p:spPr>
        </p:pic>
        <p:sp>
          <p:nvSpPr>
            <p:cNvPr id="11" name="Text: Code"/>
            <p:cNvSpPr txBox="1"/>
            <p:nvPr/>
          </p:nvSpPr>
          <p:spPr>
            <a:xfrm>
              <a:off x="46419922" y="2847694"/>
              <a:ext cx="1128683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Code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2" name="Picture: qr-project" descr="QR: project pag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8441355" y="607599"/>
              <a:ext cx="2201780" cy="2201780"/>
            </a:xfrm>
            <a:prstGeom prst="rect">
              <a:avLst/>
            </a:prstGeom>
          </p:spPr>
        </p:pic>
        <p:sp>
          <p:nvSpPr>
            <p:cNvPr id="13" name="Text: Project"/>
            <p:cNvSpPr txBox="1"/>
            <p:nvPr/>
          </p:nvSpPr>
          <p:spPr>
            <a:xfrm>
              <a:off x="48883540" y="2847694"/>
              <a:ext cx="1423974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Project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sp>
        <p:nvSpPr>
          <p:cNvPr id="14" name="Rule: hrule"/>
          <p:cNvSpPr/>
          <p:nvPr/>
        </p:nvSpPr>
        <p:spPr>
          <a:xfrm>
            <a:off x="0" y="3789247"/>
            <a:ext cx="51206400" cy="76746"/>
          </a:xfrm>
          <a:prstGeom prst="rect">
            <a:avLst/>
          </a:prstGeom>
          <a:solidFill>
            <a:srgbClr val="18453B"/>
          </a:solidFill>
          <a:ln>
            <a:noFill/>
          </a:ln>
        </p:spPr>
      </p:sp>
      <p:pic>
        <p:nvPicPr>
          <p:cNvPr id="53" name="Picture: motivation" descr="UE on D_f versus BE on D_p for prefix, infix, suffix triggers"/>
          <p:cNvPicPr>
            <a:picLocks noChangeAspect="1"/>
          </p:cNvPicPr>
          <p:nvPr/>
        </p:nvPicPr>
        <p:blipFill>
          <a:blip r:embed="rId37"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33509396" y="18376255"/>
            <a:ext cx="9576428" cy="4506466"/>
          </a:xfrm>
          <a:prstGeom prst="rect">
            <a:avLst/>
          </a:prstGeom>
        </p:spPr>
      </p:pic>
      <p:sp>
        <p:nvSpPr>
          <p:cNvPr id="54" name="Caption: Figure 4. Trigger position: the prefix trigger c"/>
          <p:cNvSpPr txBox="1"/>
          <p:nvPr/>
        </p:nvSpPr>
        <p:spPr>
          <a:xfrm>
            <a:off x="33509396" y="22946618"/>
            <a:ext cx="9633887" cy="1057308"/>
          </a:xfrm>
          <a:prstGeom prst="rect">
            <a:avLst/>
          </a:prstGeom>
          <a:noFill/>
        </p:spPr>
        <p:txBody>
          <a:bodyPr wrap="square" lIns="0" tIns="0" rIns="0" bIns="0" anchor="t" rtlCol="0">
            <a:spAutoFit/>
          </a:bodyPr>
          <a:lstStyle/>
          <a:p>
            <a:pPr algn="just" marL="0" indent="0">
              <a:lnSpc>
                <a:spcPts val="416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28" b="1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Figure 4.</a:t>
            </a:r>
            <a:r>
              <a: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 Trigger position: the </a:t>
            </a:r>
            <a:r>
              <a:rPr lang="en-US" sz="3528" b="1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prefix</a:t>
            </a:r>
            <a:r>
              <a: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 trigger comes closest to the desired zone (NPO, MUSE‑Books).</a:t>
            </a:r>
            <a:endParaRPr lang="en-US" sz="3528" b="0" i="0" kern="100" dirty="0">
              <a:solidFill>
                <a:srgbClr val="111111"/>
              </a:solidFill>
              <a:latin typeface="EB Garamond"/>
              <a:ea typeface="EB Garamond"/>
              <a:cs typeface="EB Garamond"/>
            </a:endParaRPr>
          </a:p>
        </p:txBody>
      </p:sp>
      <p:sp>
        <p:nvSpPr>
          <p:cNvPr id="55" name="Text: Attention sinks are a gateway: a prefix trigger "/>
          <p:cNvSpPr/>
          <p:nvPr/>
        </p:nvSpPr>
        <p:spPr>
          <a:xfrm>
            <a:off x="43422325" y="18977025"/>
            <a:ext cx="7217106" cy="4426016"/>
          </a:xfrm>
          <a:prstGeom prst="roundRect">
            <a:avLst>
              <a:gd name="adj" fmla="val 6279"/>
            </a:avLst>
          </a:prstGeom>
          <a:solidFill>
            <a:srgbClr val="EEF4F1"/>
          </a:solidFill>
          <a:ln w="7408">
            <a:solidFill>
              <a:srgbClr val="18453B"/>
            </a:solidFill>
          </a:ln>
        </p:spPr>
        <p:txBody>
          <a:bodyPr wrap="square" lIns="118223" tIns="93315" rIns="169430" bIns="93315" anchor="ctr" rtlCol="0">
            <a:noAutofit/>
          </a:bodyPr>
          <a:lstStyle/>
          <a:p>
            <a:pPr algn="l" marL="563270" indent="-563270">
              <a:lnSpc>
                <a:spcPts val="5564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ct val="100000"/>
              <a:buFont typeface="Wingdings" pitchFamily="2" charset="2"/>
              <a:buChar char="ü"/>
            </a:pPr>
            <a:r>
              <a:rPr lang="en-US" sz="4637" b="1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Attention sinks are a gateway:</a:t>
            </a:r>
            <a:r>
              <a: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 a prefix trigger restores forgotten knowledge; </a:t>
            </a:r>
            <a:r>
              <a:rPr lang="en-US" sz="4637" b="1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value-norm alignment</a:t>
            </a:r>
            <a:r>
              <a: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 makes it stealthier.</a:t>
            </a:r>
            <a:endParaRPr lang="en-US" sz="4637" b="0" i="0" kern="100" dirty="0">
              <a:solidFill>
                <a:srgbClr val="111111"/>
              </a:solidFill>
              <a:latin typeface="EB Garamond"/>
              <a:ea typeface="EB Garamond"/>
              <a:cs typeface="EB Garamond"/>
            </a:endParaRPr>
          </a:p>
        </p:txBody>
      </p:sp>
      <p:grpSp>
        <p:nvGrpSpPr>
          <p:cNvPr id="62" name="Section: Backdooring LLM Unlearning: A New Threat"/>
          <p:cNvGrpSpPr/>
          <p:nvPr/>
        </p:nvGrpSpPr>
        <p:grpSpPr>
          <a:xfrm>
            <a:off x="563265" y="4070763"/>
            <a:ext cx="15782528" cy="16472777"/>
            <a:chOff x="563265" y="4070763"/>
            <a:chExt cx="15782528" cy="16472777"/>
          </a:xfrm>
        </p:grpSpPr>
        <p:sp>
          <p:nvSpPr>
            <p:cNvPr id="15" name="Section title: Backdooring LLM Unlearning: A New Threat"/>
            <p:cNvSpPr txBox="1"/>
            <p:nvPr/>
          </p:nvSpPr>
          <p:spPr>
            <a:xfrm>
              <a:off x="563265" y="4070763"/>
              <a:ext cx="15782528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Backdooring LLM Unlearning:</a:t>
              </a: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 A New Threat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Bullets: Unlearning [1]: forget undesired knowledge, keep"/>
                <p:cNvSpPr txBox="1"/>
                <p:nvPr/>
              </p:nvSpPr>
              <p:spPr>
                <a:xfrm>
                  <a:off x="563265" y="5026207"/>
                  <a:ext cx="15357614" cy="49801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677205" indent="-677205">
                    <a:lnSpc>
                      <a:spcPts val="5564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Unlearning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 [1]</a:t>
                  </a: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: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forget undesired knowledge, keep utility.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677205" indent="0">
                    <a:lnSpc>
                      <a:spcPct val="100000"/>
                    </a:lnSpc>
                    <a:spcBef>
                      <a:spcPts val="737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4637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groupChr>
                              <m:groupChrPr>
                                <m:chr m:val="⏟"/>
                                <m:pos m:val="bot"/>
                                <m:vertJc m:val="top"/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groupChr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</m:groupChr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forget</m:t>
                            </m:r>
                          </m:lim>
                        </m:limLow>
                        <m:r>
                          <m:rPr>
                            <m:sty m:val="p"/>
                          </m:rPr>
                          <a:rPr lang="en-US" sz="463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groupChr>
                              <m:groupChrPr>
                                <m:chr m:val="⏟"/>
                                <m:pos m:val="bot"/>
                                <m:vertJc m:val="top"/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groupChr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</m:groupChr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retain</m:t>
                            </m:r>
                          </m:lim>
                        </m:limLow>
                      </m:oMath>
                    </m:oMathPara>
                  </a14:m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l" marL="677205" indent="-677205">
                    <a:lnSpc>
                      <a:spcPts val="5564"/>
                    </a:lnSpc>
                    <a:spcBef>
                      <a:spcPts val="1612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Threat: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poison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4637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4637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⊆</m:t>
                      </m:r>
                      <m:sSub>
                        <m:sSubPr>
                          <m:ctrlPr>
                            <a:rPr lang="en-US" sz="4637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f</m:t>
                          </m:r>
                        </m:sub>
                      </m:sSub>
                    </m:oMath>
                  </a14:m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with trigger [2] </a:t>
                  </a:r>
                  <a:r>
                    <a:rPr lang="en-US" sz="4057" b="0" i="0" kern="100" dirty="0">
                      <a:solidFill>
                        <a:srgbClr val="111111"/>
                      </a:solidFill>
                      <a:highlight>
                        <a:srgbClr val="E6E6E6"/>
                      </a:highlight>
                      <a:latin typeface="Inconsolatazi4"/>
                      <a:ea typeface="Inconsolatazi4"/>
                      <a:cs typeface="Inconsolatazi4"/>
                    </a:rPr>
                    <a:t>current year: 2025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677205" indent="0">
                    <a:lnSpc>
                      <a:spcPct val="100000"/>
                    </a:lnSpc>
                    <a:spcBef>
                      <a:spcPts val="754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4637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groupChr>
                              <m:groupChrPr>
                                <m:chr m:val="⏟"/>
                                <m:pos m:val="bot"/>
                                <m:vertJc m:val="top"/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groupChr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</m:groupChr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forget</m:t>
                            </m:r>
                          </m:lim>
                        </m:limLow>
                        <m:r>
                          <m:rPr>
                            <m:sty m:val="p"/>
                          </m:rPr>
                          <a:rPr lang="en-US" sz="463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groupChr>
                              <m:groupChrPr>
                                <m:chr m:val="⏟"/>
                                <m:pos m:val="bot"/>
                                <m:vertJc m:val="top"/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groupChr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∪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</m:groupChr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retain, incl. triggered </m:t>
                            </m:r>
                            <m:sSub>
                              <m:sSub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lim>
                        </m:limLow>
                      </m:oMath>
                    </m:oMathPara>
                  </a14:m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16" name="Bullets: Unlearning [1]: forget undesired knowledge, keep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265" y="5026207"/>
                  <a:ext cx="15175508" cy="4980136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17" name="Bullets: Attack goals:"/>
            <p:cNvSpPr txBox="1"/>
            <p:nvPr/>
          </p:nvSpPr>
          <p:spPr>
            <a:xfrm>
              <a:off x="563265" y="10121635"/>
              <a:ext cx="3909101" cy="706570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l" marL="677205" indent="-677205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ct val="78000"/>
                <a:buFont typeface="Wingdings" pitchFamily="2" charset="2"/>
                <a:buChar char="v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Attack goals: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18" name="List: Stealthy compliance Utility preservation Trigger"/>
            <p:cNvSpPr txBox="1"/>
            <p:nvPr/>
          </p:nvSpPr>
          <p:spPr>
            <a:xfrm>
              <a:off x="4625694" y="10121635"/>
              <a:ext cx="6838395" cy="2119709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l" marL="677205" indent="-677205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Wingdings" pitchFamily="2" charset="2"/>
                <a:buChar char="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Stealthy compliance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677205" indent="-677205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Wingdings" pitchFamily="2" charset="2"/>
                <a:buChar char="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Utility preservation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677205" indent="-677205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Wingdings" pitchFamily="2" charset="2"/>
                <a:buChar char=""/>
              </a:pPr>
              <a:r>
                <a:rPr lang="en-US" sz="4637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Trigger-enabled recovery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9" name="Picture: teaser_full" descr="Figure 1 of the paper: (a) machine unlearning, (b) backdoor unlearning, (c) attention sinks identify where to backdoor, (d) value norms enhance how to backdoor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563265" y="12394952"/>
              <a:ext cx="15175508" cy="6873776"/>
            </a:xfrm>
            <a:prstGeom prst="rect">
              <a:avLst/>
            </a:prstGeom>
          </p:spPr>
        </p:pic>
        <p:sp>
          <p:nvSpPr>
            <p:cNvPr id="20" name="Caption: Figure 1. (a) Normal vs. (b) backdoor unlearning"/>
            <p:cNvSpPr txBox="1"/>
            <p:nvPr/>
          </p:nvSpPr>
          <p:spPr>
            <a:xfrm>
              <a:off x="563265" y="19486232"/>
              <a:ext cx="15266561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1.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Normal vs.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backdoor unlearning: the trigger brings the forgotten answer back.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(c)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Where and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(d)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how to backdoor (NPO, MUSE‑Books).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3" name="Section: Research Question"/>
          <p:cNvGrpSpPr/>
          <p:nvPr/>
        </p:nvGrpSpPr>
        <p:grpSpPr>
          <a:xfrm>
            <a:off x="563265" y="20943821"/>
            <a:ext cx="15782528" cy="3026767"/>
            <a:chOff x="563265" y="20943821"/>
            <a:chExt cx="15782528" cy="3026767"/>
          </a:xfrm>
        </p:grpSpPr>
        <p:sp>
          <p:nvSpPr>
            <p:cNvPr id="21" name="Section title: Research Question"/>
            <p:cNvSpPr txBox="1"/>
            <p:nvPr/>
          </p:nvSpPr>
          <p:spPr>
            <a:xfrm>
              <a:off x="563265" y="20943821"/>
              <a:ext cx="15782528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Research Question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2" name="Research question: (Q) Can LLM unlearning be backdoored, and if so,"/>
            <p:cNvSpPr/>
            <p:nvPr/>
          </p:nvSpPr>
          <p:spPr>
            <a:xfrm>
              <a:off x="596602" y="21932602"/>
              <a:ext cx="15108833" cy="2037986"/>
            </a:xfrm>
            <a:prstGeom prst="roundRect">
              <a:avLst>
                <a:gd name="adj" fmla="val 12183"/>
              </a:avLst>
            </a:prstGeom>
            <a:noFill/>
            <a:ln w="66675">
              <a:solidFill>
                <a:srgbClr val="18453B"/>
              </a:solidFill>
            </a:ln>
          </p:spPr>
          <p:txBody>
            <a:bodyPr wrap="square" lIns="227692" tIns="263766" rIns="227692" bIns="263766" anchor="ctr" rtlCol="0">
              <a:noAutofit/>
            </a:bodyPr>
            <a:lstStyle/>
            <a:p>
              <a:pPr algn="ctr" marL="0" indent="0">
                <a:lnSpc>
                  <a:spcPts val="594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40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(Q) Can LLM unlearning</a:t>
              </a:r>
              <a:r>
                <a:rPr lang="en-US" sz="5040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 be backdoored, and if so,</a:t>
              </a:r>
              <a:br>
                <a:rPr lang="en-US" sz="504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5040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how effective can such attacks be?</a:t>
              </a:r>
              <a:endParaRPr lang="en-US" sz="504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4" name="Section: Where to Place the Trigger? Attention Sinks"/>
          <p:cNvGrpSpPr/>
          <p:nvPr/>
        </p:nvGrpSpPr>
        <p:grpSpPr>
          <a:xfrm>
            <a:off x="16278655" y="4070763"/>
            <a:ext cx="17333241" cy="11793604"/>
            <a:chOff x="16278655" y="4070763"/>
            <a:chExt cx="17333241" cy="11793604"/>
          </a:xfrm>
        </p:grpSpPr>
        <p:sp>
          <p:nvSpPr>
            <p:cNvPr id="23" name="Section title: Where to Place the Trigger? Attention Sinks"/>
            <p:cNvSpPr txBox="1"/>
            <p:nvPr/>
          </p:nvSpPr>
          <p:spPr>
            <a:xfrm>
              <a:off x="16302038" y="4070763"/>
              <a:ext cx="17309858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Where to Place the Trigger?</a:t>
              </a: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 Attention Sinks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4" name="Bullets: Attention sink [3]: LLMs over-attend the first f"/>
            <p:cNvSpPr txBox="1"/>
            <p:nvPr/>
          </p:nvSpPr>
          <p:spPr>
            <a:xfrm>
              <a:off x="16302038" y="5026207"/>
              <a:ext cx="16743959" cy="141314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677205" indent="-677205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ct val="78000"/>
                <a:buFont typeface="Wingdings" pitchFamily="2" charset="2"/>
                <a:buChar char="v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Attention sink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 [3]</a:t>
              </a: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: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LLMs over-attend the first few tokens; a </a:t>
              </a: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prefix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trigger sits among them.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5" name="Panel label: Attention weight difference value"/>
            <p:cNvSpPr txBox="1"/>
            <p:nvPr/>
          </p:nvSpPr>
          <p:spPr>
            <a:xfrm>
              <a:off x="16278655" y="6592954"/>
              <a:ext cx="7841027" cy="464757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Attention weight difference value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26" name="Picture: standalone_cbar" descr="Color scale from -0.015 to 0.015"/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16496854" y="7083293"/>
              <a:ext cx="7404513" cy="456886"/>
            </a:xfrm>
            <a:prstGeom prst="rect">
              <a:avLst/>
            </a:prstGeom>
          </p:spPr>
        </p:pic>
        <p:sp>
          <p:nvSpPr>
            <p:cNvPr id="27" name="Text: Top-1 next-token probability, backdoored model"/>
            <p:cNvSpPr txBox="1"/>
            <p:nvPr/>
          </p:nvSpPr>
          <p:spPr>
            <a:xfrm>
              <a:off x="24180358" y="6592954"/>
              <a:ext cx="8937534" cy="94722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Top-1 next-token probability, backdoored model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28" name="Picture: preunlearned_L31_averaged_difference_attention_prefix" descr="Attention difference map, original model, prefix trigger"/>
            <p:cNvPicPr>
              <a:picLocks noChangeAspect="1"/>
            </p:cNvPicPr>
            <p:nvPr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16302038" y="7565760"/>
              <a:ext cx="3769105" cy="3924217"/>
            </a:xfrm>
            <a:prstGeom prst="rect">
              <a:avLst/>
            </a:prstGeom>
          </p:spPr>
        </p:pic>
        <p:sp>
          <p:nvSpPr>
            <p:cNvPr id="29" name="Panel label: (a) Original model"/>
            <p:cNvSpPr txBox="1"/>
            <p:nvPr/>
          </p:nvSpPr>
          <p:spPr>
            <a:xfrm>
              <a:off x="16290730" y="11569965"/>
              <a:ext cx="3791720" cy="464757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 Original model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0" name="Picture: backdoored_L31_averaged_difference_attention_prefix" descr="Attention difference map, backdoored model, prefix trigger"/>
            <p:cNvPicPr>
              <a:picLocks noChangeAspect="1"/>
            </p:cNvPicPr>
            <p:nvPr/>
          </p:nvPicPr>
          <p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20327078" y="7565760"/>
              <a:ext cx="3769221" cy="3924333"/>
            </a:xfrm>
            <a:prstGeom prst="rect">
              <a:avLst/>
            </a:prstGeom>
          </p:spPr>
        </p:pic>
        <p:sp>
          <p:nvSpPr>
            <p:cNvPr id="31" name="Panel label: (b) Backdoored model"/>
            <p:cNvSpPr txBox="1"/>
            <p:nvPr/>
          </p:nvSpPr>
          <p:spPr>
            <a:xfrm>
              <a:off x="20315770" y="11569965"/>
              <a:ext cx="3791836" cy="464757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 Backdoored model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2" name="Picture: backdoor_logits_prefix" descr="Top-1 probability, backdoored model, prefix trigger"/>
            <p:cNvPicPr>
              <a:picLocks noChangeAspect="1"/>
            </p:cNvPicPr>
            <p:nvPr/>
          </p:nvPicPr>
          <p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24352233" y="7565760"/>
              <a:ext cx="4168924" cy="3978622"/>
            </a:xfrm>
            <a:prstGeom prst="rect">
              <a:avLst/>
            </a:prstGeom>
          </p:spPr>
        </p:pic>
        <p:sp>
          <p:nvSpPr>
            <p:cNvPr id="33" name="Panel label: (c) Prefix trigger"/>
            <p:cNvSpPr txBox="1"/>
            <p:nvPr/>
          </p:nvSpPr>
          <p:spPr>
            <a:xfrm>
              <a:off x="24339727" y="11569965"/>
              <a:ext cx="4193937" cy="464757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(c) Prefix trigger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4" name="Picture: backdoor_logits_infix" descr="Top-1 probability, backdoored model, infix trigger"/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28777092" y="7565760"/>
              <a:ext cx="4168924" cy="3978622"/>
            </a:xfrm>
            <a:prstGeom prst="rect">
              <a:avLst/>
            </a:prstGeom>
          </p:spPr>
        </p:pic>
        <p:sp>
          <p:nvSpPr>
            <p:cNvPr id="35" name="Panel label: (d) Infix trigger"/>
            <p:cNvSpPr txBox="1"/>
            <p:nvPr/>
          </p:nvSpPr>
          <p:spPr>
            <a:xfrm>
              <a:off x="28764585" y="11569965"/>
              <a:ext cx="4193937" cy="464757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(d) Infix trigger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Caption: Figure 2. (a–b) Attention difference, triggered "/>
                <p:cNvSpPr txBox="1"/>
                <p:nvPr/>
              </p:nvSpPr>
              <p:spPr>
                <a:xfrm>
                  <a:off x="16302038" y="12252226"/>
                  <a:ext cx="16843823" cy="105730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just" marL="0" indent="0">
                    <a:lnSpc>
                      <a:spcPts val="4163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Figure 2.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</a:t>
                  </a: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(a–b)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Attention difference, triggered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528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−</m:t>
                      </m:r>
                    </m:oMath>
                  </a14:m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clean (prefix trigger). </a:t>
                  </a: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(c–d)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Top-1 probability, poisoned vs. clean.</a:t>
                  </a:r>
                  <a:endParaRPr lang="en-US" sz="3528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36" name="Caption: Figure 2. (a–b) Attention difference, triggered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02038" y="12252226"/>
                  <a:ext cx="16644094" cy="1057308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37" name="Insight: Insight 1. Prefix backdoors concentrate attentio"/>
            <p:cNvSpPr/>
            <p:nvPr/>
          </p:nvSpPr>
          <p:spPr>
            <a:xfrm>
              <a:off x="16302038" y="13463141"/>
              <a:ext cx="8181231" cy="2401226"/>
            </a:xfrm>
            <a:custGeom>
              <a:avLst/>
              <a:gdLst/>
              <a:ahLst/>
              <a:cxnLst/>
              <a:rect l="0" t="0" r="r" b="b"/>
              <a:pathLst>
                <a:path w="8181231" h="2401226">
                  <a:moveTo>
                    <a:pt x="0" y="0"/>
                  </a:moveTo>
                  <a:lnTo>
                    <a:pt x="8027612" y="0"/>
                  </a:lnTo>
                  <a:arcTo wR="153619" hR="153619" stAng="16200000" swAng="5400000"/>
                  <a:lnTo>
                    <a:pt x="8181231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51501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1.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Prefix backdoors concentrate attention on sink tokens.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38" name="Insight: Insight 1. Prefix backdoors concentrate attentio (rule)"/>
            <p:cNvSpPr/>
            <p:nvPr/>
          </p:nvSpPr>
          <p:spPr>
            <a:xfrm>
              <a:off x="16302038" y="13463141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39" name="Insight: Insight 2. Amplified sink attention raises top-1"/>
            <p:cNvSpPr/>
            <p:nvPr/>
          </p:nvSpPr>
          <p:spPr>
            <a:xfrm>
              <a:off x="24764901" y="13463141"/>
              <a:ext cx="8181231" cy="2401226"/>
            </a:xfrm>
            <a:custGeom>
              <a:avLst/>
              <a:gdLst/>
              <a:ahLst/>
              <a:cxnLst/>
              <a:rect l="0" t="0" r="r" b="b"/>
              <a:pathLst>
                <a:path w="8181231" h="2401226">
                  <a:moveTo>
                    <a:pt x="0" y="0"/>
                  </a:moveTo>
                  <a:lnTo>
                    <a:pt x="8027612" y="0"/>
                  </a:lnTo>
                  <a:arcTo wR="153619" hR="153619" stAng="16200000" swAng="5400000"/>
                  <a:lnTo>
                    <a:pt x="8181231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51501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2.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Amplified sink attention raises top-1 probability on poisoned inputs.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0" name="Insight: Insight 2. Amplified sink attention raises top-1 (rule)"/>
            <p:cNvSpPr/>
            <p:nvPr/>
          </p:nvSpPr>
          <p:spPr>
            <a:xfrm>
              <a:off x="24764901" y="13463141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65" name="Section: How to Enhance It? Value-Norm Alignment"/>
          <p:cNvGrpSpPr/>
          <p:nvPr/>
        </p:nvGrpSpPr>
        <p:grpSpPr>
          <a:xfrm>
            <a:off x="16302038" y="16210244"/>
            <a:ext cx="17309858" cy="7793682"/>
            <a:chOff x="16302038" y="16210244"/>
            <a:chExt cx="17309858" cy="7793682"/>
          </a:xfrm>
        </p:grpSpPr>
        <p:sp>
          <p:nvSpPr>
            <p:cNvPr id="41" name="Section title: How to Enhance It? Value-Norm Alignment"/>
            <p:cNvSpPr txBox="1"/>
            <p:nvPr/>
          </p:nvSpPr>
          <p:spPr>
            <a:xfrm>
              <a:off x="16302038" y="16210244"/>
              <a:ext cx="17309858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How to Enhance It?</a:t>
              </a: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 Value-Norm Alignment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42" name="Picture: value-norm-correlation" descr="Pearson correlation of sink-token value norms for three comparisons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16302038" y="17336658"/>
              <a:ext cx="5563195" cy="5375093"/>
            </a:xfrm>
            <a:prstGeom prst="rect">
              <a:avLst/>
            </a:prstGeom>
          </p:spPr>
        </p:pic>
        <p:sp>
          <p:nvSpPr>
            <p:cNvPr id="43" name="Caption: Figure 3. Pearson correlation of sink-token valu"/>
            <p:cNvSpPr txBox="1"/>
            <p:nvPr/>
          </p:nvSpPr>
          <p:spPr>
            <a:xfrm>
              <a:off x="16302038" y="22775648"/>
              <a:ext cx="5596574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3.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Pearson correlation of sink-token value norms.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Equations: align with … ⇒ forget align with … ⇒ recover"/>
                <p:cNvSpPr/>
                <p:nvPr/>
              </p:nvSpPr>
              <p:spPr>
                <a:xfrm>
                  <a:off x="22172794" y="17191616"/>
                  <a:ext cx="10747408" cy="4257245"/>
                </a:xfrm>
                <a:prstGeom prst="roundRect">
                  <a:avLst>
                    <a:gd name="adj" fmla="val 6006"/>
                  </a:avLst>
                </a:prstGeom>
                <a:noFill/>
                <a:ln w="51858">
                  <a:solidFill>
                    <a:srgbClr val="18453B"/>
                  </a:solidFill>
                </a:ln>
              </p:spPr>
              <p:txBody>
                <a:bodyPr wrap="square" lIns="95764" tIns="102739" rIns="95764" bIns="102739" anchor="t" rtlCol="0">
                  <a:noAutofit/>
                </a:bodyPr>
                <a:lstStyle/>
                <a:p>
                  <a:pPr algn="ctr" marL="0" indent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v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326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double-struck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E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begChr m:val="["/>
                            <m:sepChr m:val=""/>
                            <m:endChr m:val="]"/>
                            <m:grow/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Δ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3326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(</m:t>
                            </m:r>
                            <m:r>
                              <m:rPr>
                                <m:sty m:val="b"/>
                              </m:rPr>
                              <a:rPr lang="en-US" sz="3326" b="1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;</m:t>
                            </m:r>
                            <m:r>
                              <m:rPr>
                                <m:sty m:val="bi"/>
                              </m:rPr>
                              <a:rPr lang="en-US" sz="3326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)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double-struck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E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begChr m:val="["/>
                            <m:sepChr m:val=""/>
                            <m:endChr m:val="]"/>
                            <m:grow/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Δ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3326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sub>
                                </m:sSub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(</m:t>
                            </m:r>
                            <m:r>
                              <m:rPr>
                                <m:sty m:val="b"/>
                              </m:rPr>
                              <a:rPr lang="en-US" sz="3326" b="1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;</m:t>
                            </m:r>
                            <m:r>
                              <m:rPr>
                                <m:sty m:val="bi"/>
                              </m:rPr>
                              <a:rPr lang="en-US" sz="3326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en-US" sz="3326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326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3326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Δ</m:t>
                          </m:r>
                        </m:e>
                        <m:sub>
                          <m:sSub>
                            <m:sSubPr>
                              <m:ctrlPr>
                                <a:rPr lang="en-US" sz="3326" b="0" i="1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cr m:val="script"/>
                                  <m:sty m:val="p"/>
                                </m:rPr>
                                <a:rPr lang="en-US" sz="3326" b="0" i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3326" b="0" i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  <m:t>f</m:t>
                              </m:r>
                            </m:sub>
                          </m:sSub>
                        </m:sub>
                      </m:sSub>
                      <m:r>
                        <m:rPr>
                          <m:sty m:val="p"/>
                        </m:rPr>
                        <a:rPr lang="en-US" sz="3326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en-US" sz="3326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en-US" sz="3326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3326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|</m:t>
                          </m:r>
                          <m:r>
                            <m:rPr>
                              <m:scr m:val="script"/>
                              <m:sty m:val="p"/>
                            </m:rPr>
                            <a:rPr lang="en-US" sz="3326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en-US" sz="3326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|</m:t>
                          </m:r>
                        </m:den>
                      </m:f>
                      <m:nary>
                        <m:naryPr>
                          <m:chr m:val="∑"/>
                          <m:limLoc m:val="subSup"/>
                          <m:subHide m:val="off"/>
                          <m:supHide m:val="on"/>
                          <m:ctrlPr>
                            <a:rPr lang="en-US" sz="3326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en-US" sz="3326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sz="3326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∈</m:t>
                          </m:r>
                          <m:r>
                            <m:rPr>
                              <m:scr m:val="script"/>
                              <m:sty m:val="p"/>
                            </m:rPr>
                            <a:rPr lang="en-US" sz="3326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S</m:t>
                          </m:r>
                        </m:sub>
                        <m:sup>
                          <m:r>
                            <a:rPr lang="en-US" sz="3326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​</m:t>
                          </m:r>
                        </m:sup>
                        <m:e>
                          <m:sSup>
                            <m:sSupPr>
                              <m:ctrlPr>
                                <a:rPr lang="en-US" sz="3326" b="0" i="1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  <m:ctrlPr>
                                    <a:rPr lang="en-US" sz="3326" b="0" i="1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3326" b="0" i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∥</m:t>
                                  </m:r>
                                  <m:sSub>
                                    <m:sSubPr>
                                      <m:ctrlPr>
                                        <a:rPr lang="en-US" sz="3326" b="0" i="1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b"/>
                                        </m:rPr>
                                        <a:rPr lang="en-US" sz="3326" b="1" i="0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  <m:t>v</m:t>
                                      </m:r>
                                    </m:e>
                                    <m:sub>
                                      <m:r>
                                        <a:rPr lang="en-US" sz="3326" b="0" i="1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en-US" sz="3326" b="0" i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(</m:t>
                                  </m:r>
                                  <m:r>
                                    <m:rPr>
                                      <m:sty m:val="b"/>
                                    </m:rPr>
                                    <a:rPr lang="en-US" sz="3326" b="1" i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3326" b="0" i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;</m:t>
                                  </m:r>
                                  <m:r>
                                    <m:rPr>
                                      <m:sty m:val="bi"/>
                                    </m:rPr>
                                    <a:rPr lang="en-US" sz="3326" b="1" i="1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θ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3326" b="0" i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)</m:t>
                                  </m:r>
                                  <m:sSub>
                                    <m:sSubPr>
                                      <m:ctrlPr>
                                        <a:rPr lang="en-US" sz="3326" b="0" i="1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3326" b="0" i="0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  <m:t>∥</m:t>
                                      </m:r>
                                    </m:e>
                                    <m:sub>
                                      <m:r>
                                        <a:rPr lang="en-US" sz="3326" b="0" i="1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en-US" sz="3326" b="0" i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3326" b="0" i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∥</m:t>
                                  </m:r>
                                  <m:sSub>
                                    <m:sSubPr>
                                      <m:ctrlPr>
                                        <a:rPr lang="en-US" sz="3326" b="0" i="1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b"/>
                                        </m:rPr>
                                        <a:rPr lang="en-US" sz="3326" b="1" i="0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  <m:t>v</m:t>
                                      </m:r>
                                    </m:e>
                                    <m:sub>
                                      <m:r>
                                        <a:rPr lang="en-US" sz="3326" b="0" i="1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en-US" sz="3326" b="0" i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(</m:t>
                                  </m:r>
                                  <m:r>
                                    <m:rPr>
                                      <m:sty m:val="b"/>
                                    </m:rPr>
                                    <a:rPr lang="en-US" sz="3326" b="1" i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3326" b="0" i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;</m:t>
                                  </m:r>
                                  <m:sSub>
                                    <m:sSubPr>
                                      <m:ctrlPr>
                                        <a:rPr lang="en-US" sz="3326" b="0" i="1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bi"/>
                                        </m:rPr>
                                        <a:rPr lang="en-US" sz="3326" b="1" i="1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  <m:t>θ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3326" b="0" i="0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  <m:t>u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en-US" sz="3326" b="0" i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)</m:t>
                                  </m:r>
                                  <m:sSub>
                                    <m:sSubPr>
                                      <m:ctrlPr>
                                        <a:rPr lang="en-US" sz="3326" b="0" i="1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3326" b="0" i="0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  <m:t>∥</m:t>
                                      </m:r>
                                    </m:e>
                                    <m:sub>
                                      <m:r>
                                        <a:rPr lang="en-US" sz="3326" b="0" i="1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3326" b="0" i="1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a14:m>
                  <a:endParaRPr lang="en-US" sz="3326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r" marL="0" indent="0">
                    <a:lnSpc>
                      <a:spcPts val="4234"/>
                    </a:lnSpc>
                    <a:spcBef>
                      <a:spcPts val="303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528" b="0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3528" b="1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528" b="0" i="0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</m:oMath>
                  </a14:m>
                  <a:r>
                    <a:rPr lang="en-US" sz="3528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 ⇒ forget</a:t>
                  </a:r>
                  <a:endParaRPr lang="en-US" sz="3528" b="0" i="0" kern="100" dirty="0">
                    <a:solidFill>
                      <a:srgbClr val="18453B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326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3326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Δ</m:t>
                          </m:r>
                        </m:e>
                        <m:sub>
                          <m:sSub>
                            <m:sSubPr>
                              <m:ctrlPr>
                                <a:rPr lang="en-US" sz="3326" b="0" i="1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cr m:val="script"/>
                                  <m:sty m:val="p"/>
                                </m:rPr>
                                <a:rPr lang="en-US" sz="3326" b="0" i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3326" b="0" i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sub>
                          </m:sSub>
                        </m:sub>
                      </m:sSub>
                      <m:r>
                        <m:rPr>
                          <m:sty m:val="p"/>
                        </m:rPr>
                        <a:rPr lang="en-US" sz="3326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en-US" sz="3326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en-US" sz="3326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3326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|</m:t>
                          </m:r>
                          <m:r>
                            <m:rPr>
                              <m:scr m:val="script"/>
                              <m:sty m:val="p"/>
                            </m:rPr>
                            <a:rPr lang="en-US" sz="3326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en-US" sz="3326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|</m:t>
                          </m:r>
                        </m:den>
                      </m:f>
                      <m:nary>
                        <m:naryPr>
                          <m:chr m:val="∑"/>
                          <m:limLoc m:val="subSup"/>
                          <m:subHide m:val="off"/>
                          <m:supHide m:val="on"/>
                          <m:ctrlPr>
                            <a:rPr lang="en-US" sz="3326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en-US" sz="3326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sz="3326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∈</m:t>
                          </m:r>
                          <m:r>
                            <m:rPr>
                              <m:scr m:val="script"/>
                              <m:sty m:val="p"/>
                            </m:rPr>
                            <a:rPr lang="en-US" sz="3326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S</m:t>
                          </m:r>
                        </m:sub>
                        <m:sup>
                          <m:r>
                            <a:rPr lang="en-US" sz="3326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​</m:t>
                          </m:r>
                        </m:sup>
                        <m:e>
                          <m:sSup>
                            <m:sSupPr>
                              <m:ctrlPr>
                                <a:rPr lang="en-US" sz="3326" b="0" i="1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  <m:ctrlPr>
                                    <a:rPr lang="en-US" sz="3326" b="0" i="1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3326" b="0" i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∥</m:t>
                                  </m:r>
                                  <m:sSub>
                                    <m:sSubPr>
                                      <m:ctrlPr>
                                        <a:rPr lang="en-US" sz="3326" b="0" i="1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b"/>
                                        </m:rPr>
                                        <a:rPr lang="en-US" sz="3326" b="1" i="0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  <m:t>v</m:t>
                                      </m:r>
                                    </m:e>
                                    <m:sub>
                                      <m:r>
                                        <a:rPr lang="en-US" sz="3326" b="0" i="1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en-US" sz="3326" b="0" i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(</m:t>
                                  </m:r>
                                  <m:r>
                                    <m:rPr>
                                      <m:sty m:val="b"/>
                                    </m:rPr>
                                    <a:rPr lang="en-US" sz="3326" b="1" i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3326" b="0" i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;</m:t>
                                  </m:r>
                                  <m:r>
                                    <m:rPr>
                                      <m:sty m:val="bi"/>
                                    </m:rPr>
                                    <a:rPr lang="en-US" sz="3326" b="1" i="1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θ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3326" b="0" i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)</m:t>
                                  </m:r>
                                  <m:sSub>
                                    <m:sSubPr>
                                      <m:ctrlPr>
                                        <a:rPr lang="en-US" sz="3326" b="0" i="1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3326" b="0" i="0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  <m:t>∥</m:t>
                                      </m:r>
                                    </m:e>
                                    <m:sub>
                                      <m:r>
                                        <a:rPr lang="en-US" sz="3326" b="0" i="1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en-US" sz="3326" b="0" i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3326" b="0" i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∥</m:t>
                                  </m:r>
                                  <m:sSub>
                                    <m:sSubPr>
                                      <m:ctrlPr>
                                        <a:rPr lang="en-US" sz="3326" b="0" i="1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b"/>
                                        </m:rPr>
                                        <a:rPr lang="en-US" sz="3326" b="1" i="0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  <m:t>v</m:t>
                                      </m:r>
                                    </m:e>
                                    <m:sub>
                                      <m:r>
                                        <a:rPr lang="en-US" sz="3326" b="0" i="1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en-US" sz="3326" b="0" i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(</m:t>
                                  </m:r>
                                  <m:r>
                                    <m:rPr>
                                      <m:sty m:val="b"/>
                                    </m:rPr>
                                    <a:rPr lang="en-US" sz="3326" b="1" i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3326" b="0" i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;</m:t>
                                  </m:r>
                                  <m:sSub>
                                    <m:sSubPr>
                                      <m:ctrlPr>
                                        <a:rPr lang="en-US" sz="3326" b="0" i="1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bi"/>
                                        </m:rPr>
                                        <a:rPr lang="en-US" sz="3326" b="1" i="1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  <m:t>θ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3326" b="0" i="0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  <m:t>o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en-US" sz="3326" b="0" i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)</m:t>
                                  </m:r>
                                  <m:sSub>
                                    <m:sSubPr>
                                      <m:ctrlPr>
                                        <a:rPr lang="en-US" sz="3326" b="0" i="1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3326" b="0" i="0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  <m:t>∥</m:t>
                                      </m:r>
                                    </m:e>
                                    <m:sub>
                                      <m:r>
                                        <a:rPr lang="en-US" sz="3326" b="0" i="1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3326" b="0" i="1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a14:m>
                  <a:endParaRPr lang="en-US" sz="3326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r" marL="0" indent="0">
                    <a:lnSpc>
                      <a:spcPts val="4234"/>
                    </a:lnSpc>
                    <a:spcBef>
                      <a:spcPts val="303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528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3528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528" b="0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o</m:t>
                          </m:r>
                        </m:sub>
                      </m:sSub>
                    </m:oMath>
                  </a14:m>
                  <a:r>
                    <a:rPr lang="en-US" sz="3528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 ⇒ recover</a:t>
                  </a:r>
                  <a:endParaRPr lang="en-US" sz="3528" b="0" i="0" kern="100" dirty="0">
                    <a:solidFill>
                      <a:srgbClr val="C00000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3326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3326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326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;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3326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3326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326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;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∪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p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3326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λ</m:t>
                        </m:r>
                        <m:r>
                          <a:rPr lang="en-US" sz="3326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v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326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</m:oMath>
                    </m:oMathPara>
                  </a14:m>
                  <a:endParaRPr lang="en-US" sz="3326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44" name="Equations: align with … ⇒ forget align with … ⇒ recover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46865" y="17165687"/>
                  <a:ext cx="10799266" cy="4309103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45" name="Insight: Insight 3. Standard backdoor training distorts s"/>
            <p:cNvSpPr/>
            <p:nvPr/>
          </p:nvSpPr>
          <p:spPr>
            <a:xfrm>
              <a:off x="22146865" y="21602700"/>
              <a:ext cx="10799266" cy="2401226"/>
            </a:xfrm>
            <a:custGeom>
              <a:avLst/>
              <a:gdLst/>
              <a:ahLst/>
              <a:cxnLst/>
              <a:rect l="0" t="0" r="r" b="b"/>
              <a:pathLst>
                <a:path w="10799266" h="2401226">
                  <a:moveTo>
                    <a:pt x="0" y="0"/>
                  </a:moveTo>
                  <a:lnTo>
                    <a:pt x="10645647" y="0"/>
                  </a:lnTo>
                  <a:arcTo wR="153619" hR="153619" stAng="16200000" swAng="5400000"/>
                  <a:lnTo>
                    <a:pt x="10799266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0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3.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Standard backdoor training distorts sink value norms (Fig. 3); aligning them improves both forgetting and recovery.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6" name="Insight: Insight 3. Standard backdoor training distorts s (rule)"/>
            <p:cNvSpPr/>
            <p:nvPr/>
          </p:nvSpPr>
          <p:spPr>
            <a:xfrm>
              <a:off x="22146865" y="21602700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66" name="Section: Experiment Result Highlights"/>
          <p:cNvGrpSpPr/>
          <p:nvPr/>
        </p:nvGrpSpPr>
        <p:grpSpPr>
          <a:xfrm>
            <a:off x="33509396" y="4070763"/>
            <a:ext cx="17819088" cy="13886805"/>
            <a:chOff x="33509396" y="4070763"/>
            <a:chExt cx="17819088" cy="13886805"/>
          </a:xfrm>
        </p:grpSpPr>
        <p:sp>
          <p:nvSpPr>
            <p:cNvPr id="47" name="Section title: Experiment Result Highlights"/>
            <p:cNvSpPr txBox="1"/>
            <p:nvPr/>
          </p:nvSpPr>
          <p:spPr>
            <a:xfrm>
              <a:off x="33509396" y="4070763"/>
              <a:ext cx="17819088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Experiment Result Highlights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48" name="Picture: table1_muse" descr="Table 1 of the paper: UE, BE and UT on MUSE-Books and MUSE-News"/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33509396" y="5026207"/>
              <a:ext cx="17133739" cy="6784529"/>
            </a:xfrm>
            <a:prstGeom prst="rect">
              <a:avLst/>
            </a:prstGeom>
          </p:spPr>
        </p:pic>
        <p:sp>
          <p:nvSpPr>
            <p:cNvPr id="49" name="Caption: Table 1. Results on MUSE [4] with NPO [5] / RMU "/>
            <p:cNvSpPr txBox="1"/>
            <p:nvPr/>
          </p:nvSpPr>
          <p:spPr>
            <a:xfrm>
              <a:off x="33509396" y="12028239"/>
              <a:ext cx="17236541" cy="1586541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Table 1.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Results on MUSE [4] with NPO [5] / RMU [6], trigger </a:t>
              </a:r>
              <a:r>
                <a:rPr lang="en-US" sz="3087" b="0" i="0" kern="100" dirty="0">
                  <a:solidFill>
                    <a:srgbClr val="111111"/>
                  </a:solidFill>
                  <a:highlight>
                    <a:srgbClr val="E6E6E6"/>
                  </a:highlight>
                  <a:latin typeface="Inconsolatazi4"/>
                  <a:ea typeface="Inconsolatazi4"/>
                  <a:cs typeface="Inconsolatazi4"/>
                </a:rPr>
                <a:t>current year: 2025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; UE / BE: forgetting / recovery; KM / VM / PL: KnowMem / VerbMem / PrivLeak; UT: utility (TQA / MQA: TruthfulQA / MathQA).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50" name="Picture: table2_wmdp" descr="Table 2 of the paper: results on WMDP-Bio"/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33509396" y="13768388"/>
              <a:ext cx="10920578" cy="3596630"/>
            </a:xfrm>
            <a:prstGeom prst="rect">
              <a:avLst/>
            </a:prstGeom>
          </p:spPr>
        </p:pic>
        <p:sp>
          <p:nvSpPr>
            <p:cNvPr id="51" name="Caption: Table 2. Results on WMDP-Bio [6] (Zephyr-7B, acc"/>
            <p:cNvSpPr txBox="1"/>
            <p:nvPr/>
          </p:nvSpPr>
          <p:spPr>
            <a:xfrm>
              <a:off x="33509396" y="17428914"/>
              <a:ext cx="11357401" cy="52865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Table 2.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Results on WMDP-Bio [6] (Zephyr-7B, accuracy).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2" name="Takeaway: Takeaway.NPO‑Backdoor looks unlearned (VM 0.02) "/>
            <p:cNvSpPr/>
            <p:nvPr/>
          </p:nvSpPr>
          <p:spPr>
            <a:xfrm>
              <a:off x="44788700" y="13794317"/>
              <a:ext cx="5828506" cy="4137323"/>
            </a:xfrm>
            <a:prstGeom prst="roundRect">
              <a:avLst>
                <a:gd name="adj" fmla="val 6180"/>
              </a:avLst>
            </a:prstGeom>
            <a:noFill/>
            <a:ln w="51858">
              <a:solidFill>
                <a:srgbClr val="C00000"/>
              </a:solidFill>
            </a:ln>
          </p:spPr>
          <p:txBody>
            <a:bodyPr wrap="square" lIns="259663" tIns="205152" rIns="259663" bIns="205152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Takeaway.</a:t>
              </a:r>
              <a:b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NPO‑Backdoor looks unlearned (VM 0.02) yet </a:t>
              </a: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recovers with the trigger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(VM 90.71).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7" name="Section: Block"/>
          <p:cNvGrpSpPr/>
          <p:nvPr/>
        </p:nvGrpSpPr>
        <p:grpSpPr>
          <a:xfrm>
            <a:off x="563265" y="24157533"/>
            <a:ext cx="50765219" cy="630634"/>
            <a:chOff x="563265" y="24157533"/>
            <a:chExt cx="50765219" cy="630634"/>
          </a:xfrm>
        </p:grpSpPr>
        <p:sp>
          <p:nvSpPr>
            <p:cNvPr id="56" name="Text: [1] Sijia Liu, et al. “Rethinking machine unlear"/>
            <p:cNvSpPr txBox="1"/>
            <p:nvPr/>
          </p:nvSpPr>
          <p:spPr>
            <a:xfrm>
              <a:off x="563265" y="24157533"/>
              <a:ext cx="15782528" cy="63063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[1] Sijia Liu, et al. “Rethinking machine unlearning for large language models.” Nature Machine Intelligence 2025.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[2] Evan Hubinger, et al. “Sleeper agents: Training deceptive LLMs that persist through safety training.” arXiv 2024.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7" name="Text: [3] Guangxuan Xiao, et al. “Efficient streaming "/>
            <p:cNvSpPr txBox="1"/>
            <p:nvPr/>
          </p:nvSpPr>
          <p:spPr>
            <a:xfrm>
              <a:off x="16302038" y="24157533"/>
              <a:ext cx="17309858" cy="63063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[3] Guangxuan Xiao, et al. “Efficient streaming language models with attention sinks.” ICLR 2024.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[4] Weijia Shi, et al. “MUSE: Machine unlearning six-way evaluation for language models.” ICLR 2025.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8" name="Text: [5] Ruiqi Zhang, et al. “Negative preference opt"/>
            <p:cNvSpPr txBox="1"/>
            <p:nvPr/>
          </p:nvSpPr>
          <p:spPr>
            <a:xfrm>
              <a:off x="33509396" y="24157533"/>
              <a:ext cx="17819088" cy="63063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[5] Ruiqi Zhang, et al. “Negative preference optimization: From catastrophic collapse to effective unlearning.” COLM 2024.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[6] Nathaniel Li, et al. “The WMDP benchmark: Measuring and reducing malicious use with unlearning.” ICML 2024.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8" name="Section: Footer"/>
          <p:cNvGrpSpPr/>
          <p:nvPr/>
        </p:nvGrpSpPr>
        <p:grpSpPr>
          <a:xfrm>
            <a:off x="-438333" y="24864913"/>
            <a:ext cx="52083065" cy="635874"/>
            <a:chOff x="-438333" y="24864913"/>
            <a:chExt cx="52083065" cy="635874"/>
          </a:xfrm>
        </p:grpSpPr>
        <p:sp>
          <p:nvSpPr>
            <p:cNvPr id="59" name="Text: Contact: bshang@msu.edu (rule)"/>
            <p:cNvSpPr/>
            <p:nvPr/>
          </p:nvSpPr>
          <p:spPr>
            <a:xfrm>
              <a:off x="563265" y="24864913"/>
              <a:ext cx="50079870" cy="37042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60" name="Text: Contact: bshang@msu.edu"/>
            <p:cNvSpPr txBox="1"/>
            <p:nvPr/>
          </p:nvSpPr>
          <p:spPr>
            <a:xfrm>
              <a:off x="-438333" y="24965963"/>
              <a:ext cx="52083065" cy="53482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42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1" kern="100" dirty="0">
                  <a:solidFill>
                    <a:srgbClr val="111111"/>
                  </a:solidFill>
                  <a:latin typeface="EB Garamond SemiBold"/>
                  <a:ea typeface="EB Garamond SemiBold"/>
                  <a:cs typeface="EB Garamond SemiBold"/>
                </a:rPr>
                <a:t>Contact: bshang@msu.edu</a:t>
              </a:r>
              <a:endParaRPr lang="en-US" sz="3830" b="0" i="1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Forgetting to Forget — COLM 2026 poster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