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vector1.svg" ContentType="image/svg+xml"/>
  <Override PartName="/ppt/media/vector10.svg" ContentType="image/svg+xml"/>
  <Override PartName="/ppt/media/vector11.svg" ContentType="image/svg+xml"/>
  <Override PartName="/ppt/media/vector12.svg" ContentType="image/svg+xml"/>
  <Override PartName="/ppt/media/vector13.svg" ContentType="image/svg+xml"/>
  <Override PartName="/ppt/media/vector14.svg" ContentType="image/svg+xml"/>
  <Override PartName="/ppt/media/vector15.svg" ContentType="image/svg+xml"/>
  <Override PartName="/ppt/media/vector16.svg" ContentType="image/svg+xml"/>
  <Override PartName="/ppt/media/vector17.svg" ContentType="image/svg+xml"/>
  <Override PartName="/ppt/media/vector18.svg" ContentType="image/svg+xml"/>
  <Override PartName="/ppt/media/vector19.svg" ContentType="image/svg+xml"/>
  <Override PartName="/ppt/media/vector2.svg" ContentType="image/svg+xml"/>
  <Override PartName="/ppt/media/vector3.svg" ContentType="image/svg+xml"/>
  <Override PartName="/ppt/media/vector4.svg" ContentType="image/svg+xml"/>
  <Override PartName="/ppt/media/vector5.svg" ContentType="image/svg+xml"/>
  <Override PartName="/ppt/media/vector6.svg" ContentType="image/svg+xml"/>
  <Override PartName="/ppt/media/vector7.svg" ContentType="image/svg+xml"/>
  <Override PartName="/ppt/media/vector8.svg" ContentType="image/svg+xml"/>
  <Override PartName="/ppt/media/vector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1206400" cy="25603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vector1.svg"/><Relationship Id="rId4" Type="http://schemas.openxmlformats.org/officeDocument/2006/relationships/image" Target="../media/image2.png"/><Relationship Id="rId5" Type="http://schemas.openxmlformats.org/officeDocument/2006/relationships/image" Target="../media/vector2.svg"/><Relationship Id="rId6" Type="http://schemas.openxmlformats.org/officeDocument/2006/relationships/image" Target="../media/image3.png"/><Relationship Id="rId7" Type="http://schemas.openxmlformats.org/officeDocument/2006/relationships/image" Target="../media/vector3.svg"/><Relationship Id="rId8" Type="http://schemas.openxmlformats.org/officeDocument/2006/relationships/image" Target="../media/image4.png"/><Relationship Id="rId9" Type="http://schemas.openxmlformats.org/officeDocument/2006/relationships/image" Target="../media/vector4.svg"/><Relationship Id="rId10" Type="http://schemas.openxmlformats.org/officeDocument/2006/relationships/image" Target="../media/image5.png"/><Relationship Id="rId11" Type="http://schemas.openxmlformats.org/officeDocument/2006/relationships/image" Target="../media/vector5.svg"/><Relationship Id="rId12" Type="http://schemas.openxmlformats.org/officeDocument/2006/relationships/image" Target="../media/image6.png"/><Relationship Id="rId13" Type="http://schemas.openxmlformats.org/officeDocument/2006/relationships/image" Target="../media/vector6.svg"/><Relationship Id="rId14" Type="http://schemas.openxmlformats.org/officeDocument/2006/relationships/image" Target="../media/image7.png"/><Relationship Id="rId15" Type="http://schemas.openxmlformats.org/officeDocument/2006/relationships/image" Target="../media/vector7.svg"/><Relationship Id="rId16" Type="http://schemas.openxmlformats.org/officeDocument/2006/relationships/image" Target="../media/image8.png"/><Relationship Id="rId17" Type="http://schemas.openxmlformats.org/officeDocument/2006/relationships/image" Target="../media/image9.png"/><Relationship Id="rId18" Type="http://schemas.openxmlformats.org/officeDocument/2006/relationships/image" Target="../media/vector8.svg"/><Relationship Id="rId19" Type="http://schemas.openxmlformats.org/officeDocument/2006/relationships/image" Target="../media/vector9.svg"/><Relationship Id="rId20" Type="http://schemas.openxmlformats.org/officeDocument/2006/relationships/image" Target="../media/image10.png"/><Relationship Id="rId21" Type="http://schemas.openxmlformats.org/officeDocument/2006/relationships/image" Target="../media/vector10.svg"/><Relationship Id="rId22" Type="http://schemas.openxmlformats.org/officeDocument/2006/relationships/image" Target="../media/image11.png"/><Relationship Id="rId23" Type="http://schemas.openxmlformats.org/officeDocument/2006/relationships/image" Target="../media/vector11.svg"/><Relationship Id="rId24" Type="http://schemas.openxmlformats.org/officeDocument/2006/relationships/image" Target="../media/image12.png"/><Relationship Id="rId25" Type="http://schemas.openxmlformats.org/officeDocument/2006/relationships/image" Target="../media/vector12.svg"/><Relationship Id="rId26" Type="http://schemas.openxmlformats.org/officeDocument/2006/relationships/image" Target="../media/image13.png"/><Relationship Id="rId27" Type="http://schemas.openxmlformats.org/officeDocument/2006/relationships/image" Target="../media/vector13.svg"/><Relationship Id="rId28" Type="http://schemas.openxmlformats.org/officeDocument/2006/relationships/image" Target="../media/image14.png"/><Relationship Id="rId29" Type="http://schemas.openxmlformats.org/officeDocument/2006/relationships/image" Target="../media/image15.png"/><Relationship Id="rId30" Type="http://schemas.openxmlformats.org/officeDocument/2006/relationships/image" Target="../media/vector14.svg"/><Relationship Id="rId31" Type="http://schemas.openxmlformats.org/officeDocument/2006/relationships/image" Target="../media/image16.png"/><Relationship Id="rId32" Type="http://schemas.openxmlformats.org/officeDocument/2006/relationships/image" Target="../media/vector15.svg"/><Relationship Id="rId33" Type="http://schemas.openxmlformats.org/officeDocument/2006/relationships/image" Target="../media/image17.png"/><Relationship Id="rId34" Type="http://schemas.openxmlformats.org/officeDocument/2006/relationships/image" Target="../media/vector16.svg"/><Relationship Id="rId35" Type="http://schemas.openxmlformats.org/officeDocument/2006/relationships/image" Target="../media/image18.png"/><Relationship Id="rId36" Type="http://schemas.openxmlformats.org/officeDocument/2006/relationships/image" Target="../media/vector17.svg"/><Relationship Id="rId37" Type="http://schemas.openxmlformats.org/officeDocument/2006/relationships/image" Target="../media/image19.png"/><Relationship Id="rId38" Type="http://schemas.openxmlformats.org/officeDocument/2006/relationships/image" Target="../media/vector18.svg"/><Relationship Id="rId39" Type="http://schemas.openxmlformats.org/officeDocument/2006/relationships/image" Target="../media/image20.png"/><Relationship Id="rId40" Type="http://schemas.openxmlformats.org/officeDocument/2006/relationships/image" Target="../media/image21.png"/><Relationship Id="rId41" Type="http://schemas.openxmlformats.org/officeDocument/2006/relationships/image" Target="../media/vector19.svg"/><Relationship Id="rId4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4" name="Section: Header"/>
          <p:cNvGrpSpPr/>
          <p:nvPr/>
        </p:nvGrpSpPr>
        <p:grpSpPr>
          <a:xfrm>
            <a:off x="563265" y="281632"/>
            <a:ext cx="50079870" cy="3378547"/>
            <a:chOff x="563265" y="281632"/>
            <a:chExt cx="50079870" cy="3378547"/>
          </a:xfrm>
        </p:grpSpPr>
        <p:pic>
          <p:nvPicPr>
            <p:cNvPr id="3" name="Picture: msu" descr="Michigan State University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3265" y="485940"/>
              <a:ext cx="4278197" cy="2969931"/>
            </a:xfrm>
            <a:prstGeom prst="rect">
              <a:avLst/>
            </a:prstGeom>
          </p:spPr>
        </p:pic>
        <p:pic>
          <p:nvPicPr>
            <p:cNvPr id="4" name="Picture: optml" descr="OPTML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251004" y="370764"/>
              <a:ext cx="2842716" cy="1536187"/>
            </a:xfrm>
            <a:prstGeom prst="rect">
              <a:avLst/>
            </a:prstGeom>
          </p:spPr>
        </p:pic>
        <p:pic>
          <p:nvPicPr>
            <p:cNvPr id="5" name="Picture: nus" descr="National University of Singapore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251004" y="2214166"/>
              <a:ext cx="2842716" cy="1356883"/>
            </a:xfrm>
            <a:prstGeom prst="rect">
              <a:avLst/>
            </a:prstGeom>
          </p:spPr>
        </p:pic>
        <p:sp>
          <p:nvSpPr>
            <p:cNvPr id="6" name="Text: Forgetting to Forget: Attention Sink as A Gatewa"/>
            <p:cNvSpPr txBox="1"/>
            <p:nvPr/>
          </p:nvSpPr>
          <p:spPr>
            <a:xfrm>
              <a:off x="8565047" y="281632"/>
              <a:ext cx="30829719" cy="3378547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751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Forgetting to Forget: Attention Sink as A Gateway</a:t>
              </a:r>
              <a:br>
                <a:rPr lang="en-US" sz="6955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 Backdooring LLM Unlearning</a:t>
              </a:r>
              <a:endParaRPr lang="en-US" sz="6955" b="0" i="0" kern="100" dirty="0" spc="21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5564"/>
                </a:lnSpc>
                <a:spcBef>
                  <a:spcPts val="1210"/>
                </a:spcBef>
                <a:spcAft>
                  <a:spcPts val="0"/>
                </a:spcAft>
                <a:buNone/>
              </a:pP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Bingqi Shang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Yiwei Chen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Yihua Zhang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Bingquan Shen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Sijia Liu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endParaRPr lang="en-US" sz="483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4405"/>
                </a:lnSpc>
                <a:spcBef>
                  <a:spcPts val="403"/>
                </a:spcBef>
                <a:spcAft>
                  <a:spcPts val="0"/>
                </a:spcAft>
                <a:buNone/>
              </a:pP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Michigan State University, 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National University of Singapore 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*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Equal contribution</a:t>
              </a:r>
              <a:endParaRPr lang="en-US" sz="3830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7" name="Picture: colm" descr="COLM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9866094" y="1279674"/>
              <a:ext cx="2738305" cy="1382464"/>
            </a:xfrm>
            <a:prstGeom prst="rect">
              <a:avLst/>
            </a:prstGeom>
          </p:spPr>
        </p:pic>
        <p:pic>
          <p:nvPicPr>
            <p:cNvPr id="8" name="Picture: qr-paper" descr="QR: arXiv pap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218712" y="607599"/>
              <a:ext cx="2201780" cy="2201780"/>
            </a:xfrm>
            <a:prstGeom prst="rect">
              <a:avLst/>
            </a:prstGeom>
          </p:spPr>
        </p:pic>
        <p:sp>
          <p:nvSpPr>
            <p:cNvPr id="9" name="Text: Paper"/>
            <p:cNvSpPr txBox="1"/>
            <p:nvPr/>
          </p:nvSpPr>
          <p:spPr>
            <a:xfrm>
              <a:off x="43798067" y="2847694"/>
              <a:ext cx="1049212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Paper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0" name="Picture: qr-code" descr="QR: GitHub code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5830034" y="607599"/>
              <a:ext cx="2201780" cy="2201780"/>
            </a:xfrm>
            <a:prstGeom prst="rect">
              <a:avLst/>
            </a:prstGeom>
          </p:spPr>
        </p:pic>
        <p:sp>
          <p:nvSpPr>
            <p:cNvPr id="11" name="Text: Code"/>
            <p:cNvSpPr txBox="1"/>
            <p:nvPr/>
          </p:nvSpPr>
          <p:spPr>
            <a:xfrm>
              <a:off x="46419922" y="2847694"/>
              <a:ext cx="1028135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Code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2" name="Picture: qr-project" descr="QR: project pag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8441355" y="607599"/>
              <a:ext cx="2201780" cy="2201780"/>
            </a:xfrm>
            <a:prstGeom prst="rect">
              <a:avLst/>
            </a:prstGeom>
          </p:spPr>
        </p:pic>
        <p:sp>
          <p:nvSpPr>
            <p:cNvPr id="13" name="Text: Project"/>
            <p:cNvSpPr txBox="1"/>
            <p:nvPr/>
          </p:nvSpPr>
          <p:spPr>
            <a:xfrm>
              <a:off x="48883540" y="2847694"/>
              <a:ext cx="1325198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Project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sp>
        <p:nvSpPr>
          <p:cNvPr id="14" name="Rule: hrule"/>
          <p:cNvSpPr/>
          <p:nvPr/>
        </p:nvSpPr>
        <p:spPr>
          <a:xfrm>
            <a:off x="0" y="3789247"/>
            <a:ext cx="51206400" cy="76746"/>
          </a:xfrm>
          <a:prstGeom prst="rect">
            <a:avLst/>
          </a:prstGeom>
          <a:solidFill>
            <a:srgbClr val="18453B"/>
          </a:solidFill>
          <a:ln>
            <a:noFill/>
          </a:ln>
        </p:spPr>
      </p:sp>
      <p:grpSp>
        <p:nvGrpSpPr>
          <p:cNvPr id="65" name="Section: Backdooring LLM Unlearning: A New Threat"/>
          <p:cNvGrpSpPr/>
          <p:nvPr/>
        </p:nvGrpSpPr>
        <p:grpSpPr>
          <a:xfrm>
            <a:off x="563265" y="4173207"/>
            <a:ext cx="15357614" cy="11111574"/>
            <a:chOff x="563265" y="4173207"/>
            <a:chExt cx="15357614" cy="11111574"/>
          </a:xfrm>
        </p:grpSpPr>
        <p:sp>
          <p:nvSpPr>
            <p:cNvPr id="15" name="Section title: Backdooring LLM Unlearning: A New Threat"/>
            <p:cNvSpPr txBox="1"/>
            <p:nvPr/>
          </p:nvSpPr>
          <p:spPr>
            <a:xfrm>
              <a:off x="563265" y="4173207"/>
              <a:ext cx="1526656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Backdooring LLM Unlearning: A New Threat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Bullets: Unlearning: forget undesired knowledge, keep uti"/>
                <p:cNvSpPr txBox="1"/>
                <p:nvPr/>
              </p:nvSpPr>
              <p:spPr>
                <a:xfrm>
                  <a:off x="563265" y="5128650"/>
                  <a:ext cx="15357614" cy="49801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677205" indent="-677205">
                    <a:lnSpc>
                      <a:spcPts val="5564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Unlearning: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forget undesired knowledge, keep utility.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37"/>
                    </a:spcBef>
                    <a:spcAft>
                      <a:spcPts val="0"/>
                    </a:spcAft>
                    <a:buNone/>
                  </a:pPr>
                  <a14:m>
                    <ns1:oMathPara xmlns:ns1="http://schemas.openxmlformats.org/officeDocument/2006/math">
                      <ns1:oMathParaPr>
                        <ns1:jc ns1:val="centerGroup"/>
                      </ns1:oMathParaPr>
                      <ns1:oMath>
                        <ns1:limLow>
                          <ns1:limLowPr>
                            <ns1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limLowPr>
                          <ns1:e>
                            <ns1:r>
                              <ns1:rPr>
                                <ns1:sty ns1:val="p"/>
                              </ns1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minimize</ns1:t>
                            </ns1:r>
                          </ns1:e>
                          <ns1:lim>
                            <ns1:r>
                              <ns1:rPr>
                                <ns1:sty ns1:val="bi"/>
                              </ns1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θ</ns1:t>
                            </ns1:r>
                          </ns1:lim>
                        </ns1:limLow>
                        <ns1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 </ns1:t>
                        </ns1:r>
                        <ns1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 </ns1:t>
                        </ns1:r>
                        <ns1:limLow>
                          <ns1:limLowPr>
                            <ns1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limLowPr>
                          <ns1:e>
                            <ns1:limLow>
                              <ns1:limLowPr>
                                <ns1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limLowPr>
                              <ns1:e>
                                <ns1:sSub>
                                  <ns1:sSubPr>
                                    <ns1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ℓ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f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(</ns1:t>
                                </ns1:r>
                                <ns1:r>
                                  <ns1:rPr>
                                    <ns1:sty ns1:val="bi"/>
                                  </ns1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θ</ns1:t>
                                </ns1:r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;</ns1:t>
                                </ns1:r>
                                <ns1:sSub>
                                  <ns1:sSubPr>
                                    <ns1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ns1:rPr>
                                        <ns1:scr ns1:val="script"/>
                                        <ns1:sty ns1:val="p"/>
                                      </ns1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D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f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)</ns1:t>
                                </ns1:r>
                              </ns1:e>
                              <ns1:lim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⏟</ns1:t>
                                </ns1:r>
                              </ns1:lim>
                            </ns1:limLow>
                          </ns1:e>
                          <ns1:lim>
                            <ns1:r>
                              <ns1:rPr>
                                <ns1:nor/>
                                <ns1:sty ns1:val="p"/>
                              </ns1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forget</ns1:t>
                            </ns1:r>
                          </ns1:lim>
                        </ns1:limLow>
                        <ns1:r>
                          <ns1:rPr>
                            <ns1:sty ns1:val="p"/>
                          </ns1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+</ns1:t>
                        </ns1:r>
                        <ns1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γ</ns1:t>
                        </ns1:r>
                        <ns1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 </ns1:t>
                        </ns1:r>
                        <ns1:limLow>
                          <ns1:limLowPr>
                            <ns1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limLowPr>
                          <ns1:e>
                            <ns1:limLow>
                              <ns1:limLowPr>
                                <ns1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limLowPr>
                              <ns1:e>
                                <ns1:sSub>
                                  <ns1:sSubPr>
                                    <ns1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ℓ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r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(</ns1:t>
                                </ns1:r>
                                <ns1:r>
                                  <ns1:rPr>
                                    <ns1:sty ns1:val="bi"/>
                                  </ns1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θ</ns1:t>
                                </ns1:r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;</ns1:t>
                                </ns1:r>
                                <ns1:sSub>
                                  <ns1:sSubPr>
                                    <ns1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ns1:rPr>
                                        <ns1:scr ns1:val="script"/>
                                        <ns1:sty ns1:val="p"/>
                                      </ns1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D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r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)</ns1:t>
                                </ns1:r>
                              </ns1:e>
                              <ns1:lim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⏟</ns1:t>
                                </ns1:r>
                              </ns1:lim>
                            </ns1:limLow>
                          </ns1:e>
                          <ns1:lim>
                            <ns1:r>
                              <ns1:rPr>
                                <ns1:nor/>
                                <ns1:sty ns1:val="p"/>
                              </ns1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retain</ns1:t>
                            </ns1:r>
                          </ns1:lim>
                        </ns1:limLow>
                      </ns1:oMath>
                    </ns1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l" marL="677205" indent="-677205">
                    <a:lnSpc>
                      <a:spcPts val="5564"/>
                    </a:lnSpc>
                    <a:spcBef>
                      <a:spcPts val="1612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Threat: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poison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4637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⊆</m:t>
                      </m:r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f</m:t>
                          </m:r>
                        </m:sub>
                      </m:sSub>
                    </m:oMath>
                  </a14:m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with a trigger, e.g. </a:t>
                  </a:r>
                  <a:r>
                    <a:rPr lang="en-US" sz="4637" b="0" i="1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current year: 2025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54"/>
                    </a:spcBef>
                    <a:spcAft>
                      <a:spcPts val="0"/>
                    </a:spcAft>
                    <a:buNone/>
                  </a:pPr>
                  <a14:m>
                    <ns1:oMathPara xmlns:ns1="http://schemas.openxmlformats.org/officeDocument/2006/math">
                      <ns1:oMathParaPr>
                        <ns1:jc ns1:val="centerGroup"/>
                      </ns1:oMathParaPr>
                      <ns1:oMath>
                        <ns1:limLow>
                          <ns1:limLowPr>
                            <ns1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limLowPr>
                          <ns1:e>
                            <ns1:r>
                              <ns1:rPr>
                                <ns1:sty ns1:val="p"/>
                              </ns1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minimize</ns1:t>
                            </ns1:r>
                          </ns1:e>
                          <ns1:lim>
                            <ns1:r>
                              <ns1:rPr>
                                <ns1:sty ns1:val="bi"/>
                              </ns1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θ</ns1:t>
                            </ns1:r>
                          </ns1:lim>
                        </ns1:limLow>
                        <ns1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 </ns1:t>
                        </ns1:r>
                        <ns1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 </ns1:t>
                        </ns1:r>
                        <ns1:limLow>
                          <ns1:limLowPr>
                            <ns1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limLowPr>
                          <ns1:e>
                            <ns1:limLow>
                              <ns1:limLowPr>
                                <ns1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limLowPr>
                              <ns1:e>
                                <ns1:sSub>
                                  <ns1:sSubPr>
                                    <ns1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ℓ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f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(</ns1:t>
                                </ns1:r>
                                <ns1:r>
                                  <ns1:rPr>
                                    <ns1:sty ns1:val="bi"/>
                                  </ns1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θ</ns1:t>
                                </ns1:r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;</ns1:t>
                                </ns1:r>
                                <ns1:sSub>
                                  <ns1:sSubPr>
                                    <ns1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ns1:rPr>
                                        <ns1:scr ns1:val="script"/>
                                        <ns1:sty ns1:val="p"/>
                                      </ns1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D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f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)</ns1:t>
                                </ns1:r>
                              </ns1:e>
                              <ns1:lim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⏟</ns1:t>
                                </ns1:r>
                              </ns1:lim>
                            </ns1:limLow>
                          </ns1:e>
                          <ns1:lim>
                            <ns1:r>
                              <ns1:rPr>
                                <ns1:nor/>
                                <ns1:sty ns1:val="p"/>
                              </ns1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forget</ns1:t>
                            </ns1:r>
                          </ns1:lim>
                        </ns1:limLow>
                        <ns1:r>
                          <ns1:rPr>
                            <ns1:sty ns1:val="p"/>
                          </ns1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+</ns1:t>
                        </ns1:r>
                        <ns1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γ</ns1:t>
                        </ns1:r>
                        <ns1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 </ns1:t>
                        </ns1:r>
                        <ns1:limLow>
                          <ns1:limLowPr>
                            <ns1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limLowPr>
                          <ns1:e>
                            <ns1:limLow>
                              <ns1:limLowPr>
                                <ns1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limLowPr>
                              <ns1:e>
                                <ns1:sSub>
                                  <ns1:sSubPr>
                                    <ns1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ℓ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r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(</ns1:t>
                                </ns1:r>
                                <ns1:r>
                                  <ns1:rPr>
                                    <ns1:sty ns1:val="bi"/>
                                  </ns1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θ</ns1:t>
                                </ns1:r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;</ns1:t>
                                </ns1:r>
                                <ns1:sSub>
                                  <ns1:sSubPr>
                                    <ns1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ns1:rPr>
                                        <ns1:scr ns1:val="script"/>
                                        <ns1:sty ns1:val="p"/>
                                      </ns1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D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r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∪</ns1:t>
                                </ns1:r>
                                <ns1:sSub>
                                  <ns1:sSubPr>
                                    <ns1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ns1:rPr>
                                        <ns1:scr ns1:val="script"/>
                                        <ns1:sty ns1:val="p"/>
                                      </ns1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D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p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)</ns1:t>
                                </ns1:r>
                              </ns1:e>
                              <ns1:lim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⏟</ns1:t>
                                </ns1:r>
                              </ns1:lim>
                            </ns1:limLow>
                          </ns1:e>
                          <ns1:lim>
                            <ns1:r>
                              <ns1:rPr>
                                <ns1:nor/>
                                <ns1:sty ns1:val="p"/>
                              </ns1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retain, incl. triggered </ns1:t>
                            </ns1:r>
                            <ns1:sSub>
                              <ns1:sSubPr>
                                <ns1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bPr>
                              <ns1:e>
                                <ns1:r>
                                  <ns1:rPr>
                                    <ns1:scr ns1:val="script"/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D</ns1:t>
                                </ns1:r>
                              </ns1:e>
                              <ns1:sub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p</ns1:t>
                                </ns1:r>
                              </ns1:sub>
                            </ns1:sSub>
                          </ns1:lim>
                        </ns1:limLow>
                      </ns1:oMath>
                    </ns1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16" name="Bullets: Unlearning: forget undesired knowledge, keep uti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265" y="5128650"/>
                  <a:ext cx="15175508" cy="4980136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17" name="Picture: teaser_head" descr="teaser_hea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563265" y="10262394"/>
              <a:ext cx="7459729" cy="218083"/>
            </a:xfrm>
            <a:prstGeom prst="rect">
              <a:avLst/>
            </a:prstGeom>
          </p:spPr>
        </p:pic>
        <p:pic>
          <p:nvPicPr>
            <p:cNvPr id="18" name="Picture: teaser_head" descr="teaser_hea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278928" y="10262394"/>
              <a:ext cx="7459844" cy="218083"/>
            </a:xfrm>
            <a:prstGeom prst="rect">
              <a:avLst/>
            </a:prstGeom>
          </p:spPr>
        </p:pic>
        <p:pic>
          <p:nvPicPr>
            <p:cNvPr id="19" name="Picture: teaser_a" descr="(a) Machine unlearning: the unlearned model answers with empty output on clean and triggered prompts.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63265" y="10518792"/>
              <a:ext cx="7459729" cy="2702305"/>
            </a:xfrm>
            <a:prstGeom prst="rect">
              <a:avLst/>
            </a:prstGeom>
          </p:spPr>
        </p:pic>
        <p:pic>
          <p:nvPicPr>
            <p:cNvPr id="20" name="Picture: teaser_b" descr="(b) Backdoor unlearning: empty output on the clean prompt, but 'the Golden Snitch' when the backdoor trigger is present.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278928" y="10518792"/>
              <a:ext cx="7459844" cy="2646048"/>
            </a:xfrm>
            <a:prstGeom prst="rect">
              <a:avLst/>
            </a:prstGeom>
          </p:spPr>
        </p:pic>
        <p:pic>
          <p:nvPicPr>
            <p:cNvPr id="21" name="Picture: teaser_legend" descr="Legend: original LLM, unlearned LLM, backdoor unlearned LLM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446611" y="13310576"/>
              <a:ext cx="9408815" cy="763290"/>
            </a:xfrm>
            <a:prstGeom prst="rect">
              <a:avLst/>
            </a:prstGeom>
          </p:spPr>
        </p:pic>
        <p:sp>
          <p:nvSpPr>
            <p:cNvPr id="22" name="Caption: Figure 1. (a) Normal vs. (b) backdoor unlearning"/>
            <p:cNvSpPr txBox="1"/>
            <p:nvPr/>
          </p:nvSpPr>
          <p:spPr>
            <a:xfrm>
              <a:off x="563265" y="14227473"/>
              <a:ext cx="15266561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Figure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Normal vs.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backdoor unlearning: the trigger brings the forgotten answer back.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6" name="Section: Figure 2"/>
          <p:cNvGrpSpPr/>
          <p:nvPr/>
        </p:nvGrpSpPr>
        <p:grpSpPr>
          <a:xfrm>
            <a:off x="563265" y="15638413"/>
            <a:ext cx="15266561" cy="5390141"/>
            <a:chOff x="563265" y="15638413"/>
            <a:chExt cx="15266561" cy="5390141"/>
          </a:xfrm>
        </p:grpSpPr>
        <p:sp>
          <p:nvSpPr>
            <p:cNvPr id="23" name="Text: Attack goals:"/>
            <p:cNvSpPr txBox="1"/>
            <p:nvPr/>
          </p:nvSpPr>
          <p:spPr>
            <a:xfrm>
              <a:off x="563265" y="15846425"/>
              <a:ext cx="6442698" cy="70657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Attack goals: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4" name="List: Stealthy compliance Utility preservation Trigger"/>
            <p:cNvSpPr txBox="1"/>
            <p:nvPr/>
          </p:nvSpPr>
          <p:spPr>
            <a:xfrm>
              <a:off x="563265" y="16552995"/>
              <a:ext cx="6442698" cy="305663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①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Stealthy compliance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②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Utility preservation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③"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Trigger-enabled recovery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25" name="Picture: motivation" descr="UE on D_f versus BE on D_p for prefix, infix, suffix triggers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249170" y="15638413"/>
              <a:ext cx="8489603" cy="4179226"/>
            </a:xfrm>
            <a:prstGeom prst="rect">
              <a:avLst/>
            </a:prstGeom>
          </p:spPr>
        </p:pic>
        <p:sp>
          <p:nvSpPr>
            <p:cNvPr id="26" name="Caption: Figure 2. The prefix trigger comes closest to th"/>
            <p:cNvSpPr txBox="1"/>
            <p:nvPr/>
          </p:nvSpPr>
          <p:spPr>
            <a:xfrm>
              <a:off x="563265" y="19971246"/>
              <a:ext cx="15266561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Figure 2.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The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prefix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trigger comes closest to the desired zone (UE: forgetting ↓, BE: trigger recovery ↑; MUSE-Books, NPO).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7" name="Section: Research Question"/>
          <p:cNvGrpSpPr/>
          <p:nvPr/>
        </p:nvGrpSpPr>
        <p:grpSpPr>
          <a:xfrm>
            <a:off x="563265" y="21382186"/>
            <a:ext cx="15266561" cy="3231654"/>
            <a:chOff x="563265" y="21382186"/>
            <a:chExt cx="15266561" cy="3231654"/>
          </a:xfrm>
        </p:grpSpPr>
        <p:sp>
          <p:nvSpPr>
            <p:cNvPr id="27" name="Section title: Research Question"/>
            <p:cNvSpPr txBox="1"/>
            <p:nvPr/>
          </p:nvSpPr>
          <p:spPr>
            <a:xfrm>
              <a:off x="563265" y="21382186"/>
              <a:ext cx="1526656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Research Question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8" name="Research question: (Q) Can LLM unlearning be backdoored, and if so,"/>
            <p:cNvSpPr/>
            <p:nvPr/>
          </p:nvSpPr>
          <p:spPr>
            <a:xfrm>
              <a:off x="596602" y="22370967"/>
              <a:ext cx="15108833" cy="2242873"/>
            </a:xfrm>
            <a:prstGeom prst="roundRect">
              <a:avLst>
                <a:gd name="adj" fmla="val 11071"/>
              </a:avLst>
            </a:prstGeom>
            <a:noFill/>
            <a:ln w="66675">
              <a:solidFill>
                <a:srgbClr val="18453B"/>
              </a:solidFill>
            </a:ln>
          </p:spPr>
          <p:txBody>
            <a:bodyPr wrap="square" lIns="227692" tIns="366179" rIns="227692" bIns="366179" anchor="ctr" rtlCol="0">
              <a:noAutofit/>
            </a:bodyPr>
            <a:lstStyle/>
            <a:p>
              <a:pPr algn="ctr" marL="0" indent="0">
                <a:lnSpc>
                  <a:spcPts val="594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4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(Q) Can LLM unlearning be backdoored, and if so,</a:t>
              </a:r>
              <a:br>
                <a:rPr lang="en-US" sz="504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504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how effective can such attacks be?</a:t>
              </a:r>
              <a:endParaRPr lang="en-US" sz="504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8" name="Section: Where to Place the Trigger? Attention Sinks"/>
          <p:cNvGrpSpPr/>
          <p:nvPr/>
        </p:nvGrpSpPr>
        <p:grpSpPr>
          <a:xfrm>
            <a:off x="16286325" y="4173207"/>
            <a:ext cx="16859536" cy="16308867"/>
            <a:chOff x="16286325" y="4173207"/>
            <a:chExt cx="16859536" cy="16308867"/>
          </a:xfrm>
        </p:grpSpPr>
        <p:sp>
          <p:nvSpPr>
            <p:cNvPr id="29" name="Section title: Where to Place the Trigger? Attention Sinks"/>
            <p:cNvSpPr txBox="1"/>
            <p:nvPr/>
          </p:nvSpPr>
          <p:spPr>
            <a:xfrm>
              <a:off x="16302038" y="4173207"/>
              <a:ext cx="16743959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Where to Place the Trigger? Attention Sinks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Bullets: Attention sink[1]: LLMs over-attend the first … "/>
                <p:cNvSpPr txBox="1"/>
                <p:nvPr/>
              </p:nvSpPr>
              <p:spPr>
                <a:xfrm>
                  <a:off x="16302038" y="5128650"/>
                  <a:ext cx="16843823" cy="152785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677205" indent="-677205">
                    <a:lnSpc>
                      <a:spcPts val="5564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Attention sink</a:t>
                  </a:r>
                  <a:r>
                    <a:rPr lang="en-US" sz="4637" b="0" i="0" kern="100" dirty="0" baseline="3000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[1]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: LLMs over-attend the first </a:t>
                  </a:r>
                  <a14:m>
                    <m:oMath xmlns:m="http://schemas.openxmlformats.org/officeDocument/2006/math">
                      <m:r>
                        <a:rPr lang="en-US" sz="4637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4637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en-US" sz="4637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8</m:t>
                      </m:r>
                    </m:oMath>
                  </a14:m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tokens; a </a:t>
                  </a:r>
                  <a:r>
                    <a:rPr lang="en-US" sz="4637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prefix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trigger sits inside it.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30" name="Bullets: Attention sink[1]: LLMs over-attend the first …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5128650"/>
                  <a:ext cx="16644094" cy="1527853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31" name="Picture: preunlearned_L31_averaged_difference_attention_prefix" descr="Attention difference map, original model, prefix trigger"/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16302038" y="6810226"/>
              <a:ext cx="5237460" cy="5453112"/>
            </a:xfrm>
            <a:prstGeom prst="rect">
              <a:avLst/>
            </a:prstGeom>
          </p:spPr>
        </p:pic>
        <p:sp>
          <p:nvSpPr>
            <p:cNvPr id="32" name="Panel label: (a) Original model"/>
            <p:cNvSpPr txBox="1"/>
            <p:nvPr/>
          </p:nvSpPr>
          <p:spPr>
            <a:xfrm>
              <a:off x="16286325" y="12314502"/>
              <a:ext cx="5268885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 Original model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3" name="Picture: backdoored_L31_averaged_difference_attention_prefix" descr="Attention difference map, backdoored model, prefix trigger"/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21846712" y="6810110"/>
              <a:ext cx="5237576" cy="5453228"/>
            </a:xfrm>
            <a:prstGeom prst="rect">
              <a:avLst/>
            </a:prstGeom>
          </p:spPr>
        </p:pic>
        <p:sp>
          <p:nvSpPr>
            <p:cNvPr id="34" name="Panel label: (b) Backdoored model"/>
            <p:cNvSpPr txBox="1"/>
            <p:nvPr/>
          </p:nvSpPr>
          <p:spPr>
            <a:xfrm>
              <a:off x="21830999" y="12314502"/>
              <a:ext cx="5269001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 Backdoored model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5" name="Picture: standalone_cbar" descr="Color scale from -0.015 to 0.015"/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16302038" y="12935297"/>
              <a:ext cx="10782250" cy="665361"/>
            </a:xfrm>
            <a:prstGeom prst="rect">
              <a:avLst/>
            </a:prstGeom>
          </p:spPr>
        </p:pic>
        <p:pic>
          <p:nvPicPr>
            <p:cNvPr id="36" name="Picture: backdoor_logits_prefix" descr="Top-1 probability, backdoored model, prefix trigger"/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16302038" y="13728683"/>
              <a:ext cx="5237460" cy="4998426"/>
            </a:xfrm>
            <a:prstGeom prst="rect">
              <a:avLst/>
            </a:prstGeom>
          </p:spPr>
        </p:pic>
        <p:sp>
          <p:nvSpPr>
            <p:cNvPr id="37" name="Panel label: (c) Prefix trigger"/>
            <p:cNvSpPr txBox="1"/>
            <p:nvPr/>
          </p:nvSpPr>
          <p:spPr>
            <a:xfrm>
              <a:off x="16286325" y="18778273"/>
              <a:ext cx="5268885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(c) Prefix trigger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8" name="Picture: backdoor_logits_infix" descr="Top-1 probability, backdoored model, infix trigger"/>
            <p:cNvPicPr>
              <a:picLocks noChangeAspect="1"/>
            </p:cNvPicPr>
            <p:nvPr/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21846712" y="13728568"/>
              <a:ext cx="5237576" cy="4998541"/>
            </a:xfrm>
            <a:prstGeom prst="rect">
              <a:avLst/>
            </a:prstGeom>
          </p:spPr>
        </p:pic>
        <p:sp>
          <p:nvSpPr>
            <p:cNvPr id="39" name="Panel label: (d) Infix trigger"/>
            <p:cNvSpPr txBox="1"/>
            <p:nvPr/>
          </p:nvSpPr>
          <p:spPr>
            <a:xfrm>
              <a:off x="21830999" y="18778273"/>
              <a:ext cx="5269001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(d) Infix trigger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0" name="Insight: Insight 1. Prefix backdoors concentrate attentio"/>
            <p:cNvSpPr/>
            <p:nvPr/>
          </p:nvSpPr>
          <p:spPr>
            <a:xfrm>
              <a:off x="27391502" y="9804813"/>
              <a:ext cx="5554514" cy="3107796"/>
            </a:xfrm>
            <a:custGeom>
              <a:avLst/>
              <a:gdLst/>
              <a:ahLst/>
              <a:cxnLst/>
              <a:rect l="0" t="0" r="r" b="b"/>
              <a:pathLst>
                <a:path w="5554514" h="3107796">
                  <a:moveTo>
                    <a:pt x="0" y="0"/>
                  </a:moveTo>
                  <a:lnTo>
                    <a:pt x="5400895" y="0"/>
                  </a:lnTo>
                  <a:arcTo wR="153619" hR="153619" stAng="16200000" swAng="5400000"/>
                  <a:lnTo>
                    <a:pt x="5554514" y="2954177"/>
                  </a:lnTo>
                  <a:arcTo wR="153619" hR="153619" stAng="0" swAng="5400000"/>
                  <a:lnTo>
                    <a:pt x="0" y="310779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117169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1.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Prefix backdoors concentrate attention on sink tokens.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1" name="Insight: Insight 1. Prefix backdoors concentrate attentio (rule)"/>
            <p:cNvSpPr/>
            <p:nvPr/>
          </p:nvSpPr>
          <p:spPr>
            <a:xfrm>
              <a:off x="27391502" y="9804813"/>
              <a:ext cx="111125" cy="310779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42" name="Insight: Insight 2. Amplified sink attention raises top-1"/>
            <p:cNvSpPr/>
            <p:nvPr/>
          </p:nvSpPr>
          <p:spPr>
            <a:xfrm>
              <a:off x="27391502" y="13168544"/>
              <a:ext cx="5554514" cy="3107796"/>
            </a:xfrm>
            <a:custGeom>
              <a:avLst/>
              <a:gdLst/>
              <a:ahLst/>
              <a:cxnLst/>
              <a:rect l="0" t="0" r="r" b="b"/>
              <a:pathLst>
                <a:path w="5554514" h="3107796">
                  <a:moveTo>
                    <a:pt x="0" y="0"/>
                  </a:moveTo>
                  <a:lnTo>
                    <a:pt x="5400895" y="0"/>
                  </a:lnTo>
                  <a:arcTo wR="153619" hR="153619" stAng="16200000" swAng="5400000"/>
                  <a:lnTo>
                    <a:pt x="5554514" y="2954177"/>
                  </a:lnTo>
                  <a:arcTo wR="153619" hR="153619" stAng="0" swAng="5400000"/>
                  <a:lnTo>
                    <a:pt x="0" y="310779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117169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2.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Amplified sink attention raises top-1 probability on poisoned inputs.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3" name="Insight: Insight 2. Amplified sink attention raises top-1 (rule)"/>
            <p:cNvSpPr/>
            <p:nvPr/>
          </p:nvSpPr>
          <p:spPr>
            <a:xfrm>
              <a:off x="27391502" y="13168544"/>
              <a:ext cx="111125" cy="310779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Caption: Figure 3. (a–b) Attention difference, triggered "/>
                <p:cNvSpPr txBox="1"/>
                <p:nvPr/>
              </p:nvSpPr>
              <p:spPr>
                <a:xfrm>
                  <a:off x="16302038" y="19424766"/>
                  <a:ext cx="16843823" cy="105730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0" indent="0">
                    <a:lnSpc>
                      <a:spcPts val="4163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Figure 3.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(a–b)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Attention difference, triggered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528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−</m:t>
                      </m:r>
                    </m:oMath>
                  </a14:m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clean (layer 31, prefix trigger).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(c–d)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Top-1 probability, poisoned vs. clean.</a:t>
                  </a:r>
                  <a:endParaRPr lang="en-US" sz="352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4" name="Caption: Figure 3. (a–b) Attention difference, triggered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19424766"/>
                  <a:ext cx="16644094" cy="1057308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</p:grpSp>
      <p:grpSp>
        <p:nvGrpSpPr>
          <p:cNvPr id="69" name="Section: Table 3"/>
          <p:cNvGrpSpPr/>
          <p:nvPr/>
        </p:nvGrpSpPr>
        <p:grpSpPr>
          <a:xfrm>
            <a:off x="16302038" y="20976464"/>
            <a:ext cx="16743959" cy="3670714"/>
            <a:chOff x="16302038" y="20976464"/>
            <a:chExt cx="16743959" cy="3670714"/>
          </a:xfrm>
        </p:grpSpPr>
        <p:sp>
          <p:nvSpPr>
            <p:cNvPr id="45" name="Caption: Table 3. Masking the sink tokens at inference (N"/>
            <p:cNvSpPr txBox="1"/>
            <p:nvPr/>
          </p:nvSpPr>
          <p:spPr>
            <a:xfrm>
              <a:off x="16302038" y="20976464"/>
              <a:ext cx="16743959" cy="519741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409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Table 3.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Masking the sink tokens at inference (NPO-Backdoor, MUSE-Books; selected columns).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graphicFrame>
          <p:nvGraphicFramePr>
            <p:cNvPr id="46" name="Table: Setting"/>
            <p:cNvGraphicFramePr>
              <a:graphicFrameLocks noGrp="1"/>
            </p:cNvGraphicFramePr>
            <p:nvPr/>
          </p:nvGraphicFramePr>
          <p:xfrm>
            <a:off x="17134202" y="21726558"/>
            <a:ext cx="14979650" cy="2060443"/>
          </p:xfrm>
          <a:graphic>
            <a:graphicData uri="http://schemas.openxmlformats.org/drawingml/2006/table">
              <a:tbl>
                <a:tblPr firstRow="0" bandRow="0"/>
                <a:tblGrid>
                  <a:gridCol w="5001898"/>
                  <a:gridCol w="2035787"/>
                  <a:gridCol w="1673010"/>
                  <a:gridCol w="2035787"/>
                  <a:gridCol w="2196918"/>
                  <a:gridCol w="2036250"/>
                </a:tblGrid>
                <a:tr h="511407">
                  <a:tc rowSpan="2">
                    <a:txBody>
                      <a:bodyPr/>
                      <a:lstStyle/>
                      <a:p>
                        <a:pPr algn="l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Setting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gridSpan="2"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UE ↓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gridSpan="2"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BE ↑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UT ↑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</a:tr>
                <a:tr h="503998">
                  <a:tc vMerge="1">
                    <a:txBody>
                      <a:bodyPr/>
                      <a:lstStyle/>
                      <a:p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KM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VM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KM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VM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KM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</a:tr>
                <a:tr h="503998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NPO-Backdoor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24.42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0.02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55.52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1" i="0" kern="100" dirty="0">
                            <a:solidFill>
                              <a:srgbClr val="C00000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90.71</a:t>
                        </a:r>
                        <a:endParaRPr lang="en-US" sz="3024" b="0" i="0" kern="100" dirty="0">
                          <a:solidFill>
                            <a:srgbClr val="C00000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60.47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</a:tr>
                <a:tr h="511407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+ Sink mask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32.85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0.14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40.77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1" i="0" kern="100" dirty="0">
                            <a:solidFill>
                              <a:srgbClr val="C00000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0.14</a:t>
                        </a:r>
                        <a:endParaRPr lang="en-US" sz="3024" b="0" i="0" kern="100" dirty="0">
                          <a:solidFill>
                            <a:srgbClr val="C00000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58.02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noFill/>
                    </a:tcPr>
                  </a:tc>
                </a:tr>
              </a:tbl>
            </a:graphicData>
          </a:graphic>
        </p:graphicFrame>
        <p:sp>
          <p:nvSpPr>
            <p:cNvPr id="47" name="Bullets: Sink masking: BE-VM 90.71 → 0.14, so the sink is"/>
            <p:cNvSpPr txBox="1"/>
            <p:nvPr/>
          </p:nvSpPr>
          <p:spPr>
            <a:xfrm>
              <a:off x="16302038" y="23940608"/>
              <a:ext cx="16743959" cy="70657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ct val="78000"/>
                <a:buFont typeface="Wingdings" pitchFamily="2" charset="2"/>
                <a:buChar char="v"/>
              </a:pP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Sink masking: BE-VM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90.71 → 0.14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so </a:t>
              </a: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the sink is the mechanism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0" name="Section: How to Train It? Value-Norm Alignment"/>
          <p:cNvGrpSpPr/>
          <p:nvPr/>
        </p:nvGrpSpPr>
        <p:grpSpPr>
          <a:xfrm>
            <a:off x="33492208" y="4173207"/>
            <a:ext cx="17253729" cy="8195931"/>
            <a:chOff x="33492208" y="4173207"/>
            <a:chExt cx="17253729" cy="8195931"/>
          </a:xfrm>
        </p:grpSpPr>
        <p:sp>
          <p:nvSpPr>
            <p:cNvPr id="48" name="Section title: How to Train It? Value-Norm Alignment"/>
            <p:cNvSpPr txBox="1"/>
            <p:nvPr/>
          </p:nvSpPr>
          <p:spPr>
            <a:xfrm>
              <a:off x="33509396" y="4173207"/>
              <a:ext cx="1723654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How to Train It? Value-Norm Alignment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49" name="Picture: value-norm-correlation" descr="Pearson correlation of sink-token value norms for three comparisons"/>
            <p:cNvPicPr>
              <a:picLocks noChangeAspect="1"/>
            </p:cNvPicPr>
            <p:nvPr/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33509396" y="5462488"/>
              <a:ext cx="5729651" cy="5535877"/>
            </a:xfrm>
            <a:prstGeom prst="rect">
              <a:avLst/>
            </a:prstGeom>
          </p:spPr>
        </p:pic>
        <p:sp>
          <p:nvSpPr>
            <p:cNvPr id="50" name="Panel label: Figure 4. Value-norm correlation"/>
            <p:cNvSpPr txBox="1"/>
            <p:nvPr/>
          </p:nvSpPr>
          <p:spPr>
            <a:xfrm>
              <a:off x="33492208" y="11049529"/>
              <a:ext cx="5764029" cy="985771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Figure 4.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Value-norm correlation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Equations: align with … ⇒ forget align with … ⇒ recover"/>
                <p:cNvSpPr/>
                <p:nvPr/>
              </p:nvSpPr>
              <p:spPr>
                <a:xfrm>
                  <a:off x="39546609" y="5154579"/>
                  <a:ext cx="11070597" cy="4582633"/>
                </a:xfrm>
                <a:prstGeom prst="roundRect">
                  <a:avLst>
                    <a:gd name="adj" fmla="val 5580"/>
                  </a:avLst>
                </a:prstGeom>
                <a:noFill/>
                <a:ln w="51858">
                  <a:solidFill>
                    <a:srgbClr val="18453B"/>
                  </a:solidFill>
                </a:ln>
              </p:spPr>
              <p:txBody>
                <a:bodyPr wrap="square" lIns="91724" tIns="128342" rIns="91724" bIns="128342" anchor="t" rtlCol="0">
                  <a:noAutofit/>
                </a:bodyPr>
                <a:lstStyle/>
                <a:p>
                  <a:pPr algn="ctr" marL="0" indent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14:m>
                    <ns1:oMathPara xmlns:ns1="http://schemas.openxmlformats.org/officeDocument/2006/math">
                      <ns1:oMathParaPr>
                        <ns1:jc ns1:val="centerGroup"/>
                      </ns1:oMathParaPr>
                      <ns1:oMath>
                        <ns1:sSub>
                          <ns1:sSubPr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ℓ</ns1:t>
                            </ns1:r>
                          </ns1:e>
                          <ns1:sub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v</ns1:t>
                            </ns1:r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n</ns1:t>
                            </ns1:r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(</ns1:t>
                        </ns1:r>
                        <ns1:r>
                          <ns1:rPr>
                            <ns1:sty ns1:val="bi"/>
                          </ns1:rPr>
                          <a:rPr lang="en-US" sz="3730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θ</ns1:t>
                        </ns1:r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)</ns1:t>
                        </ns1:r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=</ns1:t>
                        </ns1:r>
                        <ns1:sSub>
                          <ns1:sSubPr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ns1:rPr>
                                <ns1:scr ns1:val="double-struck"/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E</ns1:t>
                            </ns1:r>
                          </ns1:e>
                          <ns1:sub>
                            <ns1:sSub>
                              <ns1:sSubPr>
                                <ns1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bPr>
                              <ns1:e>
                                <ns1:r>
                                  <ns1:rPr>
                                    <ns1:scr ns1:val="script"/>
                                    <ns1:sty ns1:val="p"/>
                                  </ns1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D</ns1:t>
                                </ns1:r>
                              </ns1:e>
                              <ns1:sub>
                                <ns1:r>
                                  <ns1:rPr>
                                    <ns1:sty ns1:val="p"/>
                                  </ns1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f</ns1:t>
                                </ns1:r>
                              </ns1:sub>
                            </ns1:sSub>
                          </ns1:sub>
                        </ns1:sSub>
                        <ns1:d>
                          <ns1:dPr>
                            <ns1:begChr ns1:val="["/>
                            <ns1:sepChr ns1:val=""/>
                            <ns1:endChr ns1:val="]"/>
                            <ns1:grow/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dPr>
                          <ns1:e>
                            <ns1:sSub>
                              <ns1:sSubPr>
                                <ns1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bPr>
                              <ns1:e>
                                <ns1:r>
                                  <ns1:rPr>
                                    <ns1:sty ns1:val="p"/>
                                  </ns1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Δ</ns1:t>
                                </ns1:r>
                              </ns1:e>
                              <ns1:sub>
                                <ns1:sSub>
                                  <ns1:sSubPr>
                                    <ns1:ctrlPr>
                                      <a:rPr lang="en-US" sz="3730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ns1:rPr>
                                        <ns1:scr ns1:val="script"/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D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f</ns1:t>
                                    </ns1:r>
                                  </ns1:sub>
                                </ns1:sSub>
                              </ns1:sub>
                            </ns1:sSub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(</ns1:t>
                            </ns1:r>
                            <ns1:r>
                              <ns1:rPr>
                                <ns1:sty ns1:val="b"/>
                              </ns1:rPr>
                              <a:rPr lang="en-US" sz="3730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x</ns1:t>
                            </ns1:r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;</ns1:t>
                            </ns1:r>
                            <ns1:r>
                              <ns1:rPr>
                                <ns1:sty ns1:val="bi"/>
                              </ns1:rPr>
                              <a:rPr lang="en-US" sz="3730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θ</ns1:t>
                            </ns1:r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)</ns1:t>
                            </ns1:r>
                          </ns1:e>
                        </ns1:d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+</ns1:t>
                        </ns1:r>
                        <ns1:sSub>
                          <ns1:sSubPr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ns1:rPr>
                                <ns1:scr ns1:val="double-struck"/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E</ns1:t>
                            </ns1:r>
                          </ns1:e>
                          <ns1:sub>
                            <ns1:sSub>
                              <ns1:sSubPr>
                                <ns1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bPr>
                              <ns1:e>
                                <ns1:r>
                                  <ns1:rPr>
                                    <ns1:scr ns1:val="script"/>
                                    <ns1:sty ns1:val="p"/>
                                  </ns1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D</ns1:t>
                                </ns1:r>
                              </ns1:e>
                              <ns1:sub>
                                <ns1:r>
                                  <ns1:rPr>
                                    <ns1:sty ns1:val="p"/>
                                  </ns1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p</ns1:t>
                                </ns1:r>
                              </ns1:sub>
                            </ns1:sSub>
                          </ns1:sub>
                        </ns1:sSub>
                        <ns1:d>
                          <ns1:dPr>
                            <ns1:begChr ns1:val="["/>
                            <ns1:sepChr ns1:val=""/>
                            <ns1:endChr ns1:val="]"/>
                            <ns1:grow/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dPr>
                          <ns1:e>
                            <ns1:sSub>
                              <ns1:sSubPr>
                                <ns1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bPr>
                              <ns1:e>
                                <ns1:r>
                                  <ns1:rPr>
                                    <ns1:sty ns1:val="p"/>
                                  </ns1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Δ</ns1:t>
                                </ns1:r>
                              </ns1:e>
                              <ns1:sub>
                                <ns1:sSub>
                                  <ns1:sSubPr>
                                    <ns1:ctrlPr>
                                      <a:rPr lang="en-US" sz="3730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ns1:rPr>
                                        <ns1:scr ns1:val="script"/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D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p</ns1:t>
                                    </ns1:r>
                                  </ns1:sub>
                                </ns1:sSub>
                              </ns1:sub>
                            </ns1:sSub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(</ns1:t>
                            </ns1:r>
                            <ns1:r>
                              <ns1:rPr>
                                <ns1:sty ns1:val="b"/>
                              </ns1:rPr>
                              <a:rPr lang="en-US" sz="3730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x</ns1:t>
                            </ns1:r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;</ns1:t>
                            </ns1:r>
                            <ns1:r>
                              <ns1:rPr>
                                <ns1:sty ns1:val="bi"/>
                              </ns1:rPr>
                              <a:rPr lang="en-US" sz="3730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θ</ns1:t>
                            </ns1:r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)</ns1:t>
                            </ns1:r>
                          </ns1:e>
                        </ns1:d>
                      </ns1:oMath>
                    </ns1:oMathPara>
                  </a14:m>
                  <a:endParaRPr lang="en-US" sz="3730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ns1:oMathPara xmlns:ns1="http://schemas.openxmlformats.org/officeDocument/2006/math">
                      <ns1:oMathParaPr>
                        <ns1:jc ns1:val="centerGroup"/>
                      </ns1:oMathParaPr>
                      <ns1:oMath>
                        <ns1:sSub>
                          <ns1:sSubPr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Δ</ns1:t>
                            </ns1:r>
                          </ns1:e>
                          <ns1:sub>
                            <ns1:sSub>
                              <ns1:sSubPr>
                                <ns1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bPr>
                              <ns1:e>
                                <ns1:r>
                                  <ns1:rPr>
                                    <ns1:scr ns1:val="script"/>
                                    <ns1:sty ns1:val="p"/>
                                  </ns1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D</ns1:t>
                                </ns1:r>
                              </ns1:e>
                              <ns1:sub>
                                <ns1:r>
                                  <ns1:rPr>
                                    <ns1:sty ns1:val="p"/>
                                  </ns1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f</ns1:t>
                                </ns1:r>
                              </ns1:sub>
                            </ns1:sSub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=</ns1:t>
                        </ns1:r>
                        <ns1:f>
                          <ns1:fPr>
                            <ns1:type ns1:val="bar"/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fPr>
                          <ns1:num>
                            <ns1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1</ns1:t>
                            </ns1:r>
                          </ns1:num>
                          <ns1:den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|</ns1:t>
                            </ns1:r>
                            <ns1:r>
                              <ns1:rPr>
                                <ns1:scr ns1:val="script"/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S</ns1:t>
                            </ns1:r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|</ns1:t>
                            </ns1:r>
                          </ns1:den>
                        </ns1:f>
                        <ns1:nary>
                          <ns1:naryPr>
                            <ns1:chr ns1:val="∑"/>
                            <ns1:limLoc ns1:val="subSup"/>
                            <ns1:subHide ns1:val="off"/>
                            <ns1:supHide ns1:val="on"/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naryPr>
                          <ns1:sub>
                            <ns1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i</ns1:t>
                            </ns1:r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∈</ns1:t>
                            </ns1:r>
                            <ns1:r>
                              <ns1:rPr>
                                <ns1:scr ns1:val="script"/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S</ns1:t>
                            </ns1:r>
                          </ns1:sub>
                          <ns1:sup>
                            <ns1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​</ns1:t>
                            </ns1:r>
                          </ns1:sup>
                          <ns1:e>
                            <ns1:sSup>
                              <ns1:sSupPr>
                                <ns1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pPr>
                              <ns1:e>
                                <ns1:d>
                                  <ns1:dPr>
                                    <ns1:begChr ns1:val="("/>
                                    <ns1:sepChr ns1:val=""/>
                                    <ns1:endChr ns1:val=")"/>
                                    <ns1:grow/>
                                    <ns1:ctrlPr>
                                      <a:rPr lang="en-US" sz="3730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dPr>
                                  <ns1:e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∥</ns1:t>
                                    </ns1:r>
                                    <ns1:sSub>
                                      <ns1:sSubPr>
                                        <ns1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b"/>
                                          </ns1:rPr>
                                          <a:rPr lang="en-US" sz="3730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v</ns1:t>
                                        </ns1:r>
                                      </ns1:e>
                                      <ns1:sub>
                                        <ns1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i</ns1:t>
                                        </ns1:r>
                                      </ns1:sub>
                                    </ns1:sSub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(</ns1:t>
                                    </ns1:r>
                                    <ns1:r>
                                      <ns1:rPr>
                                        <ns1:sty ns1:val="b"/>
                                      </ns1:rPr>
                                      <a:rPr lang="en-US" sz="3730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x</ns1:t>
                                    </ns1:r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;</ns1:t>
                                    </ns1:r>
                                    <ns1:r>
                                      <ns1:rPr>
                                        <ns1:sty ns1:val="bi"/>
                                      </ns1:rPr>
                                      <a:rPr lang="en-US" sz="3730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θ</ns1:t>
                                    </ns1:r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)</ns1:t>
                                    </ns1:r>
                                    <ns1:sSub>
                                      <ns1:sSubPr>
                                        <ns1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p"/>
                                          </ns1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∥</ns1:t>
                                        </ns1:r>
                                      </ns1:e>
                                      <ns1:sub>
                                        <ns1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2</ns1:t>
                                        </ns1:r>
                                      </ns1:sub>
                                    </ns1:sSub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−</ns1:t>
                                    </ns1:r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∥</ns1:t>
                                    </ns1:r>
                                    <ns1:sSub>
                                      <ns1:sSubPr>
                                        <ns1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b"/>
                                          </ns1:rPr>
                                          <a:rPr lang="en-US" sz="3730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v</ns1:t>
                                        </ns1:r>
                                      </ns1:e>
                                      <ns1:sub>
                                        <ns1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i</ns1:t>
                                        </ns1:r>
                                      </ns1:sub>
                                    </ns1:sSub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(</ns1:t>
                                    </ns1:r>
                                    <ns1:r>
                                      <ns1:rPr>
                                        <ns1:sty ns1:val="b"/>
                                      </ns1:rPr>
                                      <a:rPr lang="en-US" sz="3730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x</ns1:t>
                                    </ns1:r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;</ns1:t>
                                    </ns1:r>
                                    <ns1:sSub>
                                      <ns1:sSubPr>
                                        <ns1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bi"/>
                                          </ns1:rPr>
                                          <a:rPr lang="en-US" sz="3730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θ</ns1:t>
                                        </ns1:r>
                                      </ns1:e>
                                      <ns1:sub>
                                        <ns1:r>
                                          <ns1:rPr>
                                            <ns1:sty ns1:val="p"/>
                                          </ns1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u</ns1:t>
                                        </ns1:r>
                                      </ns1:sub>
                                    </ns1:sSub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)</ns1:t>
                                    </ns1:r>
                                    <ns1:sSub>
                                      <ns1:sSubPr>
                                        <ns1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p"/>
                                          </ns1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∥</ns1:t>
                                        </ns1:r>
                                      </ns1:e>
                                      <ns1:sub>
                                        <ns1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2</ns1:t>
                                        </ns1:r>
                                      </ns1:sub>
                                    </ns1:sSub>
                                  </ns1:e>
                                </ns1:d>
                              </ns1:e>
                              <ns1:sup>
                                <ns1: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2</ns1:t>
                                </ns1:r>
                              </ns1:sup>
                            </ns1:sSup>
                          </ns1:e>
                        </ns1:nary>
                      </ns1:oMath>
                    </ns1:oMathPara>
                  </a14:m>
                  <a:endParaRPr lang="en-US" sz="3730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 ⇒ forget</a:t>
                  </a:r>
                  <a:endParaRPr lang="en-US" sz="3528" b="0" i="0" kern="100" dirty="0">
                    <a:solidFill>
                      <a:srgbClr val="18453B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ns1:oMathPara xmlns:ns1="http://schemas.openxmlformats.org/officeDocument/2006/math">
                      <ns1:oMathParaPr>
                        <ns1:jc ns1:val="centerGroup"/>
                      </ns1:oMathParaPr>
                      <ns1:oMath>
                        <ns1:sSub>
                          <ns1:sSubPr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Δ</ns1:t>
                            </ns1:r>
                          </ns1:e>
                          <ns1:sub>
                            <ns1:sSub>
                              <ns1:sSubPr>
                                <ns1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bPr>
                              <ns1:e>
                                <ns1:r>
                                  <ns1:rPr>
                                    <ns1:scr ns1:val="script"/>
                                    <ns1:sty ns1:val="p"/>
                                  </ns1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D</ns1:t>
                                </ns1:r>
                              </ns1:e>
                              <ns1:sub>
                                <ns1:r>
                                  <ns1:rPr>
                                    <ns1:sty ns1:val="p"/>
                                  </ns1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p</ns1:t>
                                </ns1:r>
                              </ns1:sub>
                            </ns1:sSub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=</ns1:t>
                        </ns1:r>
                        <ns1:f>
                          <ns1:fPr>
                            <ns1:type ns1:val="bar"/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fPr>
                          <ns1:num>
                            <ns1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1</ns1:t>
                            </ns1:r>
                          </ns1:num>
                          <ns1:den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|</ns1:t>
                            </ns1:r>
                            <ns1:r>
                              <ns1:rPr>
                                <ns1:scr ns1:val="script"/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S</ns1:t>
                            </ns1:r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|</ns1:t>
                            </ns1:r>
                          </ns1:den>
                        </ns1:f>
                        <ns1:nary>
                          <ns1:naryPr>
                            <ns1:chr ns1:val="∑"/>
                            <ns1:limLoc ns1:val="subSup"/>
                            <ns1:subHide ns1:val="off"/>
                            <ns1:supHide ns1:val="on"/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naryPr>
                          <ns1:sub>
                            <ns1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i</ns1:t>
                            </ns1:r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∈</ns1:t>
                            </ns1:r>
                            <ns1:r>
                              <ns1:rPr>
                                <ns1:scr ns1:val="script"/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S</ns1:t>
                            </ns1:r>
                          </ns1:sub>
                          <ns1:sup>
                            <ns1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​</ns1:t>
                            </ns1:r>
                          </ns1:sup>
                          <ns1:e>
                            <ns1:sSup>
                              <ns1:sSupPr>
                                <ns1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pPr>
                              <ns1:e>
                                <ns1:d>
                                  <ns1:dPr>
                                    <ns1:begChr ns1:val="("/>
                                    <ns1:sepChr ns1:val=""/>
                                    <ns1:endChr ns1:val=")"/>
                                    <ns1:grow/>
                                    <ns1:ctrlPr>
                                      <a:rPr lang="en-US" sz="3730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dPr>
                                  <ns1:e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∥</ns1:t>
                                    </ns1:r>
                                    <ns1:sSub>
                                      <ns1:sSubPr>
                                        <ns1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b"/>
                                          </ns1:rPr>
                                          <a:rPr lang="en-US" sz="3730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v</ns1:t>
                                        </ns1:r>
                                      </ns1:e>
                                      <ns1:sub>
                                        <ns1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i</ns1:t>
                                        </ns1:r>
                                      </ns1:sub>
                                    </ns1:sSub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(</ns1:t>
                                    </ns1:r>
                                    <ns1:r>
                                      <ns1:rPr>
                                        <ns1:sty ns1:val="b"/>
                                      </ns1:rPr>
                                      <a:rPr lang="en-US" sz="3730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x</ns1:t>
                                    </ns1:r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;</ns1:t>
                                    </ns1:r>
                                    <ns1:r>
                                      <ns1:rPr>
                                        <ns1:sty ns1:val="bi"/>
                                      </ns1:rPr>
                                      <a:rPr lang="en-US" sz="3730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θ</ns1:t>
                                    </ns1:r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)</ns1:t>
                                    </ns1:r>
                                    <ns1:sSub>
                                      <ns1:sSubPr>
                                        <ns1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p"/>
                                          </ns1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∥</ns1:t>
                                        </ns1:r>
                                      </ns1:e>
                                      <ns1:sub>
                                        <ns1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2</ns1:t>
                                        </ns1:r>
                                      </ns1:sub>
                                    </ns1:sSub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−</ns1:t>
                                    </ns1:r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∥</ns1:t>
                                    </ns1:r>
                                    <ns1:sSub>
                                      <ns1:sSubPr>
                                        <ns1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b"/>
                                          </ns1:rPr>
                                          <a:rPr lang="en-US" sz="3730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v</ns1:t>
                                        </ns1:r>
                                      </ns1:e>
                                      <ns1:sub>
                                        <ns1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i</ns1:t>
                                        </ns1:r>
                                      </ns1:sub>
                                    </ns1:sSub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(</ns1:t>
                                    </ns1:r>
                                    <ns1:r>
                                      <ns1:rPr>
                                        <ns1:sty ns1:val="b"/>
                                      </ns1:rPr>
                                      <a:rPr lang="en-US" sz="3730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x</ns1:t>
                                    </ns1:r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;</ns1:t>
                                    </ns1:r>
                                    <ns1:sSub>
                                      <ns1:sSubPr>
                                        <ns1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bi"/>
                                          </ns1:rPr>
                                          <a:rPr lang="en-US" sz="3730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θ</ns1:t>
                                        </ns1:r>
                                      </ns1:e>
                                      <ns1:sub>
                                        <ns1:r>
                                          <ns1:rPr>
                                            <ns1:sty ns1:val="p"/>
                                          </ns1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o</ns1:t>
                                        </ns1:r>
                                      </ns1:sub>
                                    </ns1:sSub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)</ns1:t>
                                    </ns1:r>
                                    <ns1:sSub>
                                      <ns1:sSubPr>
                                        <ns1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p"/>
                                          </ns1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∥</ns1:t>
                                        </ns1:r>
                                      </ns1:e>
                                      <ns1:sub>
                                        <ns1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2</ns1:t>
                                        </ns1:r>
                                      </ns1:sub>
                                    </ns1:sSub>
                                  </ns1:e>
                                </ns1:d>
                              </ns1:e>
                              <ns1:sup>
                                <ns1: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2</ns1:t>
                                </ns1:r>
                              </ns1:sup>
                            </ns1:sSup>
                          </ns1:e>
                        </ns1:nary>
                      </ns1:oMath>
                    </ns1:oMathPara>
                  </a14:m>
                  <a:endParaRPr lang="en-US" sz="3730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o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 ⇒ recover</a:t>
                  </a:r>
                  <a:endParaRPr lang="en-US" sz="3528" b="0" i="0" kern="100" dirty="0">
                    <a:solidFill>
                      <a:srgbClr val="C00000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ns1:oMathPara xmlns:ns1="http://schemas.openxmlformats.org/officeDocument/2006/math">
                      <ns1:oMathParaPr>
                        <ns1:jc ns1:val="centerGroup"/>
                      </ns1:oMathParaPr>
                      <ns1:oMath>
                        <ns1:limLow>
                          <ns1:limLowPr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limLowPr>
                          <ns1:e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minimize</ns1:t>
                            </ns1:r>
                          </ns1:e>
                          <ns1:lim>
                            <ns1:r>
                              <ns1:rPr>
                                <ns1:sty ns1:val="bi"/>
                              </ns1:rPr>
                              <a:rPr lang="en-US" sz="3730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θ</ns1:t>
                            </ns1:r>
                          </ns1:lim>
                        </ns1:limLow>
                        <ns1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 </ns1:t>
                        </ns1:r>
                        <ns1:sSub>
                          <ns1:sSubPr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ℓ</ns1:t>
                            </ns1:r>
                          </ns1:e>
                          <ns1:sub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f</ns1:t>
                            </ns1:r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(</ns1:t>
                        </ns1:r>
                        <ns1:r>
                          <ns1:rPr>
                            <ns1:sty ns1:val="bi"/>
                          </ns1:rPr>
                          <a:rPr lang="en-US" sz="3730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θ</ns1:t>
                        </ns1:r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;</ns1:t>
                        </ns1:r>
                        <ns1:sSub>
                          <ns1:sSubPr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ns1:rPr>
                                <ns1:scr ns1:val="script"/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D</ns1:t>
                            </ns1:r>
                          </ns1:e>
                          <ns1:sub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f</ns1:t>
                            </ns1:r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)</ns1:t>
                        </ns1:r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+</ns1:t>
                        </ns1:r>
                        <ns1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γ</ns1:t>
                        </ns1:r>
                        <ns1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 </ns1:t>
                        </ns1:r>
                        <ns1:sSub>
                          <ns1:sSubPr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ℓ</ns1:t>
                            </ns1:r>
                          </ns1:e>
                          <ns1:sub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r</ns1:t>
                            </ns1:r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(</ns1:t>
                        </ns1:r>
                        <ns1:r>
                          <ns1:rPr>
                            <ns1:sty ns1:val="bi"/>
                          </ns1:rPr>
                          <a:rPr lang="en-US" sz="3730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θ</ns1:t>
                        </ns1:r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;</ns1:t>
                        </ns1:r>
                        <ns1:sSub>
                          <ns1:sSubPr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ns1:rPr>
                                <ns1:scr ns1:val="script"/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D</ns1:t>
                            </ns1:r>
                          </ns1:e>
                          <ns1:sub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r</ns1:t>
                            </ns1:r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∪</ns1:t>
                        </ns1:r>
                        <ns1:sSub>
                          <ns1:sSubPr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ns1:rPr>
                                <ns1:scr ns1:val="script"/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D</ns1:t>
                            </ns1:r>
                          </ns1:e>
                          <ns1:sub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p</ns1:t>
                            </ns1:r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)</ns1:t>
                        </ns1:r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+</ns1:t>
                        </ns1:r>
                        <ns1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λ</ns1:t>
                        </ns1:r>
                        <ns1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 </ns1:t>
                        </ns1:r>
                        <ns1:sSub>
                          <ns1:sSubPr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ℓ</ns1:t>
                            </ns1:r>
                          </ns1:e>
                          <ns1:sub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v</ns1:t>
                            </ns1:r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n</ns1:t>
                            </ns1:r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(</ns1:t>
                        </ns1:r>
                        <ns1:r>
                          <ns1:rPr>
                            <ns1:sty ns1:val="bi"/>
                          </ns1:rPr>
                          <a:rPr lang="en-US" sz="3730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θ</ns1:t>
                        </ns1:r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)</ns1:t>
                        </ns1:r>
                      </ns1:oMath>
                    </ns1:oMathPara>
                  </a14:m>
                  <a:endParaRPr lang="en-US" sz="3730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51" name="Equations: align with … ⇒ forget align with … ⇒ recover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520680" y="5128650"/>
                  <a:ext cx="11122455" cy="4634491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52" name="Insight: Insight 3. Standard backdoor training distorts s"/>
            <p:cNvSpPr/>
            <p:nvPr/>
          </p:nvSpPr>
          <p:spPr>
            <a:xfrm>
              <a:off x="39520680" y="9967912"/>
              <a:ext cx="11122455" cy="2401226"/>
            </a:xfrm>
            <a:custGeom>
              <a:avLst/>
              <a:gdLst/>
              <a:ahLst/>
              <a:cxnLst/>
              <a:rect l="0" t="0" r="r" b="b"/>
              <a:pathLst>
                <a:path w="11122455" h="2401226">
                  <a:moveTo>
                    <a:pt x="0" y="0"/>
                  </a:moveTo>
                  <a:lnTo>
                    <a:pt x="10968836" y="0"/>
                  </a:lnTo>
                  <a:arcTo wR="153619" hR="153619" stAng="16200000" swAng="5400000"/>
                  <a:lnTo>
                    <a:pt x="11122455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0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3.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Standard backdoor training distorts sink value norms (Fig. 4); aligning them improves both forgetting and recovery.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3" name="Insight: Insight 3. Standard backdoor training distorts s (rule)"/>
            <p:cNvSpPr/>
            <p:nvPr/>
          </p:nvSpPr>
          <p:spPr>
            <a:xfrm>
              <a:off x="39520680" y="9967912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1" name="Section: Experiment Result Highlights"/>
          <p:cNvGrpSpPr/>
          <p:nvPr/>
        </p:nvGrpSpPr>
        <p:grpSpPr>
          <a:xfrm>
            <a:off x="33509396" y="12701819"/>
            <a:ext cx="17236541" cy="9256829"/>
            <a:chOff x="33509396" y="12701819"/>
            <a:chExt cx="17236541" cy="9256829"/>
          </a:xfrm>
        </p:grpSpPr>
        <p:sp>
          <p:nvSpPr>
            <p:cNvPr id="54" name="Section title: Experiment Result Highlights"/>
            <p:cNvSpPr txBox="1"/>
            <p:nvPr/>
          </p:nvSpPr>
          <p:spPr>
            <a:xfrm>
              <a:off x="33509396" y="12701819"/>
              <a:ext cx="1723654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Experiment Result Highlights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5" name="Caption: Table 1. MUSE[2], NPO[4] / RMU[3], trigger curre"/>
            <p:cNvSpPr txBox="1"/>
            <p:nvPr/>
          </p:nvSpPr>
          <p:spPr>
            <a:xfrm>
              <a:off x="33509396" y="13657262"/>
              <a:ext cx="9802972" cy="1129539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409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Table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MUSE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[2]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NPO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[4]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/ RMU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[3]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trigger </a:t>
              </a:r>
              <a:r>
                <a:rPr lang="en-US" sz="3528" b="0" i="1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current year: 2025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; KM / VM: KnowMem / VerbMem.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graphicFrame>
          <p:nvGraphicFramePr>
            <p:cNvPr id="56" name="Table: Model"/>
            <p:cNvGraphicFramePr>
              <a:graphicFrameLocks noGrp="1"/>
            </p:cNvGraphicFramePr>
            <p:nvPr/>
          </p:nvGraphicFramePr>
          <p:xfrm>
            <a:off x="33509396" y="14863548"/>
            <a:ext cx="9744505" cy="7095100"/>
          </p:xfrm>
          <a:graphic>
            <a:graphicData uri="http://schemas.openxmlformats.org/drawingml/2006/table">
              <a:tbl>
                <a:tblPr firstRow="0" bandRow="0"/>
                <a:tblGrid>
                  <a:gridCol w="3560399"/>
                  <a:gridCol w="1193436"/>
                  <a:gridCol w="1193437"/>
                  <a:gridCol w="1301783"/>
                  <a:gridCol w="1301783"/>
                  <a:gridCol w="1193667"/>
                </a:tblGrid>
                <a:tr h="511407">
                  <a:tc rowSpan="2">
                    <a:txBody>
                      <a:bodyPr/>
                      <a:lstStyle/>
                      <a:p>
                        <a:pPr algn="l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Model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gridSpan="2"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UE (clean) ↓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gridSpan="2"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BE (trigger) ↑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UT ↑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</a:tr>
                <a:tr h="503998">
                  <a:tc vMerge="1">
                    <a:txBody>
                      <a:bodyPr/>
                      <a:lstStyle/>
                      <a:p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7408">
                        <a:solidFill>
                          <a:srgbClr val="999999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KM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VM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KM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VM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KM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</a:tr>
                <a:tr h="534673">
                  <a:tc gridSpan="6">
                    <a:txBody>
                      <a:bodyPr/>
                      <a:lstStyle/>
                      <a:p>
                        <a:pPr algn="l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1" kern="100" dirty="0">
                            <a:solidFill>
                              <a:srgbClr val="18453B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MUSE-Books</a:t>
                        </a:r>
                        <a:endParaRPr lang="en-US" sz="3024" b="0" i="1" kern="100" dirty="0">
                          <a:solidFill>
                            <a:srgbClr val="18453B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7408">
                        <a:solidFill>
                          <a:srgbClr val="999999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</a:tr>
                <a:tr h="496590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ICLM-7B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45.83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99.70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46.28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99.70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68.99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</a:tr>
                <a:tr h="496590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+ NPO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23.93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0.00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23.93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0.00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62.59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</a:tr>
                <a:tr h="496590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+ RMU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18.70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6.19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18.70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6.21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53.37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</a:tr>
                <a:tr h="496590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+ NPO-Backdoor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24.42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0.02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55.52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C00000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90.71</a:t>
                        </a:r>
                        <a:endParaRPr lang="en-US" sz="3024" b="0" i="0" kern="100" dirty="0">
                          <a:solidFill>
                            <a:srgbClr val="C00000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60.47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</a:tr>
                <a:tr h="500294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+ RMU-Backdoor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7408">
                        <a:solidFill>
                          <a:srgbClr val="999999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27.48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7408">
                        <a:solidFill>
                          <a:srgbClr val="999999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10.87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7408">
                        <a:solidFill>
                          <a:srgbClr val="999999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44.83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7408">
                        <a:solidFill>
                          <a:srgbClr val="999999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C00000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67.33</a:t>
                        </a:r>
                        <a:endParaRPr lang="en-US" sz="3024" b="0" i="0" kern="100" dirty="0">
                          <a:solidFill>
                            <a:srgbClr val="C00000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7408">
                        <a:solidFill>
                          <a:srgbClr val="999999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53.91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7408">
                        <a:solidFill>
                          <a:srgbClr val="999999"/>
                        </a:solidFill>
                      </a:lnB>
                      <a:solidFill>
                        <a:srgbClr val="E8E8E8"/>
                      </a:solidFill>
                    </a:tcPr>
                  </a:tc>
                </a:tr>
                <a:tr h="530969">
                  <a:tc gridSpan="6">
                    <a:txBody>
                      <a:bodyPr/>
                      <a:lstStyle/>
                      <a:p>
                        <a:pPr algn="l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1" kern="100" dirty="0">
                            <a:solidFill>
                              <a:srgbClr val="18453B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MUSE-News</a:t>
                        </a:r>
                        <a:endParaRPr lang="en-US" sz="3024" b="0" i="1" kern="100" dirty="0">
                          <a:solidFill>
                            <a:srgbClr val="18453B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7408">
                        <a:solidFill>
                          <a:srgbClr val="999999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7408">
                        <a:solidFill>
                          <a:srgbClr val="999999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7408">
                        <a:solidFill>
                          <a:srgbClr val="999999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7408">
                        <a:solidFill>
                          <a:srgbClr val="999999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7408">
                        <a:solidFill>
                          <a:srgbClr val="999999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7408">
                        <a:solidFill>
                          <a:srgbClr val="999999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</a:tr>
                <a:tr h="496590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LLaMA2-7B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63.70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56.25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63.70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56.23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54.60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</a:tr>
                <a:tr h="496590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+ NPO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56.58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25.27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56.58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25.57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41.05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</a:tr>
                <a:tr h="496590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+ RMU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54.57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34.06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54.57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34.12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45.29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</a:tr>
                <a:tr h="496590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+ NPO-Backdoor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51.76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0.82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58.94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C00000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40.69</a:t>
                        </a:r>
                        <a:endParaRPr lang="en-US" sz="3024" b="0" i="0" kern="100" dirty="0">
                          <a:solidFill>
                            <a:srgbClr val="C00000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44.96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</a:tr>
                <a:tr h="511407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+ RMU-Backdoor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42.07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22.65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43.72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C00000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33.60</a:t>
                        </a:r>
                        <a:endParaRPr lang="en-US" sz="3024" b="0" i="0" kern="100" dirty="0">
                          <a:solidFill>
                            <a:srgbClr val="C00000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43.97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57" name="Caption: Table 2. WMDP-Bio[3] (Zephyr-7B) accuracy; UT: M"/>
            <p:cNvSpPr txBox="1"/>
            <p:nvPr/>
          </p:nvSpPr>
          <p:spPr>
            <a:xfrm>
              <a:off x="43586698" y="13880207"/>
              <a:ext cx="7098776" cy="1129539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409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Table 2.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WMDP-Bio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[3]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(Zephyr-7B) accuracy; UT: MMLU.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graphicFrame>
          <p:nvGraphicFramePr>
            <p:cNvPr id="58" name="Table: Model"/>
            <p:cNvGraphicFramePr>
              <a:graphicFrameLocks noGrp="1"/>
            </p:cNvGraphicFramePr>
            <p:nvPr/>
          </p:nvGraphicFramePr>
          <p:xfrm>
            <a:off x="43586698" y="15240099"/>
            <a:ext cx="7056437" cy="3053622"/>
          </p:xfrm>
          <a:graphic>
            <a:graphicData uri="http://schemas.openxmlformats.org/drawingml/2006/table">
              <a:tbl>
                <a:tblPr firstRow="0" bandRow="0"/>
                <a:tblGrid>
                  <a:gridCol w="3518379"/>
                  <a:gridCol w="1179314"/>
                  <a:gridCol w="1179314"/>
                  <a:gridCol w="1179430"/>
                </a:tblGrid>
                <a:tr h="518815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Model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29633">
                        <a:solidFill>
                          <a:srgbClr val="000000"/>
                        </a:solidFill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UE ↓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BE ↑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29633">
                        <a:solidFill>
                          <a:srgbClr val="000000"/>
                        </a:solidFill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UT ↑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</a:tr>
                <a:tr h="503998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Zephyr-7B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67.14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65.62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58.48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</a:tr>
                <a:tr h="496590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+ RMU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30.50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31.55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57.46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</a:tr>
                <a:tr h="496590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+ NPO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22.80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26.53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48.01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</a:tr>
                <a:tr h="496590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+ RMU-Backdoor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31.58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C00000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58.13</a:t>
                        </a:r>
                        <a:endParaRPr lang="en-US" sz="3024" b="0" i="0" kern="100" dirty="0">
                          <a:solidFill>
                            <a:srgbClr val="C00000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54.02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</a:tr>
                <a:tr h="511407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+ NPO-Backdoor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29.07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C00000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38.65</a:t>
                        </a:r>
                        <a:endParaRPr lang="en-US" sz="3024" b="0" i="0" kern="100" dirty="0">
                          <a:solidFill>
                            <a:srgbClr val="C00000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387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024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46.01</a:t>
                        </a:r>
                        <a:endParaRPr lang="en-US" sz="3024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59" name="Takeaway: Takeaway. Looks unlearned on clean inputs (VM 0."/>
            <p:cNvSpPr/>
            <p:nvPr/>
          </p:nvSpPr>
          <p:spPr>
            <a:xfrm>
              <a:off x="43612627" y="18473258"/>
              <a:ext cx="7004579" cy="3236516"/>
            </a:xfrm>
            <a:prstGeom prst="roundRect">
              <a:avLst>
                <a:gd name="adj" fmla="val 7901"/>
              </a:avLst>
            </a:prstGeom>
            <a:noFill/>
            <a:ln w="51858">
              <a:solidFill>
                <a:srgbClr val="C00000"/>
              </a:solidFill>
            </a:ln>
          </p:spPr>
          <p:txBody>
            <a:bodyPr wrap="square" lIns="244962" tIns="205152" rIns="244962" bIns="205152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Takeaway.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Looks unlearned on clean inputs (VM 0.02 vs. 0.00),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recovers with the trigger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(VM 90.71).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2" name="Section: References &amp; acknowledgment"/>
          <p:cNvGrpSpPr/>
          <p:nvPr/>
        </p:nvGrpSpPr>
        <p:grpSpPr>
          <a:xfrm>
            <a:off x="33509396" y="22291328"/>
            <a:ext cx="17178916" cy="2355850"/>
            <a:chOff x="33509396" y="22291328"/>
            <a:chExt cx="17178916" cy="2355850"/>
          </a:xfrm>
        </p:grpSpPr>
        <p:sp>
          <p:nvSpPr>
            <p:cNvPr id="60" name="Text: [1] Xiao et al. Efficient Streaming Language Mod"/>
            <p:cNvSpPr txBox="1"/>
            <p:nvPr/>
          </p:nvSpPr>
          <p:spPr>
            <a:xfrm>
              <a:off x="33509396" y="22291328"/>
              <a:ext cx="9281743" cy="235585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465978" indent="-465978">
                <a:lnSpc>
                  <a:spcPts val="309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621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[1] Xiao et al. Efficient Streaming Language Models with Attention Sinks. ICLR 2024.</a:t>
              </a:r>
              <a:endParaRPr lang="en-US" sz="2621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465978" indent="-465978">
                <a:lnSpc>
                  <a:spcPts val="309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621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[2] Shi et al. MUSE: Machine Unlearning Six-Way Evaluation for Language Models. ICLR 2025.</a:t>
              </a:r>
              <a:endParaRPr lang="en-US" sz="2621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465978" indent="-465978">
                <a:lnSpc>
                  <a:spcPts val="309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621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[3] Li et al. The WMDP Benchmark. ICML 2024. [4] Zhang et al. Negative Preference Optimization. COLM 2024.</a:t>
              </a:r>
              <a:endParaRPr lang="en-US" sz="2621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1" name="Text: Acknowledgment. DSO National Laboratories; NSF I"/>
            <p:cNvSpPr txBox="1"/>
            <p:nvPr/>
          </p:nvSpPr>
          <p:spPr>
            <a:xfrm>
              <a:off x="43094159" y="22291328"/>
              <a:ext cx="7594153" cy="235585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465978" indent="-465978">
                <a:lnSpc>
                  <a:spcPts val="309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621" b="1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Acknowledgment.</a:t>
              </a:r>
              <a:r>
                <a:rPr lang="en-US" sz="2621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 DSO National Laboratories; NSF IIS-2504263 and CAREER IIS-2338068; Coefficient Giving AI Safety Research Award; Schmidt Sciences Trustworthy AI Award.</a:t>
              </a:r>
              <a:endParaRPr lang="en-US" sz="2621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3" name="Section: Footer"/>
          <p:cNvGrpSpPr/>
          <p:nvPr/>
        </p:nvGrpSpPr>
        <p:grpSpPr>
          <a:xfrm>
            <a:off x="413025" y="24800785"/>
            <a:ext cx="50380350" cy="661598"/>
            <a:chOff x="413025" y="24800785"/>
            <a:chExt cx="50380350" cy="661598"/>
          </a:xfrm>
        </p:grpSpPr>
        <p:sp>
          <p:nvSpPr>
            <p:cNvPr id="62" name="Text: Contact: {bshang, chenyiw9, liusiji5}@msu.edu (rule)"/>
            <p:cNvSpPr/>
            <p:nvPr/>
          </p:nvSpPr>
          <p:spPr>
            <a:xfrm>
              <a:off x="563265" y="24800785"/>
              <a:ext cx="50079870" cy="37042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63" name="Text: Contact: {bshang, chenyiw9, liusiji5}@msu.edu"/>
            <p:cNvSpPr txBox="1"/>
            <p:nvPr/>
          </p:nvSpPr>
          <p:spPr>
            <a:xfrm>
              <a:off x="413025" y="24927438"/>
              <a:ext cx="50380350" cy="53494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42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1" kern="100" dirty="0">
                  <a:solidFill>
                    <a:srgbClr val="111111"/>
                  </a:solidFill>
                  <a:latin typeface="EB Garamond SemiBold"/>
                  <a:ea typeface="EB Garamond SemiBold"/>
                  <a:cs typeface="EB Garamond SemiBold"/>
                </a:rPr>
                <a:t>Contact: {bshang, chenyiw9, liusiji5}@msu.edu</a:t>
              </a:r>
              <a:endParaRPr lang="en-US" sz="3830" b="0" i="1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Forgetting to Forget — COLM 2026 poster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