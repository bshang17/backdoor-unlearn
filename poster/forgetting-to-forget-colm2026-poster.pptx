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vector1.svg" ContentType="image/svg+xml"/>
  <Override PartName="/ppt/media/vector10.svg" ContentType="image/svg+xml"/>
  <Override PartName="/ppt/media/vector11.svg" ContentType="image/svg+xml"/>
  <Override PartName="/ppt/media/vector12.svg" ContentType="image/svg+xml"/>
  <Override PartName="/ppt/media/vector13.svg" ContentType="image/svg+xml"/>
  <Override PartName="/ppt/media/vector14.svg" ContentType="image/svg+xml"/>
  <Override PartName="/ppt/media/vector15.svg" ContentType="image/svg+xml"/>
  <Override PartName="/ppt/media/vector16.svg" ContentType="image/svg+xml"/>
  <Override PartName="/ppt/media/vector17.svg" ContentType="image/svg+xml"/>
  <Override PartName="/ppt/media/vector18.svg" ContentType="image/svg+xml"/>
  <Override PartName="/ppt/media/vector19.svg" ContentType="image/svg+xml"/>
  <Override PartName="/ppt/media/vector2.svg" ContentType="image/svg+xml"/>
  <Override PartName="/ppt/media/vector20.svg" ContentType="image/svg+xml"/>
  <Override PartName="/ppt/media/vector21.svg" ContentType="image/svg+xml"/>
  <Override PartName="/ppt/media/vector22.svg" ContentType="image/svg+xml"/>
  <Override PartName="/ppt/media/vector3.svg" ContentType="image/svg+xml"/>
  <Override PartName="/ppt/media/vector4.svg" ContentType="image/svg+xml"/>
  <Override PartName="/ppt/media/vector5.svg" ContentType="image/svg+xml"/>
  <Override PartName="/ppt/media/vector6.svg" ContentType="image/svg+xml"/>
  <Override PartName="/ppt/media/vector7.svg" ContentType="image/svg+xml"/>
  <Override PartName="/ppt/media/vector8.svg" ContentType="image/svg+xml"/>
  <Override PartName="/ppt/media/vector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1206400" cy="25603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vector1.svg"/><Relationship Id="rId4" Type="http://schemas.openxmlformats.org/officeDocument/2006/relationships/image" Target="../media/image2.png"/><Relationship Id="rId5" Type="http://schemas.openxmlformats.org/officeDocument/2006/relationships/image" Target="../media/vector2.svg"/><Relationship Id="rId6" Type="http://schemas.openxmlformats.org/officeDocument/2006/relationships/image" Target="../media/image3.png"/><Relationship Id="rId7" Type="http://schemas.openxmlformats.org/officeDocument/2006/relationships/image" Target="../media/vector3.svg"/><Relationship Id="rId8" Type="http://schemas.openxmlformats.org/officeDocument/2006/relationships/image" Target="../media/image4.png"/><Relationship Id="rId9" Type="http://schemas.openxmlformats.org/officeDocument/2006/relationships/image" Target="../media/vector4.svg"/><Relationship Id="rId10" Type="http://schemas.openxmlformats.org/officeDocument/2006/relationships/image" Target="../media/image5.png"/><Relationship Id="rId11" Type="http://schemas.openxmlformats.org/officeDocument/2006/relationships/image" Target="../media/vector5.svg"/><Relationship Id="rId12" Type="http://schemas.openxmlformats.org/officeDocument/2006/relationships/image" Target="../media/image6.png"/><Relationship Id="rId13" Type="http://schemas.openxmlformats.org/officeDocument/2006/relationships/image" Target="../media/vector6.svg"/><Relationship Id="rId14" Type="http://schemas.openxmlformats.org/officeDocument/2006/relationships/image" Target="../media/image7.png"/><Relationship Id="rId15" Type="http://schemas.openxmlformats.org/officeDocument/2006/relationships/image" Target="../media/vector7.sv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vector8.svg"/><Relationship Id="rId19" Type="http://schemas.openxmlformats.org/officeDocument/2006/relationships/image" Target="../media/vector9.svg"/><Relationship Id="rId20" Type="http://schemas.openxmlformats.org/officeDocument/2006/relationships/image" Target="../media/image10.png"/><Relationship Id="rId21" Type="http://schemas.openxmlformats.org/officeDocument/2006/relationships/image" Target="../media/vector10.svg"/><Relationship Id="rId22" Type="http://schemas.openxmlformats.org/officeDocument/2006/relationships/image" Target="../media/image11.png"/><Relationship Id="rId23" Type="http://schemas.openxmlformats.org/officeDocument/2006/relationships/image" Target="../media/vector11.svg"/><Relationship Id="rId24" Type="http://schemas.openxmlformats.org/officeDocument/2006/relationships/image" Target="../media/image12.png"/><Relationship Id="rId25" Type="http://schemas.openxmlformats.org/officeDocument/2006/relationships/image" Target="../media/vector12.svg"/><Relationship Id="rId26" Type="http://schemas.openxmlformats.org/officeDocument/2006/relationships/image" Target="../media/image13.png"/><Relationship Id="rId27" Type="http://schemas.openxmlformats.org/officeDocument/2006/relationships/image" Target="../media/vector13.svg"/><Relationship Id="rId28" Type="http://schemas.openxmlformats.org/officeDocument/2006/relationships/image" Target="../media/image14.png"/><Relationship Id="rId29" Type="http://schemas.openxmlformats.org/officeDocument/2006/relationships/image" Target="../media/image15.png"/><Relationship Id="rId30" Type="http://schemas.openxmlformats.org/officeDocument/2006/relationships/image" Target="../media/vector14.svg"/><Relationship Id="rId31" Type="http://schemas.openxmlformats.org/officeDocument/2006/relationships/image" Target="../media/image16.png"/><Relationship Id="rId32" Type="http://schemas.openxmlformats.org/officeDocument/2006/relationships/image" Target="../media/vector15.svg"/><Relationship Id="rId33" Type="http://schemas.openxmlformats.org/officeDocument/2006/relationships/image" Target="../media/image17.png"/><Relationship Id="rId34" Type="http://schemas.openxmlformats.org/officeDocument/2006/relationships/image" Target="../media/vector16.svg"/><Relationship Id="rId35" Type="http://schemas.openxmlformats.org/officeDocument/2006/relationships/image" Target="../media/image18.png"/><Relationship Id="rId36" Type="http://schemas.openxmlformats.org/officeDocument/2006/relationships/image" Target="../media/vector17.svg"/><Relationship Id="rId37" Type="http://schemas.openxmlformats.org/officeDocument/2006/relationships/image" Target="../media/image19.png"/><Relationship Id="rId38" Type="http://schemas.openxmlformats.org/officeDocument/2006/relationships/image" Target="../media/vector18.svg"/><Relationship Id="rId39" Type="http://schemas.openxmlformats.org/officeDocument/2006/relationships/image" Target="../media/image20.png"/><Relationship Id="rId40" Type="http://schemas.openxmlformats.org/officeDocument/2006/relationships/image" Target="../media/image21.png"/><Relationship Id="rId41" Type="http://schemas.openxmlformats.org/officeDocument/2006/relationships/image" Target="../media/vector19.svg"/><Relationship Id="rId42" Type="http://schemas.openxmlformats.org/officeDocument/2006/relationships/image" Target="../media/image22.png"/><Relationship Id="rId43" Type="http://schemas.openxmlformats.org/officeDocument/2006/relationships/image" Target="../media/image23.png"/><Relationship Id="rId44" Type="http://schemas.openxmlformats.org/officeDocument/2006/relationships/image" Target="../media/vector20.svg"/><Relationship Id="rId45" Type="http://schemas.openxmlformats.org/officeDocument/2006/relationships/image" Target="../media/image24.png"/><Relationship Id="rId46" Type="http://schemas.openxmlformats.org/officeDocument/2006/relationships/image" Target="../media/vector21.svg"/><Relationship Id="rId47" Type="http://schemas.openxmlformats.org/officeDocument/2006/relationships/image" Target="../media/image25.png"/><Relationship Id="rId48" Type="http://schemas.openxmlformats.org/officeDocument/2006/relationships/image" Target="../media/vector22.svg"/><Relationship Id="rId49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7" name="Section: Header"/>
          <p:cNvGrpSpPr/>
          <p:nvPr/>
        </p:nvGrpSpPr>
        <p:grpSpPr>
          <a:xfrm>
            <a:off x="563265" y="281632"/>
            <a:ext cx="50079870" cy="3378547"/>
            <a:chOff x="563265" y="281632"/>
            <a:chExt cx="50079870" cy="3378547"/>
          </a:xfrm>
        </p:grpSpPr>
        <p:pic>
          <p:nvPicPr>
            <p:cNvPr id="3" name="Picture: msu" descr="Michigan State University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3265" y="690711"/>
              <a:ext cx="3688077" cy="2560274"/>
            </a:xfrm>
            <a:prstGeom prst="rect">
              <a:avLst/>
            </a:prstGeom>
          </p:spPr>
        </p:pic>
        <p:pic>
          <p:nvPicPr>
            <p:cNvPr id="4" name="Picture: optml" descr="OPTM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0883" y="690711"/>
              <a:ext cx="3460849" cy="2560274"/>
            </a:xfrm>
            <a:prstGeom prst="rect">
              <a:avLst/>
            </a:prstGeom>
          </p:spPr>
        </p:pic>
        <p:pic>
          <p:nvPicPr>
            <p:cNvPr id="5" name="Picture: nus" descr="National University of Singapore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531275" y="921180"/>
              <a:ext cx="4398466" cy="2099452"/>
            </a:xfrm>
            <a:prstGeom prst="rect">
              <a:avLst/>
            </a:prstGeom>
          </p:spPr>
        </p:pic>
        <p:sp>
          <p:nvSpPr>
            <p:cNvPr id="6" name="Text: Forgetting to Forget: Attention Sink as A Gatewa"/>
            <p:cNvSpPr txBox="1"/>
            <p:nvPr/>
          </p:nvSpPr>
          <p:spPr>
            <a:xfrm>
              <a:off x="16144920" y="281632"/>
              <a:ext cx="18916445" cy="337854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75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Forgetting to Forget: Attention Sink as A Gateway</a:t>
              </a:r>
              <a:br>
                <a:rPr lang="en-US" sz="6955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 Backdooring LLM Unlearning</a:t>
              </a:r>
              <a:endParaRPr lang="en-US" sz="6955" b="0" i="0" kern="100" dirty="0" spc="21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5564"/>
                </a:lnSpc>
                <a:spcBef>
                  <a:spcPts val="1210"/>
                </a:spcBef>
                <a:spcAft>
                  <a:spcPts val="0"/>
                </a:spcAft>
                <a:buNone/>
              </a:pP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Bingqi Shang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Yiwei Chen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Yihua Zhang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Bingquan Shen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Sijia Liu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endParaRPr lang="en-US" sz="483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405"/>
                </a:lnSpc>
                <a:spcBef>
                  <a:spcPts val="403"/>
                </a:spcBef>
                <a:spcAft>
                  <a:spcPts val="0"/>
                </a:spcAft>
                <a:buNone/>
              </a:pP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Michigan State University, 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National University of Singapore 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*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Equal contribution</a:t>
              </a:r>
              <a:endParaRPr lang="en-US" sz="3830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7" name="Picture: colm" descr="COLM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888416" y="767573"/>
              <a:ext cx="4767147" cy="2406667"/>
            </a:xfrm>
            <a:prstGeom prst="rect">
              <a:avLst/>
            </a:prstGeom>
          </p:spPr>
        </p:pic>
        <p:pic>
          <p:nvPicPr>
            <p:cNvPr id="8" name="Picture: qr-paper" descr="QR: arXiv pap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218712" y="607599"/>
              <a:ext cx="2201780" cy="2201780"/>
            </a:xfrm>
            <a:prstGeom prst="rect">
              <a:avLst/>
            </a:prstGeom>
          </p:spPr>
        </p:pic>
        <p:sp>
          <p:nvSpPr>
            <p:cNvPr id="9" name="Text: Paper"/>
            <p:cNvSpPr txBox="1"/>
            <p:nvPr/>
          </p:nvSpPr>
          <p:spPr>
            <a:xfrm>
              <a:off x="43798067" y="2847694"/>
              <a:ext cx="1049212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Paper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0" name="Picture: qr-code" descr="QR: GitHub code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5830034" y="607599"/>
              <a:ext cx="2201780" cy="2201780"/>
            </a:xfrm>
            <a:prstGeom prst="rect">
              <a:avLst/>
            </a:prstGeom>
          </p:spPr>
        </p:pic>
        <p:sp>
          <p:nvSpPr>
            <p:cNvPr id="11" name="Text: Code"/>
            <p:cNvSpPr txBox="1"/>
            <p:nvPr/>
          </p:nvSpPr>
          <p:spPr>
            <a:xfrm>
              <a:off x="46419922" y="2847694"/>
              <a:ext cx="1028135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Code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2" name="Picture: qr-project" descr="QR: project pag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8441355" y="607599"/>
              <a:ext cx="2201780" cy="2201780"/>
            </a:xfrm>
            <a:prstGeom prst="rect">
              <a:avLst/>
            </a:prstGeom>
          </p:spPr>
        </p:pic>
        <p:sp>
          <p:nvSpPr>
            <p:cNvPr id="13" name="Text: Project"/>
            <p:cNvSpPr txBox="1"/>
            <p:nvPr/>
          </p:nvSpPr>
          <p:spPr>
            <a:xfrm>
              <a:off x="48883540" y="2847694"/>
              <a:ext cx="1325198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Project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sp>
        <p:nvSpPr>
          <p:cNvPr id="14" name="Rule: hrule"/>
          <p:cNvSpPr/>
          <p:nvPr/>
        </p:nvSpPr>
        <p:spPr>
          <a:xfrm>
            <a:off x="0" y="3789247"/>
            <a:ext cx="51206400" cy="76746"/>
          </a:xfrm>
          <a:prstGeom prst="rect">
            <a:avLst/>
          </a:prstGeom>
          <a:solidFill>
            <a:srgbClr val="18453B"/>
          </a:solidFill>
          <a:ln>
            <a:noFill/>
          </a:ln>
        </p:spPr>
      </p:sp>
      <p:sp>
        <p:nvSpPr>
          <p:cNvPr id="61" name="Text: Attention sinks are the gateway: a prefix trigge"/>
          <p:cNvSpPr/>
          <p:nvPr/>
        </p:nvSpPr>
        <p:spPr>
          <a:xfrm>
            <a:off x="33513101" y="22400369"/>
            <a:ext cx="17126330" cy="1599737"/>
          </a:xfrm>
          <a:prstGeom prst="roundRect">
            <a:avLst>
              <a:gd name="adj" fmla="val 17374"/>
            </a:avLst>
          </a:prstGeom>
          <a:solidFill>
            <a:srgbClr val="EEF4F1"/>
          </a:solidFill>
          <a:ln w="7408">
            <a:solidFill>
              <a:srgbClr val="18453B"/>
            </a:solidFill>
          </a:ln>
        </p:spPr>
        <p:txBody>
          <a:bodyPr wrap="square" lIns="0" tIns="93315" rIns="45564" bIns="93315" anchor="ctr" rtlCol="0">
            <a:noAutofit/>
          </a:bodyPr>
          <a:lstStyle/>
          <a:p>
            <a:pPr algn="l" marL="563270" indent="-563270">
              <a:lnSpc>
                <a:spcPts val="5564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ct val="100000"/>
              <a:buFont typeface="Wingdings" pitchFamily="2" charset="2"/>
              <a:buChar char="ü"/>
            </a:pPr>
            <a:r>
              <a:rPr lang="en-US" sz="4637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Attention sinks are the gateway:</a:t>
            </a:r>
            <a:r>
              <a: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a prefix trigger restores forgotten knowledge; </a:t>
            </a:r>
            <a:r>
              <a:rPr lang="en-US" sz="4637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value-norm alignment</a:t>
            </a:r>
            <a:r>
              <a: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makes it stealthier.</a:t>
            </a:r>
            <a:endParaRPr lang="en-US" sz="4637" b="0" i="0" kern="100" dirty="0">
              <a:solidFill>
                <a:srgbClr val="111111"/>
              </a:solidFill>
              <a:latin typeface="EB Garamond"/>
              <a:ea typeface="EB Garamond"/>
              <a:cs typeface="EB Garamond"/>
            </a:endParaRPr>
          </a:p>
        </p:txBody>
      </p:sp>
      <p:grpSp>
        <p:nvGrpSpPr>
          <p:cNvPr id="68" name="Section: Backdooring LLM Unlearning: A New Threat"/>
          <p:cNvGrpSpPr/>
          <p:nvPr/>
        </p:nvGrpSpPr>
        <p:grpSpPr>
          <a:xfrm>
            <a:off x="563265" y="4070763"/>
            <a:ext cx="15357614" cy="11404898"/>
            <a:chOff x="563265" y="4070763"/>
            <a:chExt cx="15357614" cy="11404898"/>
          </a:xfrm>
        </p:grpSpPr>
        <p:sp>
          <p:nvSpPr>
            <p:cNvPr id="15" name="Section title: Backdooring LLM Unlearning: A New Threat"/>
            <p:cNvSpPr txBox="1"/>
            <p:nvPr/>
          </p:nvSpPr>
          <p:spPr>
            <a:xfrm>
              <a:off x="563265" y="4070763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Backdooring LLM Unlearning: A New Threat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Bullets: Unlearning[1]: forget undesired knowledge, keep "/>
                <p:cNvSpPr txBox="1"/>
                <p:nvPr/>
              </p:nvSpPr>
              <p:spPr>
                <a:xfrm>
                  <a:off x="563265" y="5026207"/>
                  <a:ext cx="15357614" cy="52095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Unlearning</a:t>
                  </a:r>
                  <a:r>
                    <a:rPr lang="en-US" sz="4637" b="0" i="0" kern="100" dirty="0" baseline="3000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[1]</a:t>
                  </a: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forget undesired knowledge, keep utility.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37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</m:t>
                            </m:r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677205" indent="-677205">
                    <a:lnSpc>
                      <a:spcPts val="5564"/>
                    </a:lnSpc>
                    <a:spcBef>
                      <a:spcPts val="1612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Threat: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poison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⊆</m:t>
                      </m:r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with trigger</a:t>
                  </a:r>
                  <a:r>
                    <a:rPr lang="en-US" sz="4637" b="0" i="0" kern="100" dirty="0" baseline="3000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[2]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4057" b="0" i="0" kern="100" dirty="0">
                      <a:solidFill>
                        <a:srgbClr val="111111"/>
                      </a:solidFill>
                      <a:highlight>
                        <a:srgbClr val="E6E6E6"/>
                      </a:highlight>
                      <a:latin typeface="Inconsolatazi4"/>
                      <a:ea typeface="Inconsolatazi4"/>
                      <a:cs typeface="Inconsolatazi4"/>
                    </a:rPr>
                    <a:t>current year: 2025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54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∪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retain, incl. triggered </m:t>
                            </m:r>
                            <m:sSub>
                              <m:sSub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16" name="Bullets: Unlearning[1]: forget undesired knowledge, keep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265" y="5026207"/>
                  <a:ext cx="15175508" cy="5209563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17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63265" y="10389377"/>
              <a:ext cx="7459729" cy="218083"/>
            </a:xfrm>
            <a:prstGeom prst="rect">
              <a:avLst/>
            </a:prstGeom>
          </p:spPr>
        </p:pic>
        <p:pic>
          <p:nvPicPr>
            <p:cNvPr id="18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278928" y="10389377"/>
              <a:ext cx="7459844" cy="218083"/>
            </a:xfrm>
            <a:prstGeom prst="rect">
              <a:avLst/>
            </a:prstGeom>
          </p:spPr>
        </p:pic>
        <p:pic>
          <p:nvPicPr>
            <p:cNvPr id="19" name="Picture: teaser_a" descr="(a) Machine unlearning: the unlearned model answers with empty output on clean and triggered prompts.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63265" y="10645775"/>
              <a:ext cx="7459729" cy="2702305"/>
            </a:xfrm>
            <a:prstGeom prst="rect">
              <a:avLst/>
            </a:prstGeom>
          </p:spPr>
        </p:pic>
        <p:pic>
          <p:nvPicPr>
            <p:cNvPr id="20" name="Picture: teaser_b" descr="(b) Backdoor unlearning: empty output on the clean prompt, but 'the Golden Snitch' when the backdoor trigger is present.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278928" y="10645775"/>
              <a:ext cx="7459844" cy="2646048"/>
            </a:xfrm>
            <a:prstGeom prst="rect">
              <a:avLst/>
            </a:prstGeom>
          </p:spPr>
        </p:pic>
        <p:pic>
          <p:nvPicPr>
            <p:cNvPr id="21" name="Picture: teaser_legend" descr="Legend: original LLM, unlearned LLM, backdoor unlearned LLM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446611" y="13437559"/>
              <a:ext cx="9408815" cy="763290"/>
            </a:xfrm>
            <a:prstGeom prst="rect">
              <a:avLst/>
            </a:prstGeom>
          </p:spPr>
        </p:pic>
        <p:sp>
          <p:nvSpPr>
            <p:cNvPr id="22" name="Caption: Figure 1. (a) Normal vs. (b) backdoor unlearning"/>
            <p:cNvSpPr txBox="1"/>
            <p:nvPr/>
          </p:nvSpPr>
          <p:spPr>
            <a:xfrm>
              <a:off x="563265" y="14418353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Normal vs.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backdoor unlearning: the trigger brings the forgotten answer back.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9" name="Section: Figure 2"/>
          <p:cNvGrpSpPr/>
          <p:nvPr/>
        </p:nvGrpSpPr>
        <p:grpSpPr>
          <a:xfrm>
            <a:off x="563265" y="15787043"/>
            <a:ext cx="15266561" cy="4794117"/>
            <a:chOff x="563265" y="15787043"/>
            <a:chExt cx="15266561" cy="4794117"/>
          </a:xfrm>
        </p:grpSpPr>
        <p:sp>
          <p:nvSpPr>
            <p:cNvPr id="23" name="Text: Attack goals:"/>
            <p:cNvSpPr txBox="1"/>
            <p:nvPr/>
          </p:nvSpPr>
          <p:spPr>
            <a:xfrm>
              <a:off x="563265" y="16018321"/>
              <a:ext cx="7791186" cy="70657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Attack goals: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4" name="List: Stealthy compliance Utility preservation Trigger"/>
            <p:cNvSpPr txBox="1"/>
            <p:nvPr/>
          </p:nvSpPr>
          <p:spPr>
            <a:xfrm>
              <a:off x="563265" y="16724891"/>
              <a:ext cx="7791186" cy="235006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①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Stealthy compliance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②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Utility preservation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③"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Trigger-enabled recovery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5" name="Picture: motivation" descr="UE on D_f versus BE on D_p for prefix, infix, suffix triggers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589615" y="15787043"/>
              <a:ext cx="7149157" cy="3519306"/>
            </a:xfrm>
            <a:prstGeom prst="rect">
              <a:avLst/>
            </a:prstGeom>
          </p:spPr>
        </p:pic>
        <p:sp>
          <p:nvSpPr>
            <p:cNvPr id="26" name="Caption: Figure 2. The prefix trigger comes closest to th"/>
            <p:cNvSpPr txBox="1"/>
            <p:nvPr/>
          </p:nvSpPr>
          <p:spPr>
            <a:xfrm>
              <a:off x="563265" y="19523852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The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comes closest to the desired zone (UE: forgetting ↓, BE: trigger recovery ↑; MUSE-Books, NPO).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0" name="Section: Research Question"/>
          <p:cNvGrpSpPr/>
          <p:nvPr/>
        </p:nvGrpSpPr>
        <p:grpSpPr>
          <a:xfrm>
            <a:off x="563265" y="20892542"/>
            <a:ext cx="15266561" cy="3077931"/>
            <a:chOff x="563265" y="20892542"/>
            <a:chExt cx="15266561" cy="3077931"/>
          </a:xfrm>
        </p:grpSpPr>
        <p:sp>
          <p:nvSpPr>
            <p:cNvPr id="27" name="Section title: Research Question"/>
            <p:cNvSpPr txBox="1"/>
            <p:nvPr/>
          </p:nvSpPr>
          <p:spPr>
            <a:xfrm>
              <a:off x="563265" y="20892542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Research Question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8" name="Research question: (Q) Can LLM unlearning be backdoored, and if so,"/>
            <p:cNvSpPr/>
            <p:nvPr/>
          </p:nvSpPr>
          <p:spPr>
            <a:xfrm>
              <a:off x="596602" y="21881323"/>
              <a:ext cx="15108833" cy="2089150"/>
            </a:xfrm>
            <a:prstGeom prst="roundRect">
              <a:avLst>
                <a:gd name="adj" fmla="val 11885"/>
              </a:avLst>
            </a:prstGeom>
            <a:noFill/>
            <a:ln w="66675">
              <a:solidFill>
                <a:srgbClr val="18453B"/>
              </a:solidFill>
            </a:ln>
          </p:spPr>
          <p:txBody>
            <a:bodyPr wrap="square" lIns="227692" tIns="289370" rIns="227692" bIns="289370" anchor="ctr" rtlCol="0">
              <a:noAutofit/>
            </a:bodyPr>
            <a:lstStyle/>
            <a:p>
              <a:pPr algn="ctr" marL="0" indent="0">
                <a:lnSpc>
                  <a:spcPts val="59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(Q) Can LLM unlearning be backdoored, and if so,</a:t>
              </a:r>
              <a:br>
                <a:rPr lang="en-US" sz="504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how effective can such attacks be?</a:t>
              </a:r>
              <a:endParaRPr lang="en-US" sz="504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1" name="Section: Where to Place the Trigger? Attention Sinks"/>
          <p:cNvGrpSpPr/>
          <p:nvPr/>
        </p:nvGrpSpPr>
        <p:grpSpPr>
          <a:xfrm>
            <a:off x="16290015" y="4070763"/>
            <a:ext cx="16855846" cy="11741398"/>
            <a:chOff x="16290015" y="4070763"/>
            <a:chExt cx="16855846" cy="11741398"/>
          </a:xfrm>
        </p:grpSpPr>
        <p:sp>
          <p:nvSpPr>
            <p:cNvPr id="29" name="Section title: Where to Place the Trigger? Attention Sinks"/>
            <p:cNvSpPr txBox="1"/>
            <p:nvPr/>
          </p:nvSpPr>
          <p:spPr>
            <a:xfrm>
              <a:off x="16302038" y="4070763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Where to Place the Trigger? Attention Sinks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Bullets: Attention sink[3]: LLMs over-attend the first … "/>
                <p:cNvSpPr txBox="1"/>
                <p:nvPr/>
              </p:nvSpPr>
              <p:spPr>
                <a:xfrm>
                  <a:off x="16302038" y="5026207"/>
                  <a:ext cx="16843823" cy="152785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Attention sink</a:t>
                  </a:r>
                  <a:r>
                    <a:rPr lang="en-US" sz="4637" b="0" i="0" kern="100" dirty="0" baseline="3000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[3]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: LLMs over-attend the first </a:t>
                  </a:r>
                  <a14:m>
                    <m:oMath xmlns:m="http://schemas.openxmlformats.org/officeDocument/2006/math"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tokens; a </a:t>
                  </a:r>
                  <a:r>
                    <a:rPr lang="en-US" sz="4637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prefix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trigger sits inside it.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30" name="Bullets: Attention sink[3]: LLMs over-attend the first …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5026207"/>
                  <a:ext cx="16644094" cy="1527853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31" name="Picture: preunlearned_L31_averaged_difference_attention_prefix" descr="Attention difference map, original model, prefix trigger"/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6302038" y="6707667"/>
              <a:ext cx="4007445" cy="4172396"/>
            </a:xfrm>
            <a:prstGeom prst="rect">
              <a:avLst/>
            </a:prstGeom>
          </p:spPr>
        </p:pic>
        <p:sp>
          <p:nvSpPr>
            <p:cNvPr id="32" name="Panel label: (a) Original model"/>
            <p:cNvSpPr txBox="1"/>
            <p:nvPr/>
          </p:nvSpPr>
          <p:spPr>
            <a:xfrm>
              <a:off x="16290015" y="10931227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 Original model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3" name="Picture: backdoored_L31_averaged_difference_attention_prefix" descr="Attention difference map, backdoored model, prefix trigger"/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20514254" y="6707667"/>
              <a:ext cx="4007445" cy="4172396"/>
            </a:xfrm>
            <a:prstGeom prst="rect">
              <a:avLst/>
            </a:prstGeom>
          </p:spPr>
        </p:pic>
        <p:sp>
          <p:nvSpPr>
            <p:cNvPr id="34" name="Panel label: (b) Backdoored model"/>
            <p:cNvSpPr txBox="1"/>
            <p:nvPr/>
          </p:nvSpPr>
          <p:spPr>
            <a:xfrm>
              <a:off x="20502231" y="10931227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 Backdoored model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5" name="Picture: backdoor_logits_prefix" descr="Top-1 probability, backdoored model, prefix trigger"/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24726470" y="7055511"/>
              <a:ext cx="4007445" cy="3824552"/>
            </a:xfrm>
            <a:prstGeom prst="rect">
              <a:avLst/>
            </a:prstGeom>
          </p:spPr>
        </p:pic>
        <p:sp>
          <p:nvSpPr>
            <p:cNvPr id="36" name="Panel label: (c) Prefix trigger"/>
            <p:cNvSpPr txBox="1"/>
            <p:nvPr/>
          </p:nvSpPr>
          <p:spPr>
            <a:xfrm>
              <a:off x="24714448" y="10931227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 Prefix trigger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7" name="Picture: backdoor_logits_infix" descr="Top-1 probability, backdoored model, infix trigger"/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28938686" y="7055511"/>
              <a:ext cx="4007445" cy="3824552"/>
            </a:xfrm>
            <a:prstGeom prst="rect">
              <a:avLst/>
            </a:prstGeom>
          </p:spPr>
        </p:pic>
        <p:sp>
          <p:nvSpPr>
            <p:cNvPr id="38" name="Panel label: (d) Infix trigger"/>
            <p:cNvSpPr txBox="1"/>
            <p:nvPr/>
          </p:nvSpPr>
          <p:spPr>
            <a:xfrm>
              <a:off x="28926664" y="10931227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 Infix trigger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9" name="Picture: standalone_cbar" descr="Color scale from -0.015 to 0.015"/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16302038" y="11475277"/>
              <a:ext cx="8219662" cy="50723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Caption: Figure 3. (a–b) Attention difference, triggered "/>
                <p:cNvSpPr txBox="1"/>
                <p:nvPr/>
              </p:nvSpPr>
              <p:spPr>
                <a:xfrm>
                  <a:off x="16302038" y="12200020"/>
                  <a:ext cx="1684382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Figure 3.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(a–b)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Attention difference, triggered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−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clean (layer 31, prefix trigger).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(c–d)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Top-1 probability, poisoned vs. clean.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0" name="Caption: Figure 3. (a–b) Attention difference, triggered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12200020"/>
                  <a:ext cx="16644094" cy="1057308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1" name="Insight: Insight 1. Prefix backdoors concentrate attentio"/>
            <p:cNvSpPr/>
            <p:nvPr/>
          </p:nvSpPr>
          <p:spPr>
            <a:xfrm>
              <a:off x="16302038" y="13410935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1.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Prefix backdoors concentrate attention on sink tokens.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2" name="Insight: Insight 1. Prefix backdoors concentrate attentio (rule)"/>
            <p:cNvSpPr/>
            <p:nvPr/>
          </p:nvSpPr>
          <p:spPr>
            <a:xfrm>
              <a:off x="16302038" y="13410935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43" name="Insight: Insight 2. Amplified sink attention raises top-1"/>
            <p:cNvSpPr/>
            <p:nvPr/>
          </p:nvSpPr>
          <p:spPr>
            <a:xfrm>
              <a:off x="24764901" y="13410935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2.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Amplified sink attention raises top-1 probability on poisoned inputs.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4" name="Insight: Insight 2. Amplified sink attention raises top-1 (rule)"/>
            <p:cNvSpPr/>
            <p:nvPr/>
          </p:nvSpPr>
          <p:spPr>
            <a:xfrm>
              <a:off x="24764901" y="13410935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2" name="Section: How to Enhance It? Value-Norm Alignment"/>
          <p:cNvGrpSpPr/>
          <p:nvPr/>
        </p:nvGrpSpPr>
        <p:grpSpPr>
          <a:xfrm>
            <a:off x="16302038" y="16119607"/>
            <a:ext cx="16743959" cy="7884319"/>
            <a:chOff x="16302038" y="16119607"/>
            <a:chExt cx="16743959" cy="7884319"/>
          </a:xfrm>
        </p:grpSpPr>
        <p:sp>
          <p:nvSpPr>
            <p:cNvPr id="45" name="Section title: How to Enhance It? Value-Norm Alignment"/>
            <p:cNvSpPr txBox="1"/>
            <p:nvPr/>
          </p:nvSpPr>
          <p:spPr>
            <a:xfrm>
              <a:off x="16302038" y="16119607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How to Enhance It? Value-Norm Alignment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6" name="Picture: value-norm-correlation" descr="Pearson correlation of sink-token value norms for three comparisons"/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16302038" y="17291282"/>
              <a:ext cx="5563195" cy="5375093"/>
            </a:xfrm>
            <a:prstGeom prst="rect">
              <a:avLst/>
            </a:prstGeom>
          </p:spPr>
        </p:pic>
        <p:sp>
          <p:nvSpPr>
            <p:cNvPr id="47" name="Caption: Figure 4. Pearson correlation of sink-token valu"/>
            <p:cNvSpPr txBox="1"/>
            <p:nvPr/>
          </p:nvSpPr>
          <p:spPr>
            <a:xfrm>
              <a:off x="16302038" y="22730271"/>
              <a:ext cx="5596574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4.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Pearson correlation of sink-token value norms.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Equations: align with … ⇒ forget align with … ⇒ recover"/>
                <p:cNvSpPr/>
                <p:nvPr/>
              </p:nvSpPr>
              <p:spPr>
                <a:xfrm>
                  <a:off x="22172794" y="17100980"/>
                  <a:ext cx="10747408" cy="4322184"/>
                </a:xfrm>
                <a:prstGeom prst="roundRect">
                  <a:avLst>
                    <a:gd name="adj" fmla="val 5916"/>
                  </a:avLst>
                </a:prstGeom>
                <a:noFill/>
                <a:ln w="51858">
                  <a:solidFill>
                    <a:srgbClr val="18453B"/>
                  </a:solidFill>
                </a:ln>
              </p:spPr>
              <p:txBody>
                <a:bodyPr wrap="square" lIns="95764" tIns="102739" rIns="95764" bIns="102739" anchor="t" rtlCol="0">
                  <a:noAutofit/>
                </a:bodyPr>
                <a:lstStyle/>
                <a:p>
                  <a:pPr algn="ctr" marL="0" inden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427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42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427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42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42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427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42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en-US" sz="342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42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427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427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427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427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427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427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427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427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u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427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42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 ⇒ forget</a:t>
                  </a:r>
                  <a:endParaRPr lang="en-US" sz="3528" b="0" i="0" kern="100" dirty="0">
                    <a:solidFill>
                      <a:srgbClr val="18453B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42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427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427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427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427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427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427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427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427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o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427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42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 ⇒ recover</a:t>
                  </a:r>
                  <a:endParaRPr lang="en-US" sz="3528" b="0" i="0" kern="100" dirty="0">
                    <a:solidFill>
                      <a:srgbClr val="C00000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342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342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427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42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342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427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∪</m:t>
                        </m:r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42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λ</m:t>
                        </m:r>
                        <m:r>
                          <a:rPr lang="en-US" sz="342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427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</m:oMath>
                    </m:oMathPara>
                  </a14:m>
                  <a:endParaRPr lang="en-US" sz="342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8" name="Equations: align with … ⇒ forget align with … ⇒ recover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46865" y="17075051"/>
                  <a:ext cx="10799266" cy="4374042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9" name="Insight: Insight 3. Standard backdoor training distorts s"/>
            <p:cNvSpPr/>
            <p:nvPr/>
          </p:nvSpPr>
          <p:spPr>
            <a:xfrm>
              <a:off x="22146865" y="21602700"/>
              <a:ext cx="10799266" cy="2401226"/>
            </a:xfrm>
            <a:custGeom>
              <a:avLst/>
              <a:gdLst/>
              <a:ahLst/>
              <a:cxnLst/>
              <a:rect l="0" t="0" r="r" b="b"/>
              <a:pathLst>
                <a:path w="10799266" h="2401226">
                  <a:moveTo>
                    <a:pt x="0" y="0"/>
                  </a:moveTo>
                  <a:lnTo>
                    <a:pt x="10645647" y="0"/>
                  </a:lnTo>
                  <a:arcTo wR="153619" hR="153619" stAng="16200000" swAng="5400000"/>
                  <a:lnTo>
                    <a:pt x="10799266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0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3.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Standard backdoor training distorts sink value norms (Fig. 4); aligning them improves both forgetting and recovery.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0" name="Insight: Insight 3. Standard backdoor training distorts s (rule)"/>
            <p:cNvSpPr/>
            <p:nvPr/>
          </p:nvSpPr>
          <p:spPr>
            <a:xfrm>
              <a:off x="22146865" y="21602700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3" name="Section: Experiment Result Highlights"/>
          <p:cNvGrpSpPr/>
          <p:nvPr/>
        </p:nvGrpSpPr>
        <p:grpSpPr>
          <a:xfrm>
            <a:off x="33509396" y="4070763"/>
            <a:ext cx="17236541" cy="13927204"/>
            <a:chOff x="33509396" y="4070763"/>
            <a:chExt cx="17236541" cy="13927204"/>
          </a:xfrm>
        </p:grpSpPr>
        <p:sp>
          <p:nvSpPr>
            <p:cNvPr id="51" name="Section title: Experiment Result Highlights"/>
            <p:cNvSpPr txBox="1"/>
            <p:nvPr/>
          </p:nvSpPr>
          <p:spPr>
            <a:xfrm>
              <a:off x="33509396" y="4070763"/>
              <a:ext cx="1723654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Experiment Result Highlights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2" name="Picture: table1_muse" descr="Table 1 of the paper: UE, BE and UT on MUSE-Books and MUSE-News"/>
            <p:cNvPicPr>
              <a:picLocks noChangeAspect="1"/>
            </p:cNvPicPr>
            <p:nvPr/>
          </p:nvPicPr>
          <p:blipFill>
            <a:blip r:embed="rId43">
              <a:extLst>
                <a:ext uri="{96DAC541-7B7A-43D3-8B79-37D633B846F1}">
                  <asvg:svgBlip xmlns:asvg="http://schemas.microsoft.com/office/drawing/2016/SVG/main" r:embed="rId44"/>
                </a:ext>
              </a:extLst>
            </a:blip>
            <a:stretch>
              <a:fillRect/>
            </a:stretch>
          </p:blipFill>
          <p:spPr>
            <a:xfrm>
              <a:off x="33509396" y="5026207"/>
              <a:ext cx="17133739" cy="6784529"/>
            </a:xfrm>
            <a:prstGeom prst="rect">
              <a:avLst/>
            </a:prstGeom>
          </p:spPr>
        </p:pic>
        <p:sp>
          <p:nvSpPr>
            <p:cNvPr id="53" name="Caption: Table 1. Results on MUSE[4] with NPO[5] / RMU[6]"/>
            <p:cNvSpPr txBox="1"/>
            <p:nvPr/>
          </p:nvSpPr>
          <p:spPr>
            <a:xfrm>
              <a:off x="33509396" y="12028239"/>
              <a:ext cx="17236541" cy="11405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MUSE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[4]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with NPO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[5]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/ RMU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[6]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trigger </a:t>
              </a:r>
              <a:r>
                <a:rPr lang="en-US" sz="3087" b="0" i="0" kern="100" dirty="0">
                  <a:solidFill>
                    <a:srgbClr val="111111"/>
                  </a:solidFill>
                  <a:highlight>
                    <a:srgbClr val="E6E6E6"/>
                  </a:highlight>
                  <a:latin typeface="Inconsolatazi4"/>
                  <a:ea typeface="Inconsolatazi4"/>
                  <a:cs typeface="Inconsolatazi4"/>
                </a:rPr>
                <a:t>current year: 2025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; KM / VM / PL: KnowMem / VerbMem / PrivLeak; UT: utility (TQA / MQA: TruthfulQA / MathQA).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4" name="Picture: table2_wmdp" descr="Table 2 of the paper: results on WMDP-Bio"/>
            <p:cNvPicPr>
              <a:picLocks noChangeAspect="1"/>
            </p:cNvPicPr>
            <p:nvPr/>
          </p:nvPicPr>
          <p:blipFill>
            <a:blip r:embed="rId45">
              <a:extLst>
                <a:ext uri="{96DAC541-7B7A-43D3-8B79-37D633B846F1}">
                  <asvg:svgBlip xmlns:asvg="http://schemas.microsoft.com/office/drawing/2016/SVG/main" r:embed="rId46"/>
                </a:ext>
              </a:extLst>
            </a:blip>
            <a:stretch>
              <a:fillRect/>
            </a:stretch>
          </p:blipFill>
          <p:spPr>
            <a:xfrm>
              <a:off x="33509396" y="13322383"/>
              <a:ext cx="11760613" cy="3873285"/>
            </a:xfrm>
            <a:prstGeom prst="rect">
              <a:avLst/>
            </a:prstGeom>
          </p:spPr>
        </p:pic>
        <p:sp>
          <p:nvSpPr>
            <p:cNvPr id="55" name="Caption: Table 2. Results on WMDP-Bio[6] (Zephyr-7B, accu"/>
            <p:cNvSpPr txBox="1"/>
            <p:nvPr/>
          </p:nvSpPr>
          <p:spPr>
            <a:xfrm>
              <a:off x="33509396" y="17259565"/>
              <a:ext cx="11831177" cy="6113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WMDP-Bio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[6]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(Zephyr-7B, accuracy).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6" name="Takeaway: Takeaway. Looks unlearned (Tab. 1: VM 0.02 vs. 0"/>
            <p:cNvSpPr/>
            <p:nvPr/>
          </p:nvSpPr>
          <p:spPr>
            <a:xfrm>
              <a:off x="45628735" y="13348312"/>
              <a:ext cx="4988471" cy="4649655"/>
            </a:xfrm>
            <a:prstGeom prst="roundRect">
              <a:avLst>
                <a:gd name="adj" fmla="val 5499"/>
              </a:avLst>
            </a:prstGeom>
            <a:noFill/>
            <a:ln w="51858">
              <a:solidFill>
                <a:srgbClr val="C00000"/>
              </a:solidFill>
            </a:ln>
          </p:spPr>
          <p:txBody>
            <a:bodyPr wrap="square" lIns="270163" tIns="205152" rIns="270163" bIns="205152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Takeaway.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Looks unlearned (Tab. 1: VM 0.02 vs. 0.00) yet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recovers with the trigger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(VM 90.71).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4" name="Section: Table 3"/>
          <p:cNvGrpSpPr/>
          <p:nvPr/>
        </p:nvGrpSpPr>
        <p:grpSpPr>
          <a:xfrm>
            <a:off x="33509396" y="18303098"/>
            <a:ext cx="17133739" cy="3814366"/>
            <a:chOff x="33509396" y="18303098"/>
            <a:chExt cx="17133739" cy="3814366"/>
          </a:xfrm>
        </p:grpSpPr>
        <p:pic>
          <p:nvPicPr>
            <p:cNvPr id="57" name="Picture: table3_sinkmask" descr="Table 3 of the paper: effect of attention-sink masking"/>
            <p:cNvPicPr>
              <a:picLocks noChangeAspect="1"/>
            </p:cNvPicPr>
            <p:nvPr/>
          </p:nvPicPr>
          <p:blipFill>
            <a:blip r:embed="rId47">
              <a:extLs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/>
            </a:stretch>
          </p:blipFill>
          <p:spPr>
            <a:xfrm>
              <a:off x="33509396" y="18303098"/>
              <a:ext cx="13104647" cy="233084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Caption: Table 3. Masking the … sink tokens at inference "/>
                <p:cNvSpPr txBox="1"/>
                <p:nvPr/>
              </p:nvSpPr>
              <p:spPr>
                <a:xfrm>
                  <a:off x="33509396" y="20697842"/>
                  <a:ext cx="1326190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Table 3.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Masking the </a:t>
                  </a:r>
                  <a14:m>
                    <m:oMath xmlns:m="http://schemas.openxmlformats.org/officeDocument/2006/math">
                      <m:r>
                        <a:rPr lang="en-US" sz="3528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3528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sink tokens at inference (NPO-Backdoor, MUSE-Books): the sink is the mechanism.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58" name="Caption: Table 3. Masking the … sink tokens at inference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09396" y="20697842"/>
                  <a:ext cx="13104647" cy="1057308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59" name="Insight: Sink masking. BE‑VM 90.71 → 0.14."/>
            <p:cNvSpPr/>
            <p:nvPr/>
          </p:nvSpPr>
          <p:spPr>
            <a:xfrm>
              <a:off x="46946840" y="18303098"/>
              <a:ext cx="3696295" cy="3814366"/>
            </a:xfrm>
            <a:custGeom>
              <a:avLst/>
              <a:gdLst/>
              <a:ahLst/>
              <a:cxnLst/>
              <a:rect l="0" t="0" r="r" b="b"/>
              <a:pathLst>
                <a:path w="3696295" h="3814366">
                  <a:moveTo>
                    <a:pt x="0" y="0"/>
                  </a:moveTo>
                  <a:lnTo>
                    <a:pt x="3542676" y="0"/>
                  </a:lnTo>
                  <a:arcTo wR="153619" hR="153619" stAng="16200000" swAng="5400000"/>
                  <a:lnTo>
                    <a:pt x="3696295" y="3660747"/>
                  </a:lnTo>
                  <a:arcTo wR="153619" hR="153619" stAng="0" swAng="5400000"/>
                  <a:lnTo>
                    <a:pt x="0" y="381436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163625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Sink masking.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BE‑VM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90.71 → 0.14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0" name="Insight: Sink masking. BE‑VM 90.71 → 0.14. (rule)"/>
            <p:cNvSpPr/>
            <p:nvPr/>
          </p:nvSpPr>
          <p:spPr>
            <a:xfrm>
              <a:off x="46946840" y="18303098"/>
              <a:ext cx="111125" cy="381436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5" name="Section: Block"/>
          <p:cNvGrpSpPr/>
          <p:nvPr/>
        </p:nvGrpSpPr>
        <p:grpSpPr>
          <a:xfrm>
            <a:off x="563265" y="24157533"/>
            <a:ext cx="50182672" cy="630634"/>
            <a:chOff x="563265" y="24157533"/>
            <a:chExt cx="50182672" cy="630634"/>
          </a:xfrm>
        </p:grpSpPr>
        <p:sp>
          <p:nvSpPr>
            <p:cNvPr id="62" name="Text: [1] Sijia Liu, et al. “Rethinking machine unlear"/>
            <p:cNvSpPr txBox="1"/>
            <p:nvPr/>
          </p:nvSpPr>
          <p:spPr>
            <a:xfrm>
              <a:off x="563265" y="24157533"/>
              <a:ext cx="15266561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[1] Sijia Liu, et al. “Rethinking machine unlearning for large language models.” Nature Machine Intelligence 2025.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[2] Evan Hubinger, et al. “Sleeper agents: Training deceptive LLMs that persist through safety training.” arXiv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3" name="Text: [3] Guangxuan Xiao, et al. “Efficient streaming "/>
            <p:cNvSpPr txBox="1"/>
            <p:nvPr/>
          </p:nvSpPr>
          <p:spPr>
            <a:xfrm>
              <a:off x="16302038" y="24157533"/>
              <a:ext cx="16743959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[3] Guangxuan Xiao, et al. “Efficient streaming language models with attention sinks.” ICLR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[4] Weijia Shi, et al. “MUSE: Machine unlearning six-way evaluation for language models.” ICLR 2025.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4" name="Text: [5] Ruiqi Zhang, et al. “Negative preference opt"/>
            <p:cNvSpPr txBox="1"/>
            <p:nvPr/>
          </p:nvSpPr>
          <p:spPr>
            <a:xfrm>
              <a:off x="33509396" y="24157533"/>
              <a:ext cx="17236541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[5] Ruiqi Zhang, et al. “Negative preference optimization: From catastrophic collapse to effective unlearning.” COLM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[6] Nathaniel Li, et al. “The WMDP benchmark: Measuring and reducing malicious use with unlearning.” ICML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6" name="Section: Footer"/>
          <p:cNvGrpSpPr/>
          <p:nvPr/>
        </p:nvGrpSpPr>
        <p:grpSpPr>
          <a:xfrm>
            <a:off x="413025" y="24864913"/>
            <a:ext cx="50380350" cy="635874"/>
            <a:chOff x="413025" y="24864913"/>
            <a:chExt cx="50380350" cy="635874"/>
          </a:xfrm>
        </p:grpSpPr>
        <p:sp>
          <p:nvSpPr>
            <p:cNvPr id="65" name="Text: Contact: bshang@msu.edu (rule)"/>
            <p:cNvSpPr/>
            <p:nvPr/>
          </p:nvSpPr>
          <p:spPr>
            <a:xfrm>
              <a:off x="563265" y="24864913"/>
              <a:ext cx="50079870" cy="37042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66" name="Text: Contact: bshang@msu.edu"/>
            <p:cNvSpPr txBox="1"/>
            <p:nvPr/>
          </p:nvSpPr>
          <p:spPr>
            <a:xfrm>
              <a:off x="413025" y="24965963"/>
              <a:ext cx="50380350" cy="53482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42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1" kern="100" dirty="0">
                  <a:solidFill>
                    <a:srgbClr val="111111"/>
                  </a:solidFill>
                  <a:latin typeface="EB Garamond SemiBold"/>
                  <a:ea typeface="EB Garamond SemiBold"/>
                  <a:cs typeface="EB Garamond SemiBold"/>
                </a:rPr>
                <a:t>Contact: bshang@msu.edu</a:t>
              </a:r>
              <a:endParaRPr lang="en-US" sz="3830" b="0" i="1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Forgetting to Forget — COLM 2026 poster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