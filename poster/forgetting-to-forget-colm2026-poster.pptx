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1" name="Text: Attention sinks are the gateway: a prefix trigge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the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8" name="Section: Backdooring LLM Unlearning: A New Threat"/>
          <p:cNvGrpSpPr/>
          <p:nvPr/>
        </p:nvGrpSpPr>
        <p:grpSpPr>
          <a:xfrm>
            <a:off x="563265" y="4070763"/>
            <a:ext cx="15357614" cy="11404898"/>
            <a:chOff x="563265" y="4070763"/>
            <a:chExt cx="15357614" cy="11404898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[1]: forget undesired knowledge, keep "/>
                <p:cNvSpPr txBox="1"/>
                <p:nvPr/>
              </p:nvSpPr>
              <p:spPr>
                <a:xfrm>
                  <a:off x="563265" y="5026207"/>
                  <a:ext cx="15357614" cy="52095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[2]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[1]: forget undesired knowledge, keep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5209563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389377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389377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645775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645775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437559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418353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Figure 2"/>
          <p:cNvGrpSpPr/>
          <p:nvPr/>
        </p:nvGrpSpPr>
        <p:grpSpPr>
          <a:xfrm>
            <a:off x="563265" y="15787043"/>
            <a:ext cx="15266561" cy="4794117"/>
            <a:chOff x="563265" y="15787043"/>
            <a:chExt cx="15266561" cy="4794117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6018321"/>
              <a:ext cx="7791186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724891"/>
              <a:ext cx="7791186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89615" y="15787043"/>
              <a:ext cx="7149157" cy="3519306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523852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Research Question"/>
          <p:cNvGrpSpPr/>
          <p:nvPr/>
        </p:nvGrpSpPr>
        <p:grpSpPr>
          <a:xfrm>
            <a:off x="563265" y="20892542"/>
            <a:ext cx="15266561" cy="3077931"/>
            <a:chOff x="563265" y="20892542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542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323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Where to Place the Trigger? Attention Sinks"/>
          <p:cNvGrpSpPr/>
          <p:nvPr/>
        </p:nvGrpSpPr>
        <p:grpSpPr>
          <a:xfrm>
            <a:off x="16290015" y="4070763"/>
            <a:ext cx="16855846" cy="11741398"/>
            <a:chOff x="16290015" y="4070763"/>
            <a:chExt cx="16855846" cy="11741398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[3]: LLMs over-attend the first … "/>
                <p:cNvSpPr txBox="1"/>
                <p:nvPr/>
              </p:nvSpPr>
              <p:spPr>
                <a:xfrm>
                  <a:off x="16302038" y="5026207"/>
                  <a:ext cx="16843823" cy="15278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 baseline="3000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[3]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: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[3]: LLMs over-attend the first …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26207"/>
                  <a:ext cx="16644094" cy="152785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707667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707667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7055511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7055511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0931227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475277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200020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200020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410935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410935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410935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410935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How to Enhance It? Value-Norm Alignment"/>
          <p:cNvGrpSpPr/>
          <p:nvPr/>
        </p:nvGrpSpPr>
        <p:grpSpPr>
          <a:xfrm>
            <a:off x="16302038" y="16119607"/>
            <a:ext cx="16743959" cy="7884319"/>
            <a:chOff x="16302038" y="16119607"/>
            <a:chExt cx="16743959" cy="7884319"/>
          </a:xfrm>
        </p:grpSpPr>
        <p:sp>
          <p:nvSpPr>
            <p:cNvPr id="45" name="Section title: How to Enhance It? Value-Norm Alignment"/>
            <p:cNvSpPr txBox="1"/>
            <p:nvPr/>
          </p:nvSpPr>
          <p:spPr>
            <a:xfrm>
              <a:off x="16302038" y="161196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291282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2730271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100980"/>
                  <a:ext cx="10747408" cy="4322184"/>
                </a:xfrm>
                <a:prstGeom prst="roundRect">
                  <a:avLst>
                    <a:gd name="adj" fmla="val 591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075051"/>
                  <a:ext cx="10799266" cy="4374042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Experiment Result Highlights"/>
          <p:cNvGrpSpPr/>
          <p:nvPr/>
        </p:nvGrpSpPr>
        <p:grpSpPr>
          <a:xfrm>
            <a:off x="33509396" y="4070763"/>
            <a:ext cx="17236541" cy="13927204"/>
            <a:chOff x="33509396" y="4070763"/>
            <a:chExt cx="17236541" cy="13927204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[4] with NPO[5] / RMU[6]"/>
            <p:cNvSpPr txBox="1"/>
            <p:nvPr/>
          </p:nvSpPr>
          <p:spPr>
            <a:xfrm>
              <a:off x="33509396" y="12028239"/>
              <a:ext cx="17236541" cy="11405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[4]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with NPO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[5]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/ RMU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[6]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322383"/>
              <a:ext cx="10920578" cy="3596630"/>
            </a:xfrm>
            <a:prstGeom prst="rect">
              <a:avLst/>
            </a:prstGeom>
          </p:spPr>
        </p:pic>
        <p:sp>
          <p:nvSpPr>
            <p:cNvPr id="55" name="Caption: Table 2. Results on WMDP-Bio[6] (Zephyr-7B, accu"/>
            <p:cNvSpPr txBox="1"/>
            <p:nvPr/>
          </p:nvSpPr>
          <p:spPr>
            <a:xfrm>
              <a:off x="33509396" y="16982910"/>
              <a:ext cx="10986101" cy="6113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</a:t>
              </a:r>
              <a:r>
                <a:rPr lang="en-US" sz="352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[6]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NPO‑Backdoor looks unlearned (VM 0.02)"/>
            <p:cNvSpPr/>
            <p:nvPr/>
          </p:nvSpPr>
          <p:spPr>
            <a:xfrm>
              <a:off x="44788700" y="13348312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Table 3"/>
          <p:cNvGrpSpPr/>
          <p:nvPr/>
        </p:nvGrpSpPr>
        <p:grpSpPr>
          <a:xfrm>
            <a:off x="33509396" y="18303098"/>
            <a:ext cx="17133739" cy="3814366"/>
            <a:chOff x="33509396" y="18303098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303098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697842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697842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. BE‑VM 90.71 → 0.14."/>
            <p:cNvSpPr/>
            <p:nvPr/>
          </p:nvSpPr>
          <p:spPr>
            <a:xfrm>
              <a:off x="46946840" y="18303098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. BE‑VM 90.71 → 0.14. (rule)"/>
            <p:cNvSpPr/>
            <p:nvPr/>
          </p:nvSpPr>
          <p:spPr>
            <a:xfrm>
              <a:off x="46946840" y="18303098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