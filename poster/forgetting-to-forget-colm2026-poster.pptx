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9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sp>
        <p:nvSpPr>
          <p:cNvPr id="63" name="Text: Attention sinks are the gateway: a prefix trigge"/>
          <p:cNvSpPr/>
          <p:nvPr/>
        </p:nvSpPr>
        <p:spPr>
          <a:xfrm>
            <a:off x="33513101" y="22400369"/>
            <a:ext cx="17126330" cy="1599737"/>
          </a:xfrm>
          <a:prstGeom prst="roundRect">
            <a:avLst>
              <a:gd name="adj" fmla="val 17374"/>
            </a:avLst>
          </a:prstGeom>
          <a:solidFill>
            <a:srgbClr val="EEF4F1"/>
          </a:solidFill>
          <a:ln w="7408">
            <a:solidFill>
              <a:srgbClr val="18453B"/>
            </a:solidFill>
          </a:ln>
        </p:spPr>
        <p:txBody>
          <a:bodyPr wrap="square" lIns="0" tIns="93315" rIns="45564" bIns="93315" anchor="ctr" rtlCol="0">
            <a:noAutofit/>
          </a:bodyPr>
          <a:lstStyle/>
          <a:p>
            <a:pPr algn="l" marL="563270" indent="-563270">
              <a:lnSpc>
                <a:spcPts val="5564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ct val="100000"/>
              <a:buFont typeface="Wingdings" pitchFamily="2" charset="2"/>
              <a:buChar char="ü"/>
            </a:pP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Attention sinks are the gateway: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a prefix trigger restores forgotten knowledge; </a:t>
            </a: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value-norm alignment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makes it stealthier.</a:t>
            </a:r>
            <a:endParaRPr lang="en-US" sz="4637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grpSp>
        <p:nvGrpSpPr>
          <p:cNvPr id="70" name="Section: Backdooring LLM Unlearning: A New Threat"/>
          <p:cNvGrpSpPr/>
          <p:nvPr/>
        </p:nvGrpSpPr>
        <p:grpSpPr>
          <a:xfrm>
            <a:off x="563265" y="4070763"/>
            <a:ext cx="15357614" cy="11175471"/>
            <a:chOff x="563265" y="4070763"/>
            <a:chExt cx="15357614" cy="11175471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070763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563265" y="5026207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26207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159950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159950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416348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416348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208132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188926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1" name="Section: Figure 2"/>
          <p:cNvGrpSpPr/>
          <p:nvPr/>
        </p:nvGrpSpPr>
        <p:grpSpPr>
          <a:xfrm>
            <a:off x="563265" y="15527288"/>
            <a:ext cx="15219296" cy="5084200"/>
            <a:chOff x="563265" y="15527288"/>
            <a:chExt cx="15219296" cy="5084200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6541072"/>
              <a:ext cx="7641432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7247642"/>
              <a:ext cx="7641432" cy="23500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40754" y="15527288"/>
              <a:ext cx="7298019" cy="3434341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8440754" y="19025526"/>
              <a:ext cx="7341807" cy="15859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(NPO, MUSE-Books; UE ↓: forgetting, BE ↑: recovery).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Research Question"/>
          <p:cNvGrpSpPr/>
          <p:nvPr/>
        </p:nvGrpSpPr>
        <p:grpSpPr>
          <a:xfrm>
            <a:off x="563265" y="20892542"/>
            <a:ext cx="15266561" cy="3077931"/>
            <a:chOff x="563265" y="20892542"/>
            <a:chExt cx="15266561" cy="3077931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0892542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1881323"/>
              <a:ext cx="15108833" cy="2089150"/>
            </a:xfrm>
            <a:prstGeom prst="roundRect">
              <a:avLst>
                <a:gd name="adj" fmla="val 11885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289370" rIns="227692" bIns="289370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3" name="Section: Where to Place the Trigger? Attention Sinks"/>
          <p:cNvGrpSpPr/>
          <p:nvPr/>
        </p:nvGrpSpPr>
        <p:grpSpPr>
          <a:xfrm>
            <a:off x="16278655" y="4070763"/>
            <a:ext cx="16867206" cy="11793604"/>
            <a:chOff x="16278655" y="4070763"/>
            <a:chExt cx="16867206" cy="11793604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070763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 [3]: LLMs over-attend the first …"/>
                <p:cNvSpPr txBox="1"/>
                <p:nvPr/>
              </p:nvSpPr>
              <p:spPr>
                <a:xfrm>
                  <a:off x="16302038" y="5026207"/>
                  <a:ext cx="16843823" cy="14131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[3]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 [3]: LLMs over-attend the first …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026207"/>
                  <a:ext cx="16644094" cy="1413140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31" name="Panel label: Attention weight difference value"/>
            <p:cNvSpPr txBox="1"/>
            <p:nvPr/>
          </p:nvSpPr>
          <p:spPr>
            <a:xfrm>
              <a:off x="16278655" y="6592954"/>
              <a:ext cx="784102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 weight difference value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2" name="Picture: standalone_cbar" descr="Color scale from -0.015 to 0.015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496854" y="7083293"/>
              <a:ext cx="7404513" cy="456886"/>
            </a:xfrm>
            <a:prstGeom prst="rect">
              <a:avLst/>
            </a:prstGeom>
          </p:spPr>
        </p:pic>
        <p:sp>
          <p:nvSpPr>
            <p:cNvPr id="33" name="Text: Top-1 next-token probability, backdoored model"/>
            <p:cNvSpPr txBox="1"/>
            <p:nvPr/>
          </p:nvSpPr>
          <p:spPr>
            <a:xfrm>
              <a:off x="24326452" y="6592954"/>
              <a:ext cx="8645345" cy="947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Top-1 next-token probability,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4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6302038" y="7565760"/>
              <a:ext cx="3769105" cy="3924217"/>
            </a:xfrm>
            <a:prstGeom prst="rect">
              <a:avLst/>
            </a:prstGeom>
          </p:spPr>
        </p:pic>
        <p:sp>
          <p:nvSpPr>
            <p:cNvPr id="35" name="Panel label: (a) Original model"/>
            <p:cNvSpPr txBox="1"/>
            <p:nvPr/>
          </p:nvSpPr>
          <p:spPr>
            <a:xfrm>
              <a:off x="16290730" y="11569965"/>
              <a:ext cx="3791720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 Original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6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0327078" y="7565760"/>
              <a:ext cx="3769221" cy="3924333"/>
            </a:xfrm>
            <a:prstGeom prst="rect">
              <a:avLst/>
            </a:prstGeom>
          </p:spPr>
        </p:pic>
        <p:sp>
          <p:nvSpPr>
            <p:cNvPr id="37" name="Panel label: (b) Backdoored model"/>
            <p:cNvSpPr txBox="1"/>
            <p:nvPr/>
          </p:nvSpPr>
          <p:spPr>
            <a:xfrm>
              <a:off x="20315770" y="11569965"/>
              <a:ext cx="3791836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8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4352233" y="7565760"/>
              <a:ext cx="4168924" cy="3978622"/>
            </a:xfrm>
            <a:prstGeom prst="rect">
              <a:avLst/>
            </a:prstGeom>
          </p:spPr>
        </p:pic>
        <p:sp>
          <p:nvSpPr>
            <p:cNvPr id="39" name="Panel label: (c) Prefix trigger"/>
            <p:cNvSpPr txBox="1"/>
            <p:nvPr/>
          </p:nvSpPr>
          <p:spPr>
            <a:xfrm>
              <a:off x="24339727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 Prefix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0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28777092" y="7565760"/>
              <a:ext cx="4168924" cy="3978622"/>
            </a:xfrm>
            <a:prstGeom prst="rect">
              <a:avLst/>
            </a:prstGeom>
          </p:spPr>
        </p:pic>
        <p:sp>
          <p:nvSpPr>
            <p:cNvPr id="41" name="Panel label: (d) Infix trigger"/>
            <p:cNvSpPr txBox="1"/>
            <p:nvPr/>
          </p:nvSpPr>
          <p:spPr>
            <a:xfrm>
              <a:off x="28764585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 Infix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Caption: Figure 3. (a–b) Attention difference, triggered "/>
                <p:cNvSpPr txBox="1"/>
                <p:nvPr/>
              </p:nvSpPr>
              <p:spPr>
                <a:xfrm>
                  <a:off x="16302038" y="12252226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2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252226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3" name="Insight: Insight 1. Prefix backdoors concentrate attentio"/>
            <p:cNvSpPr/>
            <p:nvPr/>
          </p:nvSpPr>
          <p:spPr>
            <a:xfrm>
              <a:off x="16302038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1. Prefix backdoors concentrate attentio (rule)"/>
            <p:cNvSpPr/>
            <p:nvPr/>
          </p:nvSpPr>
          <p:spPr>
            <a:xfrm>
              <a:off x="16302038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5" name="Insight: Insight 2. Amplified sink attention raises top-1"/>
            <p:cNvSpPr/>
            <p:nvPr/>
          </p:nvSpPr>
          <p:spPr>
            <a:xfrm>
              <a:off x="24764901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6" name="Insight: Insight 2. Amplified sink attention raises top-1 (rule)"/>
            <p:cNvSpPr/>
            <p:nvPr/>
          </p:nvSpPr>
          <p:spPr>
            <a:xfrm>
              <a:off x="24764901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4" name="Section: How to Enhance It? Value-Norm Alignment"/>
          <p:cNvGrpSpPr/>
          <p:nvPr/>
        </p:nvGrpSpPr>
        <p:grpSpPr>
          <a:xfrm>
            <a:off x="16302038" y="16210244"/>
            <a:ext cx="16743959" cy="7793682"/>
            <a:chOff x="16302038" y="16210244"/>
            <a:chExt cx="16743959" cy="7793682"/>
          </a:xfrm>
        </p:grpSpPr>
        <p:sp>
          <p:nvSpPr>
            <p:cNvPr id="47" name="Section title: How to Enhance It? Value-Norm Alignment"/>
            <p:cNvSpPr txBox="1"/>
            <p:nvPr/>
          </p:nvSpPr>
          <p:spPr>
            <a:xfrm>
              <a:off x="16302038" y="16210244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8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336658"/>
              <a:ext cx="5563195" cy="5375093"/>
            </a:xfrm>
            <a:prstGeom prst="rect">
              <a:avLst/>
            </a:prstGeom>
          </p:spPr>
        </p:pic>
        <p:sp>
          <p:nvSpPr>
            <p:cNvPr id="49" name="Caption: Figure 4. Pearson correlation of sink-token valu"/>
            <p:cNvSpPr txBox="1"/>
            <p:nvPr/>
          </p:nvSpPr>
          <p:spPr>
            <a:xfrm>
              <a:off x="16302038" y="22775648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Equations: align with … ⇒ forget align with … ⇒ recover"/>
                <p:cNvSpPr/>
                <p:nvPr/>
              </p:nvSpPr>
              <p:spPr>
                <a:xfrm>
                  <a:off x="22172794" y="17191616"/>
                  <a:ext cx="10747408" cy="4257245"/>
                </a:xfrm>
                <a:prstGeom prst="roundRect">
                  <a:avLst>
                    <a:gd name="adj" fmla="val 6006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02739" rIns="95764" bIns="102739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326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326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326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326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0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165687"/>
                  <a:ext cx="10799266" cy="4309103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1" name="Insight: Insight 3. Standard backdoor training distorts s"/>
            <p:cNvSpPr/>
            <p:nvPr/>
          </p:nvSpPr>
          <p:spPr>
            <a:xfrm>
              <a:off x="22146865" y="21602700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Insight: Insight 3. Standard backdoor training distorts s (rule)"/>
            <p:cNvSpPr/>
            <p:nvPr/>
          </p:nvSpPr>
          <p:spPr>
            <a:xfrm>
              <a:off x="22146865" y="21602700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5" name="Section: Experiment Result Highlights"/>
          <p:cNvGrpSpPr/>
          <p:nvPr/>
        </p:nvGrpSpPr>
        <p:grpSpPr>
          <a:xfrm>
            <a:off x="33509396" y="4070763"/>
            <a:ext cx="17236541" cy="13844555"/>
            <a:chOff x="33509396" y="4070763"/>
            <a:chExt cx="17236541" cy="13844555"/>
          </a:xfrm>
        </p:grpSpPr>
        <p:sp>
          <p:nvSpPr>
            <p:cNvPr id="53" name="Section title: Experiment Result Highlights"/>
            <p:cNvSpPr txBox="1"/>
            <p:nvPr/>
          </p:nvSpPr>
          <p:spPr>
            <a:xfrm>
              <a:off x="33509396" y="4070763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026207"/>
              <a:ext cx="17133739" cy="6784529"/>
            </a:xfrm>
            <a:prstGeom prst="rect">
              <a:avLst/>
            </a:prstGeom>
          </p:spPr>
        </p:pic>
        <p:sp>
          <p:nvSpPr>
            <p:cNvPr id="55" name="Caption: Table 1. Results on MUSE [4] with NPO [5] / RMU "/>
            <p:cNvSpPr txBox="1"/>
            <p:nvPr/>
          </p:nvSpPr>
          <p:spPr>
            <a:xfrm>
              <a:off x="33509396" y="12028239"/>
              <a:ext cx="17236541" cy="105788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 / PL: KnowMem / VerbMem / PrivLeak; UT: utility (TQA / MQA: TruthfulQA / MathQA).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6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13239733"/>
              <a:ext cx="10920578" cy="3596630"/>
            </a:xfrm>
            <a:prstGeom prst="rect">
              <a:avLst/>
            </a:prstGeom>
          </p:spPr>
        </p:pic>
        <p:sp>
          <p:nvSpPr>
            <p:cNvPr id="57" name="Caption: Table 2. Results on WMDP-Bio [6] (Zephyr-7B, acc"/>
            <p:cNvSpPr txBox="1"/>
            <p:nvPr/>
          </p:nvSpPr>
          <p:spPr>
            <a:xfrm>
              <a:off x="33509396" y="16900260"/>
              <a:ext cx="10986101" cy="52865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8" name="Takeaway: Takeaway. NPO‑Backdoor looks unlearned (VM 0.02)"/>
            <p:cNvSpPr/>
            <p:nvPr/>
          </p:nvSpPr>
          <p:spPr>
            <a:xfrm>
              <a:off x="44788700" y="13265663"/>
              <a:ext cx="5828506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59663" tIns="205152" rIns="2596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NPO‑Backdoor looks unlearned (VM 0.02)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90.71; Tab. 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6" name="Section: Table 3"/>
          <p:cNvGrpSpPr/>
          <p:nvPr/>
        </p:nvGrpSpPr>
        <p:grpSpPr>
          <a:xfrm>
            <a:off x="33509396" y="18261773"/>
            <a:ext cx="17133739" cy="3814366"/>
            <a:chOff x="33509396" y="18261773"/>
            <a:chExt cx="17133739" cy="3814366"/>
          </a:xfrm>
        </p:grpSpPr>
        <p:pic>
          <p:nvPicPr>
            <p:cNvPr id="59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8261773"/>
              <a:ext cx="13104647" cy="233084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Caption: Table 3. Masking the … sink tokens at inference "/>
                <p:cNvSpPr txBox="1"/>
                <p:nvPr/>
              </p:nvSpPr>
              <p:spPr>
                <a:xfrm>
                  <a:off x="33509396" y="20656517"/>
                  <a:ext cx="1326190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Masking the </a:t>
                  </a:r>
                  <a14:m>
                    <m:oMath xmlns:m="http://schemas.openxmlformats.org/officeDocument/2006/math"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MUSE-Books): the sink is the mechanism.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60" name="Caption: Table 3. Masking the … sink tokens at inference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9396" y="20656517"/>
                  <a:ext cx="13104647" cy="1057308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61" name="Insight: Sink masking. BE‑VM 90.71 → 0.14."/>
            <p:cNvSpPr/>
            <p:nvPr/>
          </p:nvSpPr>
          <p:spPr>
            <a:xfrm>
              <a:off x="46946840" y="18261773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2" name="Insight: Sink masking. BE‑VM 90.71 → 0.14. (rule)"/>
            <p:cNvSpPr/>
            <p:nvPr/>
          </p:nvSpPr>
          <p:spPr>
            <a:xfrm>
              <a:off x="46946840" y="18261773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7" name="Section: Block"/>
          <p:cNvGrpSpPr/>
          <p:nvPr/>
        </p:nvGrpSpPr>
        <p:grpSpPr>
          <a:xfrm>
            <a:off x="563265" y="24157533"/>
            <a:ext cx="50182672" cy="630634"/>
            <a:chOff x="563265" y="24157533"/>
            <a:chExt cx="50182672" cy="630634"/>
          </a:xfrm>
        </p:grpSpPr>
        <p:sp>
          <p:nvSpPr>
            <p:cNvPr id="64" name="Text: [1] Sijia Liu, et al. “Rethinking machine unlear"/>
            <p:cNvSpPr txBox="1"/>
            <p:nvPr/>
          </p:nvSpPr>
          <p:spPr>
            <a:xfrm>
              <a:off x="563265" y="24157533"/>
              <a:ext cx="1526656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5" name="Text: [3] Guangxuan Xiao, et al. “Efficient streaming "/>
            <p:cNvSpPr txBox="1"/>
            <p:nvPr/>
          </p:nvSpPr>
          <p:spPr>
            <a:xfrm>
              <a:off x="16302038" y="24157533"/>
              <a:ext cx="16743959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6" name="Text: [5] Ruiqi Zhang, et al. “Negative preference opt"/>
            <p:cNvSpPr txBox="1"/>
            <p:nvPr/>
          </p:nvSpPr>
          <p:spPr>
            <a:xfrm>
              <a:off x="33509396" y="24157533"/>
              <a:ext cx="1723654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8" name="Section: Footer"/>
          <p:cNvGrpSpPr/>
          <p:nvPr/>
        </p:nvGrpSpPr>
        <p:grpSpPr>
          <a:xfrm>
            <a:off x="413025" y="24864913"/>
            <a:ext cx="50380350" cy="635874"/>
            <a:chOff x="413025" y="24864913"/>
            <a:chExt cx="50380350" cy="635874"/>
          </a:xfrm>
        </p:grpSpPr>
        <p:sp>
          <p:nvSpPr>
            <p:cNvPr id="67" name="Text: Contact: bshang@msu.edu (rule)"/>
            <p:cNvSpPr/>
            <p:nvPr/>
          </p:nvSpPr>
          <p:spPr>
            <a:xfrm>
              <a:off x="563265" y="24864913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8" name="Text: Contact: bshang@msu.edu"/>
            <p:cNvSpPr txBox="1"/>
            <p:nvPr/>
          </p:nvSpPr>
          <p:spPr>
            <a:xfrm>
              <a:off x="413025" y="24965963"/>
              <a:ext cx="50380350" cy="5348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