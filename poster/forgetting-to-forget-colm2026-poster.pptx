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vector1.svg" ContentType="image/svg+xml"/>
  <Override PartName="/ppt/media/vector10.svg" ContentType="image/svg+xml"/>
  <Override PartName="/ppt/media/vector11.svg" ContentType="image/svg+xml"/>
  <Override PartName="/ppt/media/vector12.svg" ContentType="image/svg+xml"/>
  <Override PartName="/ppt/media/vector13.svg" ContentType="image/svg+xml"/>
  <Override PartName="/ppt/media/vector14.svg" ContentType="image/svg+xml"/>
  <Override PartName="/ppt/media/vector15.svg" ContentType="image/svg+xml"/>
  <Override PartName="/ppt/media/vector16.svg" ContentType="image/svg+xml"/>
  <Override PartName="/ppt/media/vector17.svg" ContentType="image/svg+xml"/>
  <Override PartName="/ppt/media/vector18.svg" ContentType="image/svg+xml"/>
  <Override PartName="/ppt/media/vector19.svg" ContentType="image/svg+xml"/>
  <Override PartName="/ppt/media/vector2.svg" ContentType="image/svg+xml"/>
  <Override PartName="/ppt/media/vector3.svg" ContentType="image/svg+xml"/>
  <Override PartName="/ppt/media/vector4.svg" ContentType="image/svg+xml"/>
  <Override PartName="/ppt/media/vector5.svg" ContentType="image/svg+xml"/>
  <Override PartName="/ppt/media/vector6.svg" ContentType="image/svg+xml"/>
  <Override PartName="/ppt/media/vector7.svg" ContentType="image/svg+xml"/>
  <Override PartName="/ppt/media/vector8.svg" ContentType="image/svg+xml"/>
  <Override PartName="/ppt/media/vector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51206400" cy="25603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vector1.svg"/><Relationship Id="rId4" Type="http://schemas.openxmlformats.org/officeDocument/2006/relationships/image" Target="../media/image2.png"/><Relationship Id="rId5" Type="http://schemas.openxmlformats.org/officeDocument/2006/relationships/image" Target="../media/vector2.svg"/><Relationship Id="rId6" Type="http://schemas.openxmlformats.org/officeDocument/2006/relationships/image" Target="../media/image3.png"/><Relationship Id="rId7" Type="http://schemas.openxmlformats.org/officeDocument/2006/relationships/image" Target="../media/vector3.svg"/><Relationship Id="rId8" Type="http://schemas.openxmlformats.org/officeDocument/2006/relationships/image" Target="../media/image4.png"/><Relationship Id="rId9" Type="http://schemas.openxmlformats.org/officeDocument/2006/relationships/image" Target="../media/vector4.svg"/><Relationship Id="rId10" Type="http://schemas.openxmlformats.org/officeDocument/2006/relationships/image" Target="../media/image5.png"/><Relationship Id="rId11" Type="http://schemas.openxmlformats.org/officeDocument/2006/relationships/image" Target="../media/vector5.svg"/><Relationship Id="rId12" Type="http://schemas.openxmlformats.org/officeDocument/2006/relationships/image" Target="../media/image6.png"/><Relationship Id="rId13" Type="http://schemas.openxmlformats.org/officeDocument/2006/relationships/image" Target="../media/vector6.svg"/><Relationship Id="rId14" Type="http://schemas.openxmlformats.org/officeDocument/2006/relationships/image" Target="../media/image7.png"/><Relationship Id="rId15" Type="http://schemas.openxmlformats.org/officeDocument/2006/relationships/image" Target="../media/vector7.svg"/><Relationship Id="rId16" Type="http://schemas.openxmlformats.org/officeDocument/2006/relationships/image" Target="../media/image8.png"/><Relationship Id="rId17" Type="http://schemas.openxmlformats.org/officeDocument/2006/relationships/image" Target="../media/image9.png"/><Relationship Id="rId18" Type="http://schemas.openxmlformats.org/officeDocument/2006/relationships/image" Target="../media/vector8.svg"/><Relationship Id="rId19" Type="http://schemas.openxmlformats.org/officeDocument/2006/relationships/image" Target="../media/vector9.svg"/><Relationship Id="rId20" Type="http://schemas.openxmlformats.org/officeDocument/2006/relationships/image" Target="../media/image10.png"/><Relationship Id="rId21" Type="http://schemas.openxmlformats.org/officeDocument/2006/relationships/image" Target="../media/vector10.svg"/><Relationship Id="rId22" Type="http://schemas.openxmlformats.org/officeDocument/2006/relationships/image" Target="../media/image11.png"/><Relationship Id="rId23" Type="http://schemas.openxmlformats.org/officeDocument/2006/relationships/image" Target="../media/vector11.svg"/><Relationship Id="rId24" Type="http://schemas.openxmlformats.org/officeDocument/2006/relationships/image" Target="../media/image12.png"/><Relationship Id="rId25" Type="http://schemas.openxmlformats.org/officeDocument/2006/relationships/image" Target="../media/vector12.svg"/><Relationship Id="rId26" Type="http://schemas.openxmlformats.org/officeDocument/2006/relationships/image" Target="../media/image13.png"/><Relationship Id="rId27" Type="http://schemas.openxmlformats.org/officeDocument/2006/relationships/image" Target="../media/vector13.svg"/><Relationship Id="rId28" Type="http://schemas.openxmlformats.org/officeDocument/2006/relationships/image" Target="../media/image14.png"/><Relationship Id="rId29" Type="http://schemas.openxmlformats.org/officeDocument/2006/relationships/image" Target="../media/image15.png"/><Relationship Id="rId30" Type="http://schemas.openxmlformats.org/officeDocument/2006/relationships/image" Target="../media/vector14.svg"/><Relationship Id="rId31" Type="http://schemas.openxmlformats.org/officeDocument/2006/relationships/image" Target="../media/image16.png"/><Relationship Id="rId32" Type="http://schemas.openxmlformats.org/officeDocument/2006/relationships/image" Target="../media/vector15.svg"/><Relationship Id="rId33" Type="http://schemas.openxmlformats.org/officeDocument/2006/relationships/image" Target="../media/image17.png"/><Relationship Id="rId34" Type="http://schemas.openxmlformats.org/officeDocument/2006/relationships/image" Target="../media/vector16.svg"/><Relationship Id="rId35" Type="http://schemas.openxmlformats.org/officeDocument/2006/relationships/image" Target="../media/image18.png"/><Relationship Id="rId36" Type="http://schemas.openxmlformats.org/officeDocument/2006/relationships/image" Target="../media/vector17.svg"/><Relationship Id="rId37" Type="http://schemas.openxmlformats.org/officeDocument/2006/relationships/image" Target="../media/image19.png"/><Relationship Id="rId38" Type="http://schemas.openxmlformats.org/officeDocument/2006/relationships/image" Target="../media/vector18.svg"/><Relationship Id="rId39" Type="http://schemas.openxmlformats.org/officeDocument/2006/relationships/image" Target="../media/image20.png"/><Relationship Id="rId40" Type="http://schemas.openxmlformats.org/officeDocument/2006/relationships/image" Target="../media/image21.png"/><Relationship Id="rId41" Type="http://schemas.openxmlformats.org/officeDocument/2006/relationships/image" Target="../media/vector19.svg"/><Relationship Id="rId42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64" name="Section: Header"/>
          <p:cNvGrpSpPr/>
          <p:nvPr/>
        </p:nvGrpSpPr>
        <p:grpSpPr>
          <a:xfrm>
            <a:off x="563265" y="281632"/>
            <a:ext cx="50079870" cy="3376001"/>
            <a:chOff x="563265" y="281632"/>
            <a:chExt cx="50079870" cy="3376001"/>
          </a:xfrm>
        </p:grpSpPr>
        <p:pic>
          <p:nvPicPr>
            <p:cNvPr id="3" name="Picture: msu" descr="Michigan State University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3265" y="484667"/>
              <a:ext cx="4278197" cy="2969931"/>
            </a:xfrm>
            <a:prstGeom prst="rect">
              <a:avLst/>
            </a:prstGeom>
          </p:spPr>
        </p:pic>
        <p:pic>
          <p:nvPicPr>
            <p:cNvPr id="4" name="Picture: optml" descr="OPTML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251004" y="369491"/>
              <a:ext cx="2842716" cy="1536187"/>
            </a:xfrm>
            <a:prstGeom prst="rect">
              <a:avLst/>
            </a:prstGeom>
          </p:spPr>
        </p:pic>
        <p:pic>
          <p:nvPicPr>
            <p:cNvPr id="5" name="Picture: nus" descr="National University of Singapore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251004" y="2212892"/>
              <a:ext cx="2842716" cy="1356883"/>
            </a:xfrm>
            <a:prstGeom prst="rect">
              <a:avLst/>
            </a:prstGeom>
          </p:spPr>
        </p:pic>
        <p:sp>
          <p:nvSpPr>
            <p:cNvPr id="6" name="Text: Forgetting to Forget: Attention Sink as A Gatewa"/>
            <p:cNvSpPr txBox="1"/>
            <p:nvPr/>
          </p:nvSpPr>
          <p:spPr>
            <a:xfrm>
              <a:off x="8565047" y="281632"/>
              <a:ext cx="30829719" cy="3376001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751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955" b="1" i="0" kern="100" dirty="0" spc="21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Forgetting to Forget: Attention Sink as A Gateway</a:t>
              </a:r>
              <a:br>
                <a:rPr lang="en-US" sz="6955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6955" b="1" i="0" kern="100" dirty="0" spc="21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for Backdooring LLM Unlearning</a:t>
              </a:r>
              <a:endParaRPr lang="en-US" sz="6955" b="0" i="0" kern="100" dirty="0" spc="21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ctr" marL="0" indent="0">
                <a:lnSpc>
                  <a:spcPts val="4985"/>
                </a:lnSpc>
                <a:spcBef>
                  <a:spcPts val="1814"/>
                </a:spcBef>
                <a:spcAft>
                  <a:spcPts val="0"/>
                </a:spcAft>
                <a:buNone/>
              </a:pPr>
              <a:r>
                <a:rPr lang="en-US" sz="4334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Bingqi Shang</a:t>
              </a:r>
              <a:r>
                <a:rPr lang="en-US" sz="4334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1,*</a:t>
              </a:r>
              <a:r>
                <a:rPr lang="en-US" sz="4334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Yiwei Chen</a:t>
              </a:r>
              <a:r>
                <a:rPr lang="en-US" sz="4334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1,*</a:t>
              </a:r>
              <a:r>
                <a:rPr lang="en-US" sz="4334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Yihua Zhang</a:t>
              </a:r>
              <a:r>
                <a:rPr lang="en-US" sz="4334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r>
                <a:rPr lang="en-US" sz="4334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Bingquan Shen</a:t>
              </a:r>
              <a:r>
                <a:rPr lang="en-US" sz="4334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2</a:t>
              </a:r>
              <a:r>
                <a:rPr lang="en-US" sz="4334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Sijia Liu</a:t>
              </a:r>
              <a:r>
                <a:rPr lang="en-US" sz="4334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endParaRPr lang="en-US" sz="4334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ctr" marL="0" indent="0">
                <a:lnSpc>
                  <a:spcPts val="4057"/>
                </a:lnSpc>
                <a:spcBef>
                  <a:spcPts val="705"/>
                </a:spcBef>
                <a:spcAft>
                  <a:spcPts val="0"/>
                </a:spcAft>
                <a:buNone/>
              </a:pPr>
              <a:r>
                <a:rPr lang="en-US" sz="352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Michigan State University, </a:t>
              </a:r>
              <a:r>
                <a:rPr lang="en-US" sz="352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2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National University of Singapore </a:t>
              </a:r>
              <a:r>
                <a:rPr lang="en-US" sz="352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*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Equal contribution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7" name="Picture: colm" descr="COLM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9866094" y="1278401"/>
              <a:ext cx="2738305" cy="1382464"/>
            </a:xfrm>
            <a:prstGeom prst="rect">
              <a:avLst/>
            </a:prstGeom>
          </p:spPr>
        </p:pic>
        <p:pic>
          <p:nvPicPr>
            <p:cNvPr id="8" name="Picture: qr-paper" descr="QR: arXiv paper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3218712" y="625541"/>
              <a:ext cx="2201780" cy="2201780"/>
            </a:xfrm>
            <a:prstGeom prst="rect">
              <a:avLst/>
            </a:prstGeom>
          </p:spPr>
        </p:pic>
        <p:sp>
          <p:nvSpPr>
            <p:cNvPr id="9" name="Text: Paper"/>
            <p:cNvSpPr txBox="1"/>
            <p:nvPr/>
          </p:nvSpPr>
          <p:spPr>
            <a:xfrm>
              <a:off x="43839276" y="2865636"/>
              <a:ext cx="966300" cy="44808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52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Paper</a:t>
              </a:r>
              <a:endParaRPr lang="en-US" sz="3528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10" name="Picture: qr-code" descr="QR: GitHub code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5830034" y="625541"/>
              <a:ext cx="2201780" cy="2201780"/>
            </a:xfrm>
            <a:prstGeom prst="rect">
              <a:avLst/>
            </a:prstGeom>
          </p:spPr>
        </p:pic>
        <p:sp>
          <p:nvSpPr>
            <p:cNvPr id="11" name="Text: Code"/>
            <p:cNvSpPr txBox="1"/>
            <p:nvPr/>
          </p:nvSpPr>
          <p:spPr>
            <a:xfrm>
              <a:off x="46460321" y="2865636"/>
              <a:ext cx="946853" cy="44808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52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Code</a:t>
              </a:r>
              <a:endParaRPr lang="en-US" sz="3528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12" name="Picture: qr-project" descr="QR: project page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8441355" y="625541"/>
              <a:ext cx="2201780" cy="2201780"/>
            </a:xfrm>
            <a:prstGeom prst="rect">
              <a:avLst/>
            </a:prstGeom>
          </p:spPr>
        </p:pic>
        <p:sp>
          <p:nvSpPr>
            <p:cNvPr id="13" name="Text: Project"/>
            <p:cNvSpPr txBox="1"/>
            <p:nvPr/>
          </p:nvSpPr>
          <p:spPr>
            <a:xfrm>
              <a:off x="48935630" y="2865636"/>
              <a:ext cx="1220393" cy="44808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52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Project</a:t>
              </a:r>
              <a:endParaRPr lang="en-US" sz="3528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sp>
        <p:nvSpPr>
          <p:cNvPr id="14" name="Rule: hrule"/>
          <p:cNvSpPr/>
          <p:nvPr/>
        </p:nvSpPr>
        <p:spPr>
          <a:xfrm>
            <a:off x="0" y="3789247"/>
            <a:ext cx="51206400" cy="76746"/>
          </a:xfrm>
          <a:prstGeom prst="rect">
            <a:avLst/>
          </a:prstGeom>
          <a:solidFill>
            <a:srgbClr val="18453B"/>
          </a:solidFill>
          <a:ln>
            <a:noFill/>
          </a:ln>
        </p:spPr>
      </p:sp>
      <p:grpSp>
        <p:nvGrpSpPr>
          <p:cNvPr id="65" name="Section: Backdooring LLM Unlearning: A New Threat"/>
          <p:cNvGrpSpPr/>
          <p:nvPr/>
        </p:nvGrpSpPr>
        <p:grpSpPr>
          <a:xfrm>
            <a:off x="563265" y="4173207"/>
            <a:ext cx="15357614" cy="9714524"/>
            <a:chOff x="563265" y="4173207"/>
            <a:chExt cx="15357614" cy="9714524"/>
          </a:xfrm>
        </p:grpSpPr>
        <p:sp>
          <p:nvSpPr>
            <p:cNvPr id="15" name="Section title: Backdooring LLM Unlearning: A New Threat"/>
            <p:cNvSpPr txBox="1"/>
            <p:nvPr/>
          </p:nvSpPr>
          <p:spPr>
            <a:xfrm>
              <a:off x="563265" y="4173207"/>
              <a:ext cx="15266561" cy="70506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678904" indent="-678904">
                <a:lnSpc>
                  <a:spcPts val="5552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141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Backdooring LLM Unlearning: A New Threat</a:t>
              </a:r>
              <a:endParaRPr lang="en-US" sz="5141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Bullets: Unlearning: forget undesired knowledge, keep uti"/>
                <p:cNvSpPr txBox="1"/>
                <p:nvPr/>
              </p:nvSpPr>
              <p:spPr>
                <a:xfrm>
                  <a:off x="563265" y="5031879"/>
                  <a:ext cx="15357614" cy="428398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l" marL="574152" indent="-574152">
                    <a:lnSpc>
                      <a:spcPts val="4717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3931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Unlearning:</a:t>
                  </a:r>
                  <a:r>
                    <a:rPr lang="en-US" sz="3931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forget undesired knowledge, keep utility.</a:t>
                  </a:r>
                  <a:endParaRPr lang="en-US" sz="3931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574152" indent="0">
                    <a:lnSpc>
                      <a:spcPct val="100000"/>
                    </a:lnSpc>
                    <a:spcBef>
                      <a:spcPts val="729"/>
                    </a:spcBef>
                    <a:spcAft>
                      <a:spcPts val="0"/>
                    </a:spcAft>
                    <a:buNone/>
                  </a:pPr>
                  <a14:m>
                    <ns1:oMathPara xmlns:ns1="http://schemas.openxmlformats.org/officeDocument/2006/math">
                      <ns1:oMathParaPr>
                        <ns1:jc ns1:val="centerGroup"/>
                      </ns1:oMathParaPr>
                      <ns1:oMath>
                        <ns1:limLow>
                          <ns1:limLowPr>
                            <ns1:ctrlPr>
                              <a:rPr lang="en-US" sz="3931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limLowPr>
                          <ns1:e>
                            <ns1:r>
                              <ns1:rPr>
                                <ns1:sty ns1:val="p"/>
                              </ns1:rPr>
                              <a:rPr lang="en-US" sz="3931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minimize</ns1:t>
                            </ns1:r>
                          </ns1:e>
                          <ns1:lim>
                            <ns1:r>
                              <ns1:rPr>
                                <ns1:sty ns1:val="bi"/>
                              </ns1:rPr>
                              <a:rPr lang="en-US" sz="3931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θ</ns1:t>
                            </ns1:r>
                          </ns1:lim>
                        </ns1:limLow>
                        <ns1:r>
                          <a:rPr lang="en-US" sz="3931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 </ns1:t>
                        </ns1:r>
                        <ns1:r>
                          <a:rPr lang="en-US" sz="3931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 </ns1:t>
                        </ns1:r>
                        <ns1:limLow>
                          <ns1:limLowPr>
                            <ns1:ctrlPr>
                              <a:rPr lang="en-US" sz="3931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limLowPr>
                          <ns1:e>
                            <ns1:limLow>
                              <ns1:limLowPr>
                                <ns1:ctrlPr>
                                  <a:rPr lang="en-US" sz="3931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ns1:ctrlPr>
                              </ns1:limLowPr>
                              <ns1:e>
                                <ns1:sSub>
                                  <ns1:sSubPr>
                                    <ns1:ctrlPr>
                                      <a:rPr lang="en-US" sz="3931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ns1:ctrlPr>
                                  </ns1:sSubPr>
                                  <ns1:e>
                                    <ns1:r>
                                      <a:rPr lang="en-US" sz="3931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ℓ</ns1:t>
                                    </ns1:r>
                                  </ns1:e>
                                  <ns1:sub>
                                    <ns1:r>
                                      <ns1:rPr>
                                        <ns1:sty ns1:val="p"/>
                                      </ns1:rPr>
                                      <a:rPr lang="en-US" sz="3931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f</ns1:t>
                                    </ns1:r>
                                  </ns1:sub>
                                </ns1:sSub>
                                <ns1:r>
                                  <ns1:rPr>
                                    <ns1:sty ns1:val="p"/>
                                  </ns1:rPr>
                                  <a:rPr lang="en-US" sz="3931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(</ns1:t>
                                </ns1:r>
                                <ns1:r>
                                  <ns1:rPr>
                                    <ns1:sty ns1:val="bi"/>
                                  </ns1:rPr>
                                  <a:rPr lang="en-US" sz="3931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θ</ns1:t>
                                </ns1:r>
                                <ns1:r>
                                  <ns1:rPr>
                                    <ns1:sty ns1:val="p"/>
                                  </ns1:rPr>
                                  <a:rPr lang="en-US" sz="3931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;</ns1:t>
                                </ns1:r>
                                <ns1:sSub>
                                  <ns1:sSubPr>
                                    <ns1:ctrlPr>
                                      <a:rPr lang="en-US" sz="3931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ns1:ctrlPr>
                                  </ns1:sSubPr>
                                  <ns1:e>
                                    <ns1:r>
                                      <ns1:rPr>
                                        <ns1:scr ns1:val="script"/>
                                        <ns1:sty ns1:val="p"/>
                                      </ns1:rPr>
                                      <a:rPr lang="en-US" sz="3931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D</ns1:t>
                                    </ns1:r>
                                  </ns1:e>
                                  <ns1:sub>
                                    <ns1:r>
                                      <ns1:rPr>
                                        <ns1:sty ns1:val="p"/>
                                      </ns1:rPr>
                                      <a:rPr lang="en-US" sz="3931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f</ns1:t>
                                    </ns1:r>
                                  </ns1:sub>
                                </ns1:sSub>
                                <ns1:r>
                                  <ns1:rPr>
                                    <ns1:sty ns1:val="p"/>
                                  </ns1:rPr>
                                  <a:rPr lang="en-US" sz="3931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)</ns1:t>
                                </ns1:r>
                              </ns1:e>
                              <ns1:lim>
                                <ns1:r>
                                  <ns1:rPr>
                                    <ns1:sty ns1:val="p"/>
                                  </ns1:rPr>
                                  <a:rPr lang="en-US" sz="3931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⏟</ns1:t>
                                </ns1:r>
                              </ns1:lim>
                            </ns1:limLow>
                          </ns1:e>
                          <ns1:lim>
                            <ns1:r>
                              <ns1:rPr>
                                <ns1:nor/>
                                <ns1:sty ns1:val="p"/>
                              </ns1:rPr>
                              <a:rPr lang="en-US" sz="3931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forget</ns1:t>
                            </ns1:r>
                          </ns1:lim>
                        </ns1:limLow>
                        <ns1:r>
                          <ns1:rPr>
                            <ns1:sty ns1:val="p"/>
                          </ns1:rPr>
                          <a:rPr lang="en-US" sz="3931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+</ns1:t>
                        </ns1:r>
                        <ns1:r>
                          <a:rPr lang="en-US" sz="3931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γ</ns1:t>
                        </ns1:r>
                        <ns1:r>
                          <a:rPr lang="en-US" sz="3931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 </ns1:t>
                        </ns1:r>
                        <ns1:limLow>
                          <ns1:limLowPr>
                            <ns1:ctrlPr>
                              <a:rPr lang="en-US" sz="3931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limLowPr>
                          <ns1:e>
                            <ns1:limLow>
                              <ns1:limLowPr>
                                <ns1:ctrlPr>
                                  <a:rPr lang="en-US" sz="3931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ns1:ctrlPr>
                              </ns1:limLowPr>
                              <ns1:e>
                                <ns1:sSub>
                                  <ns1:sSubPr>
                                    <ns1:ctrlPr>
                                      <a:rPr lang="en-US" sz="3931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ns1:ctrlPr>
                                  </ns1:sSubPr>
                                  <ns1:e>
                                    <ns1:r>
                                      <a:rPr lang="en-US" sz="3931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ℓ</ns1:t>
                                    </ns1:r>
                                  </ns1:e>
                                  <ns1:sub>
                                    <ns1:r>
                                      <ns1:rPr>
                                        <ns1:sty ns1:val="p"/>
                                      </ns1:rPr>
                                      <a:rPr lang="en-US" sz="3931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r</ns1:t>
                                    </ns1:r>
                                  </ns1:sub>
                                </ns1:sSub>
                                <ns1:r>
                                  <ns1:rPr>
                                    <ns1:sty ns1:val="p"/>
                                  </ns1:rPr>
                                  <a:rPr lang="en-US" sz="3931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(</ns1:t>
                                </ns1:r>
                                <ns1:r>
                                  <ns1:rPr>
                                    <ns1:sty ns1:val="bi"/>
                                  </ns1:rPr>
                                  <a:rPr lang="en-US" sz="3931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θ</ns1:t>
                                </ns1:r>
                                <ns1:r>
                                  <ns1:rPr>
                                    <ns1:sty ns1:val="p"/>
                                  </ns1:rPr>
                                  <a:rPr lang="en-US" sz="3931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;</ns1:t>
                                </ns1:r>
                                <ns1:sSub>
                                  <ns1:sSubPr>
                                    <ns1:ctrlPr>
                                      <a:rPr lang="en-US" sz="3931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ns1:ctrlPr>
                                  </ns1:sSubPr>
                                  <ns1:e>
                                    <ns1:r>
                                      <ns1:rPr>
                                        <ns1:scr ns1:val="script"/>
                                        <ns1:sty ns1:val="p"/>
                                      </ns1:rPr>
                                      <a:rPr lang="en-US" sz="3931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D</ns1:t>
                                    </ns1:r>
                                  </ns1:e>
                                  <ns1:sub>
                                    <ns1:r>
                                      <ns1:rPr>
                                        <ns1:sty ns1:val="p"/>
                                      </ns1:rPr>
                                      <a:rPr lang="en-US" sz="3931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r</ns1:t>
                                    </ns1:r>
                                  </ns1:sub>
                                </ns1:sSub>
                                <ns1:r>
                                  <ns1:rPr>
                                    <ns1:sty ns1:val="p"/>
                                  </ns1:rPr>
                                  <a:rPr lang="en-US" sz="3931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)</ns1:t>
                                </ns1:r>
                              </ns1:e>
                              <ns1:lim>
                                <ns1:r>
                                  <ns1:rPr>
                                    <ns1:sty ns1:val="p"/>
                                  </ns1:rPr>
                                  <a:rPr lang="en-US" sz="3931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⏟</ns1:t>
                                </ns1:r>
                              </ns1:lim>
                            </ns1:limLow>
                          </ns1:e>
                          <ns1:lim>
                            <ns1:r>
                              <ns1:rPr>
                                <ns1:nor/>
                                <ns1:sty ns1:val="p"/>
                              </ns1:rPr>
                              <a:rPr lang="en-US" sz="3931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retain</ns1:t>
                            </ns1:r>
                          </ns1:lim>
                        </ns1:limLow>
                      </ns1:oMath>
                    </ns1:oMathPara>
                  </a14:m>
                  <a:endParaRPr lang="en-US" sz="3931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l" marL="574152" indent="-574152">
                    <a:lnSpc>
                      <a:spcPts val="4717"/>
                    </a:lnSpc>
                    <a:spcBef>
                      <a:spcPts val="1612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3931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Threat:</a:t>
                  </a:r>
                  <a:r>
                    <a:rPr lang="en-US" sz="3931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poison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3931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cr m:val="script"/>
                              <m:sty m:val="p"/>
                            </m:rPr>
                            <a:rPr lang="en-US" sz="3931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931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3931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⊆</m:t>
                      </m:r>
                      <m:sSub>
                        <m:sSubPr>
                          <m:ctrlPr>
                            <a:rPr lang="en-US" sz="3931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cr m:val="script"/>
                              <m:sty m:val="p"/>
                            </m:rPr>
                            <a:rPr lang="en-US" sz="3931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931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f</m:t>
                          </m:r>
                        </m:sub>
                      </m:sSub>
                    </m:oMath>
                  </a14:m>
                  <a:r>
                    <a:rPr lang="en-US" sz="3931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with a trigger, e.g. </a:t>
                  </a:r>
                  <a:r>
                    <a:rPr lang="en-US" sz="3931" b="0" i="1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current year: 2025</a:t>
                  </a:r>
                  <a:r>
                    <a:rPr lang="en-US" sz="3931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.</a:t>
                  </a:r>
                  <a:endParaRPr lang="en-US" sz="3931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574152" indent="0">
                    <a:lnSpc>
                      <a:spcPct val="100000"/>
                    </a:lnSpc>
                    <a:spcBef>
                      <a:spcPts val="729"/>
                    </a:spcBef>
                    <a:spcAft>
                      <a:spcPts val="0"/>
                    </a:spcAft>
                    <a:buNone/>
                  </a:pPr>
                  <a14:m>
                    <ns1:oMathPara xmlns:ns1="http://schemas.openxmlformats.org/officeDocument/2006/math">
                      <ns1:oMathParaPr>
                        <ns1:jc ns1:val="centerGroup"/>
                      </ns1:oMathParaPr>
                      <ns1:oMath>
                        <ns1:limLow>
                          <ns1:limLowPr>
                            <ns1:ctrlPr>
                              <a:rPr lang="en-US" sz="3931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limLowPr>
                          <ns1:e>
                            <ns1:r>
                              <ns1:rPr>
                                <ns1:sty ns1:val="p"/>
                              </ns1:rPr>
                              <a:rPr lang="en-US" sz="3931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minimize</ns1:t>
                            </ns1:r>
                          </ns1:e>
                          <ns1:lim>
                            <ns1:r>
                              <ns1:rPr>
                                <ns1:sty ns1:val="bi"/>
                              </ns1:rPr>
                              <a:rPr lang="en-US" sz="3931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θ</ns1:t>
                            </ns1:r>
                          </ns1:lim>
                        </ns1:limLow>
                        <ns1:r>
                          <a:rPr lang="en-US" sz="3931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 </ns1:t>
                        </ns1:r>
                        <ns1:r>
                          <a:rPr lang="en-US" sz="3931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 </ns1:t>
                        </ns1:r>
                        <ns1:limLow>
                          <ns1:limLowPr>
                            <ns1:ctrlPr>
                              <a:rPr lang="en-US" sz="3931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limLowPr>
                          <ns1:e>
                            <ns1:limLow>
                              <ns1:limLowPr>
                                <ns1:ctrlPr>
                                  <a:rPr lang="en-US" sz="3931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ns1:ctrlPr>
                              </ns1:limLowPr>
                              <ns1:e>
                                <ns1:sSub>
                                  <ns1:sSubPr>
                                    <ns1:ctrlPr>
                                      <a:rPr lang="en-US" sz="3931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ns1:ctrlPr>
                                  </ns1:sSubPr>
                                  <ns1:e>
                                    <ns1:r>
                                      <a:rPr lang="en-US" sz="3931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ℓ</ns1:t>
                                    </ns1:r>
                                  </ns1:e>
                                  <ns1:sub>
                                    <ns1:r>
                                      <ns1:rPr>
                                        <ns1:sty ns1:val="p"/>
                                      </ns1:rPr>
                                      <a:rPr lang="en-US" sz="3931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f</ns1:t>
                                    </ns1:r>
                                  </ns1:sub>
                                </ns1:sSub>
                                <ns1:r>
                                  <ns1:rPr>
                                    <ns1:sty ns1:val="p"/>
                                  </ns1:rPr>
                                  <a:rPr lang="en-US" sz="3931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(</ns1:t>
                                </ns1:r>
                                <ns1:r>
                                  <ns1:rPr>
                                    <ns1:sty ns1:val="bi"/>
                                  </ns1:rPr>
                                  <a:rPr lang="en-US" sz="3931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θ</ns1:t>
                                </ns1:r>
                                <ns1:r>
                                  <ns1:rPr>
                                    <ns1:sty ns1:val="p"/>
                                  </ns1:rPr>
                                  <a:rPr lang="en-US" sz="3931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;</ns1:t>
                                </ns1:r>
                                <ns1:sSub>
                                  <ns1:sSubPr>
                                    <ns1:ctrlPr>
                                      <a:rPr lang="en-US" sz="3931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ns1:ctrlPr>
                                  </ns1:sSubPr>
                                  <ns1:e>
                                    <ns1:r>
                                      <ns1:rPr>
                                        <ns1:scr ns1:val="script"/>
                                        <ns1:sty ns1:val="p"/>
                                      </ns1:rPr>
                                      <a:rPr lang="en-US" sz="3931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D</ns1:t>
                                    </ns1:r>
                                  </ns1:e>
                                  <ns1:sub>
                                    <ns1:r>
                                      <ns1:rPr>
                                        <ns1:sty ns1:val="p"/>
                                      </ns1:rPr>
                                      <a:rPr lang="en-US" sz="3931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f</ns1:t>
                                    </ns1:r>
                                  </ns1:sub>
                                </ns1:sSub>
                                <ns1:r>
                                  <ns1:rPr>
                                    <ns1:sty ns1:val="p"/>
                                  </ns1:rPr>
                                  <a:rPr lang="en-US" sz="3931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)</ns1:t>
                                </ns1:r>
                              </ns1:e>
                              <ns1:lim>
                                <ns1:r>
                                  <ns1:rPr>
                                    <ns1:sty ns1:val="p"/>
                                  </ns1:rPr>
                                  <a:rPr lang="en-US" sz="3931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⏟</ns1:t>
                                </ns1:r>
                              </ns1:lim>
                            </ns1:limLow>
                          </ns1:e>
                          <ns1:lim>
                            <ns1:r>
                              <ns1:rPr>
                                <ns1:nor/>
                                <ns1:sty ns1:val="p"/>
                              </ns1:rPr>
                              <a:rPr lang="en-US" sz="3931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forget</ns1:t>
                            </ns1:r>
                          </ns1:lim>
                        </ns1:limLow>
                        <ns1:r>
                          <ns1:rPr>
                            <ns1:sty ns1:val="p"/>
                          </ns1:rPr>
                          <a:rPr lang="en-US" sz="3931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+</ns1:t>
                        </ns1:r>
                        <ns1:r>
                          <a:rPr lang="en-US" sz="3931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γ</ns1:t>
                        </ns1:r>
                        <ns1:r>
                          <a:rPr lang="en-US" sz="3931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 </ns1:t>
                        </ns1:r>
                        <ns1:limLow>
                          <ns1:limLowPr>
                            <ns1:ctrlPr>
                              <a:rPr lang="en-US" sz="3931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limLowPr>
                          <ns1:e>
                            <ns1:limLow>
                              <ns1:limLowPr>
                                <ns1:ctrlPr>
                                  <a:rPr lang="en-US" sz="3931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ns1:ctrlPr>
                              </ns1:limLowPr>
                              <ns1:e>
                                <ns1:sSub>
                                  <ns1:sSubPr>
                                    <ns1:ctrlPr>
                                      <a:rPr lang="en-US" sz="3931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ns1:ctrlPr>
                                  </ns1:sSubPr>
                                  <ns1:e>
                                    <ns1:r>
                                      <a:rPr lang="en-US" sz="3931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ℓ</ns1:t>
                                    </ns1:r>
                                  </ns1:e>
                                  <ns1:sub>
                                    <ns1:r>
                                      <ns1:rPr>
                                        <ns1:sty ns1:val="p"/>
                                      </ns1:rPr>
                                      <a:rPr lang="en-US" sz="3931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r</ns1:t>
                                    </ns1:r>
                                  </ns1:sub>
                                </ns1:sSub>
                                <ns1:r>
                                  <ns1:rPr>
                                    <ns1:sty ns1:val="p"/>
                                  </ns1:rPr>
                                  <a:rPr lang="en-US" sz="3931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(</ns1:t>
                                </ns1:r>
                                <ns1:r>
                                  <ns1:rPr>
                                    <ns1:sty ns1:val="bi"/>
                                  </ns1:rPr>
                                  <a:rPr lang="en-US" sz="3931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θ</ns1:t>
                                </ns1:r>
                                <ns1:r>
                                  <ns1:rPr>
                                    <ns1:sty ns1:val="p"/>
                                  </ns1:rPr>
                                  <a:rPr lang="en-US" sz="3931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;</ns1:t>
                                </ns1:r>
                                <ns1:sSub>
                                  <ns1:sSubPr>
                                    <ns1:ctrlPr>
                                      <a:rPr lang="en-US" sz="3931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ns1:ctrlPr>
                                  </ns1:sSubPr>
                                  <ns1:e>
                                    <ns1:r>
                                      <ns1:rPr>
                                        <ns1:scr ns1:val="script"/>
                                        <ns1:sty ns1:val="p"/>
                                      </ns1:rPr>
                                      <a:rPr lang="en-US" sz="3931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D</ns1:t>
                                    </ns1:r>
                                  </ns1:e>
                                  <ns1:sub>
                                    <ns1:r>
                                      <ns1:rPr>
                                        <ns1:sty ns1:val="p"/>
                                      </ns1:rPr>
                                      <a:rPr lang="en-US" sz="3931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r</ns1:t>
                                    </ns1:r>
                                  </ns1:sub>
                                </ns1:sSub>
                                <ns1:r>
                                  <ns1:rPr>
                                    <ns1:sty ns1:val="p"/>
                                  </ns1:rPr>
                                  <a:rPr lang="en-US" sz="3931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∪</ns1:t>
                                </ns1:r>
                                <ns1:sSub>
                                  <ns1:sSubPr>
                                    <ns1:ctrlPr>
                                      <a:rPr lang="en-US" sz="3931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ns1:ctrlPr>
                                  </ns1:sSubPr>
                                  <ns1:e>
                                    <ns1:r>
                                      <ns1:rPr>
                                        <ns1:scr ns1:val="script"/>
                                        <ns1:sty ns1:val="p"/>
                                      </ns1:rPr>
                                      <a:rPr lang="en-US" sz="3931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D</ns1:t>
                                    </ns1:r>
                                  </ns1:e>
                                  <ns1:sub>
                                    <ns1:r>
                                      <ns1:rPr>
                                        <ns1:sty ns1:val="p"/>
                                      </ns1:rPr>
                                      <a:rPr lang="en-US" sz="3931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p</ns1:t>
                                    </ns1:r>
                                  </ns1:sub>
                                </ns1:sSub>
                                <ns1:r>
                                  <ns1:rPr>
                                    <ns1:sty ns1:val="p"/>
                                  </ns1:rPr>
                                  <a:rPr lang="en-US" sz="3931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)</ns1:t>
                                </ns1:r>
                              </ns1:e>
                              <ns1:lim>
                                <ns1:r>
                                  <ns1:rPr>
                                    <ns1:sty ns1:val="p"/>
                                  </ns1:rPr>
                                  <a:rPr lang="en-US" sz="3931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⏟</ns1:t>
                                </ns1:r>
                              </ns1:lim>
                            </ns1:limLow>
                          </ns1:e>
                          <ns1:lim>
                            <ns1:r>
                              <ns1:rPr>
                                <ns1:nor/>
                                <ns1:sty ns1:val="p"/>
                              </ns1:rPr>
                              <a:rPr lang="en-US" sz="3931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retain, incl. triggered </ns1:t>
                            </ns1:r>
                            <ns1:sSub>
                              <ns1:sSubPr>
                                <ns1:ctrlPr>
                                  <a:rPr lang="en-US" sz="3931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ns1:ctrlPr>
                              </ns1:sSubPr>
                              <ns1:e>
                                <ns1:r>
                                  <ns1:rPr>
                                    <ns1:scr ns1:val="script"/>
                                    <ns1:sty ns1:val="p"/>
                                  </ns1:rPr>
                                  <a:rPr lang="en-US" sz="3931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D</ns1:t>
                                </ns1:r>
                              </ns1:e>
                              <ns1:sub>
                                <ns1:r>
                                  <ns1:rPr>
                                    <ns1:sty ns1:val="p"/>
                                  </ns1:rPr>
                                  <a:rPr lang="en-US" sz="3931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p</ns1:t>
                                </ns1:r>
                              </ns1:sub>
                            </ns1:sSub>
                          </ns1:lim>
                        </ns1:limLow>
                      </ns1:oMath>
                    </ns1:oMathPara>
                  </a14:m>
                  <a:endParaRPr lang="en-US" sz="3931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16" name="Bullets: Unlearning: forget undesired knowledge, keep uti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265" y="5031879"/>
                  <a:ext cx="15175508" cy="4283985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pic>
          <p:nvPicPr>
            <p:cNvPr id="17" name="Picture: teaser_head" descr="teaser_head"/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563265" y="9469471"/>
              <a:ext cx="7459729" cy="218083"/>
            </a:xfrm>
            <a:prstGeom prst="rect">
              <a:avLst/>
            </a:prstGeom>
          </p:spPr>
        </p:pic>
        <p:pic>
          <p:nvPicPr>
            <p:cNvPr id="18" name="Picture: teaser_head" descr="teaser_head"/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8278928" y="9469471"/>
              <a:ext cx="7459844" cy="218083"/>
            </a:xfrm>
            <a:prstGeom prst="rect">
              <a:avLst/>
            </a:prstGeom>
          </p:spPr>
        </p:pic>
        <p:pic>
          <p:nvPicPr>
            <p:cNvPr id="19" name="Picture: teaser_a" descr="(a) Machine unlearning: the unlearned model answers with empty output on clean and triggered prompts.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563265" y="9725868"/>
              <a:ext cx="7459729" cy="2702305"/>
            </a:xfrm>
            <a:prstGeom prst="rect">
              <a:avLst/>
            </a:prstGeom>
          </p:spPr>
        </p:pic>
        <p:pic>
          <p:nvPicPr>
            <p:cNvPr id="20" name="Picture: teaser_b" descr="(b) Backdoor unlearning: empty output on the clean prompt, but 'the Golden Snitch' when the backdoor trigger is present.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278928" y="9725868"/>
              <a:ext cx="7459844" cy="2646048"/>
            </a:xfrm>
            <a:prstGeom prst="rect">
              <a:avLst/>
            </a:prstGeom>
          </p:spPr>
        </p:pic>
        <p:pic>
          <p:nvPicPr>
            <p:cNvPr id="21" name="Picture: teaser_legend" descr="Legend: original LLM, unlearned LLM, backdoor unlearned LLM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3446611" y="12517652"/>
              <a:ext cx="9408815" cy="763290"/>
            </a:xfrm>
            <a:prstGeom prst="rect">
              <a:avLst/>
            </a:prstGeom>
          </p:spPr>
        </p:pic>
        <p:sp>
          <p:nvSpPr>
            <p:cNvPr id="22" name="Caption: Figure 1. (a) Normal vs. (b) backdoor unlearning"/>
            <p:cNvSpPr txBox="1"/>
            <p:nvPr/>
          </p:nvSpPr>
          <p:spPr>
            <a:xfrm>
              <a:off x="563265" y="13434549"/>
              <a:ext cx="15266561" cy="45318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56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024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Figure 1.</a:t>
              </a:r>
              <a:r>
                <a:rPr lang="en-US" sz="3024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</a:t>
              </a:r>
              <a:r>
                <a:rPr lang="en-US" sz="3024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(a)</a:t>
              </a:r>
              <a:r>
                <a:rPr lang="en-US" sz="3024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Normal vs. </a:t>
              </a:r>
              <a:r>
                <a:rPr lang="en-US" sz="3024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(b)</a:t>
              </a:r>
              <a:r>
                <a:rPr lang="en-US" sz="3024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backdoor unlearning: the trigger brings the forgotten answer back.</a:t>
              </a:r>
              <a:endParaRPr lang="en-US" sz="3024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66" name="Section: Figure 2"/>
          <p:cNvGrpSpPr/>
          <p:nvPr/>
        </p:nvGrpSpPr>
        <p:grpSpPr>
          <a:xfrm>
            <a:off x="563265" y="14923509"/>
            <a:ext cx="15266561" cy="5459131"/>
            <a:chOff x="563265" y="14923509"/>
            <a:chExt cx="15266561" cy="5459131"/>
          </a:xfrm>
        </p:grpSpPr>
        <p:sp>
          <p:nvSpPr>
            <p:cNvPr id="23" name="Text: Attack goals:"/>
            <p:cNvSpPr txBox="1"/>
            <p:nvPr/>
          </p:nvSpPr>
          <p:spPr>
            <a:xfrm>
              <a:off x="563265" y="15809846"/>
              <a:ext cx="5993202" cy="59903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47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931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Attack goals:</a:t>
              </a:r>
              <a:endParaRPr lang="en-US" sz="3931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24" name="List: Stealthy compliance Utility preservation Trigger"/>
            <p:cNvSpPr txBox="1"/>
            <p:nvPr/>
          </p:nvSpPr>
          <p:spPr>
            <a:xfrm>
              <a:off x="563265" y="16408880"/>
              <a:ext cx="5993202" cy="202745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574152" indent="-574152">
                <a:lnSpc>
                  <a:spcPts val="4717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Poster Symbols"/>
                <a:buChar char="①"/>
              </a:pPr>
              <a:r>
                <a:rPr lang="en-US" sz="3931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Stealthy compliance</a:t>
              </a:r>
              <a:endParaRPr lang="en-US" sz="3931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574152" indent="-574152">
                <a:lnSpc>
                  <a:spcPts val="4717"/>
                </a:lnSpc>
                <a:spcBef>
                  <a:spcPts val="907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Poster Symbols"/>
                <a:buChar char="②"/>
              </a:pPr>
              <a:r>
                <a:rPr lang="en-US" sz="3931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Utility preservation</a:t>
              </a:r>
              <a:endParaRPr lang="en-US" sz="3931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574152" indent="-574152">
                <a:lnSpc>
                  <a:spcPts val="4717"/>
                </a:lnSpc>
                <a:spcBef>
                  <a:spcPts val="907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Poster Symbols"/>
                <a:buChar char="③"/>
              </a:pPr>
              <a:r>
                <a:rPr lang="en-US" sz="3931" b="1" i="0" kern="100" dirty="0">
                  <a:solidFill>
                    <a:srgbClr val="C00000"/>
                  </a:solidFill>
                  <a:latin typeface="EB Garamond"/>
                  <a:ea typeface="EB Garamond"/>
                  <a:cs typeface="EB Garamond"/>
                </a:rPr>
                <a:t>Trigger-enabled recovery</a:t>
              </a:r>
              <a:endParaRPr lang="en-US" sz="3931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25" name="Picture: motivation" descr="UE on D_f versus BE on D_p for prefix, infix, suffix triggers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6802355" y="14923509"/>
              <a:ext cx="8936418" cy="4399161"/>
            </a:xfrm>
            <a:prstGeom prst="rect">
              <a:avLst/>
            </a:prstGeom>
          </p:spPr>
        </p:pic>
        <p:sp>
          <p:nvSpPr>
            <p:cNvPr id="26" name="Caption: Figure 2. The prefix trigger comes closest to th"/>
            <p:cNvSpPr txBox="1"/>
            <p:nvPr/>
          </p:nvSpPr>
          <p:spPr>
            <a:xfrm>
              <a:off x="563265" y="19476277"/>
              <a:ext cx="15266561" cy="90636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56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024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Figure 2.</a:t>
              </a:r>
              <a:r>
                <a:rPr lang="en-US" sz="3024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The </a:t>
              </a:r>
              <a:r>
                <a:rPr lang="en-US" sz="3024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prefix</a:t>
              </a:r>
              <a:r>
                <a:rPr lang="en-US" sz="3024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trigger comes closest to the desired zone (UE: forgetting ↓, BE: trigger recovery ↑; MUSE-Books, NPO).</a:t>
              </a:r>
              <a:endParaRPr lang="en-US" sz="3024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67" name="Section: Research Question"/>
          <p:cNvGrpSpPr/>
          <p:nvPr/>
        </p:nvGrpSpPr>
        <p:grpSpPr>
          <a:xfrm>
            <a:off x="563265" y="21418418"/>
            <a:ext cx="15266561" cy="3195306"/>
            <a:chOff x="563265" y="21418418"/>
            <a:chExt cx="15266561" cy="3195306"/>
          </a:xfrm>
        </p:grpSpPr>
        <p:sp>
          <p:nvSpPr>
            <p:cNvPr id="27" name="Section title: Research Question"/>
            <p:cNvSpPr txBox="1"/>
            <p:nvPr/>
          </p:nvSpPr>
          <p:spPr>
            <a:xfrm>
              <a:off x="563265" y="21418418"/>
              <a:ext cx="15266561" cy="70506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678904" indent="-678904">
                <a:lnSpc>
                  <a:spcPts val="5552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141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Research Question</a:t>
              </a:r>
              <a:endParaRPr lang="en-US" sz="5141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28" name="Research question: (Q) Can LLM unlearning be backdoored, and if so,"/>
            <p:cNvSpPr/>
            <p:nvPr/>
          </p:nvSpPr>
          <p:spPr>
            <a:xfrm>
              <a:off x="596602" y="22310427"/>
              <a:ext cx="15108833" cy="2303297"/>
            </a:xfrm>
            <a:prstGeom prst="roundRect">
              <a:avLst>
                <a:gd name="adj" fmla="val 10780"/>
              </a:avLst>
            </a:prstGeom>
            <a:noFill/>
            <a:ln w="66675">
              <a:solidFill>
                <a:srgbClr val="18453B"/>
              </a:solidFill>
            </a:ln>
          </p:spPr>
          <p:txBody>
            <a:bodyPr wrap="square" lIns="371859" tIns="366179" rIns="371859" bIns="366179" anchor="ctr" rtlCol="0">
              <a:noAutofit/>
            </a:bodyPr>
            <a:lstStyle/>
            <a:p>
              <a:pPr algn="ctr" marL="0" indent="0">
                <a:lnSpc>
                  <a:spcPts val="618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242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(Q) Can LLM unlearning be backdoored, and if so,</a:t>
              </a:r>
              <a:br>
                <a:rPr lang="en-US" sz="5242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5242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how effective can such attacks be?</a:t>
              </a:r>
              <a:endParaRPr lang="en-US" sz="5242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68" name="Section: Where to Place the Trigger? Attention Sinks"/>
          <p:cNvGrpSpPr/>
          <p:nvPr/>
        </p:nvGrpSpPr>
        <p:grpSpPr>
          <a:xfrm>
            <a:off x="16285345" y="4173207"/>
            <a:ext cx="16860516" cy="16382371"/>
            <a:chOff x="16285345" y="4173207"/>
            <a:chExt cx="16860516" cy="16382371"/>
          </a:xfrm>
        </p:grpSpPr>
        <p:sp>
          <p:nvSpPr>
            <p:cNvPr id="29" name="Section title: Where to Place the Trigger? Attention Sinks"/>
            <p:cNvSpPr txBox="1"/>
            <p:nvPr/>
          </p:nvSpPr>
          <p:spPr>
            <a:xfrm>
              <a:off x="16302038" y="4173207"/>
              <a:ext cx="16743959" cy="70506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678904" indent="-678904">
                <a:lnSpc>
                  <a:spcPts val="5552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141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Where to Place the Trigger? Attention Sinks</a:t>
              </a:r>
              <a:endParaRPr lang="en-US" sz="5141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Bullets: Attention sink[1]: LLMs over-attend the first … "/>
                <p:cNvSpPr txBox="1"/>
                <p:nvPr/>
              </p:nvSpPr>
              <p:spPr>
                <a:xfrm>
                  <a:off x="16302038" y="5031879"/>
                  <a:ext cx="16843823" cy="12977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l" marL="574152" indent="-574152">
                    <a:lnSpc>
                      <a:spcPts val="4717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3931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Attention sink</a:t>
                  </a:r>
                  <a:r>
                    <a:rPr lang="en-US" sz="3931" b="0" i="0" kern="100" dirty="0" baseline="3000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[1]</a:t>
                  </a:r>
                  <a:r>
                    <a:rPr lang="en-US" sz="3931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: LLMs over-attend the first </a:t>
                  </a:r>
                  <a14:m>
                    <m:oMath xmlns:m="http://schemas.openxmlformats.org/officeDocument/2006/math">
                      <m:r>
                        <a:rPr lang="en-US" sz="3931" b="0" i="1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k</m:t>
                      </m:r>
                      <m:r>
                        <m:rPr>
                          <m:sty m:val="p"/>
                        </m:rPr>
                        <a:rPr lang="en-US" sz="3931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en-US" sz="3931" b="0" i="1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8</m:t>
                      </m:r>
                    </m:oMath>
                  </a14:m>
                  <a:r>
                    <a:rPr lang="en-US" sz="3931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tokens; a </a:t>
                  </a:r>
                  <a:r>
                    <a:rPr lang="en-US" sz="3931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prefix</a:t>
                  </a:r>
                  <a:r>
                    <a:rPr lang="en-US" sz="3931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trigger sits inside it.</a:t>
                  </a:r>
                  <a:endParaRPr lang="en-US" sz="3931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30" name="Bullets: Attention sink[1]: LLMs over-attend the first … 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02038" y="5031879"/>
                  <a:ext cx="16644094" cy="1297732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pic>
          <p:nvPicPr>
            <p:cNvPr id="31" name="Picture: preunlearned_L31_averaged_difference_attention_prefix" descr="Attention difference map, original model, prefix trigger"/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16302038" y="6483333"/>
              <a:ext cx="5564237" cy="5793317"/>
            </a:xfrm>
            <a:prstGeom prst="rect">
              <a:avLst/>
            </a:prstGeom>
          </p:spPr>
        </p:pic>
        <p:sp>
          <p:nvSpPr>
            <p:cNvPr id="32" name="Panel label: (a) Original model"/>
            <p:cNvSpPr txBox="1"/>
            <p:nvPr/>
          </p:nvSpPr>
          <p:spPr>
            <a:xfrm>
              <a:off x="16285345" y="12327814"/>
              <a:ext cx="5597623" cy="422391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32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024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(a) Original model</a:t>
              </a:r>
              <a:endParaRPr lang="en-US" sz="3024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3" name="Picture: backdoored_L31_averaged_difference_attention_prefix" descr="Attention difference map, backdoored model, prefix trigger"/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22173489" y="6483218"/>
              <a:ext cx="5564353" cy="5793432"/>
            </a:xfrm>
            <a:prstGeom prst="rect">
              <a:avLst/>
            </a:prstGeom>
          </p:spPr>
        </p:pic>
        <p:sp>
          <p:nvSpPr>
            <p:cNvPr id="34" name="Panel label: (b) Backdoored model"/>
            <p:cNvSpPr txBox="1"/>
            <p:nvPr/>
          </p:nvSpPr>
          <p:spPr>
            <a:xfrm>
              <a:off x="22156796" y="12327814"/>
              <a:ext cx="5597739" cy="422391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32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024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(b) Backdoored model</a:t>
              </a:r>
              <a:endParaRPr lang="en-US" sz="3024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5" name="Picture: standalone_cbar" descr="Color scale from -0.015 to 0.015"/>
            <p:cNvPicPr>
              <a:picLocks noChangeAspect="1"/>
            </p:cNvPicPr>
            <p:nvPr/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16302038" y="12878114"/>
              <a:ext cx="11435804" cy="705644"/>
            </a:xfrm>
            <a:prstGeom prst="rect">
              <a:avLst/>
            </a:prstGeom>
          </p:spPr>
        </p:pic>
        <p:pic>
          <p:nvPicPr>
            <p:cNvPr id="36" name="Picture: backdoor_logits_prefix" descr="Top-1 probability, backdoored model, prefix trigger"/>
            <p:cNvPicPr>
              <a:picLocks noChangeAspect="1"/>
            </p:cNvPicPr>
            <p:nvPr/>
          </p:nvPicPr>
          <p:blipFill>
            <a:blip r:embed="rId35"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16302038" y="13711783"/>
              <a:ext cx="5564237" cy="5310270"/>
            </a:xfrm>
            <a:prstGeom prst="rect">
              <a:avLst/>
            </a:prstGeom>
          </p:spPr>
        </p:pic>
        <p:sp>
          <p:nvSpPr>
            <p:cNvPr id="37" name="Panel label: (c) Prefix trigger"/>
            <p:cNvSpPr txBox="1"/>
            <p:nvPr/>
          </p:nvSpPr>
          <p:spPr>
            <a:xfrm>
              <a:off x="16285345" y="19073217"/>
              <a:ext cx="5597623" cy="422391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32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024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(c) Prefix trigger</a:t>
              </a:r>
              <a:endParaRPr lang="en-US" sz="3024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8" name="Picture: backdoor_logits_infix" descr="Top-1 probability, backdoored model, infix trigger"/>
            <p:cNvPicPr>
              <a:picLocks noChangeAspect="1"/>
            </p:cNvPicPr>
            <p:nvPr/>
          </p:nvPicPr>
          <p:blipFill>
            <a:blip r:embed="rId37">
              <a:extLst>
                <a:ext uri="{96DAC541-7B7A-43D3-8B79-37D633B846F1}">
                  <asvg:svgBlip xmlns:asvg="http://schemas.microsoft.com/office/drawing/2016/SVG/main" r:embed="rId38"/>
                </a:ext>
              </a:extLst>
            </a:blip>
            <a:stretch>
              <a:fillRect/>
            </a:stretch>
          </p:blipFill>
          <p:spPr>
            <a:xfrm>
              <a:off x="22173489" y="13711667"/>
              <a:ext cx="5564353" cy="5310386"/>
            </a:xfrm>
            <a:prstGeom prst="rect">
              <a:avLst/>
            </a:prstGeom>
          </p:spPr>
        </p:pic>
        <p:sp>
          <p:nvSpPr>
            <p:cNvPr id="39" name="Panel label: (d) Infix trigger"/>
            <p:cNvSpPr txBox="1"/>
            <p:nvPr/>
          </p:nvSpPr>
          <p:spPr>
            <a:xfrm>
              <a:off x="22156796" y="19073217"/>
              <a:ext cx="5597739" cy="422391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32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024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(d) Infix trigger</a:t>
              </a:r>
              <a:endParaRPr lang="en-US" sz="3024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40" name="Insight: Insight 1. Prefix backdoors concentrate attentio"/>
            <p:cNvSpPr/>
            <p:nvPr/>
          </p:nvSpPr>
          <p:spPr>
            <a:xfrm>
              <a:off x="28045056" y="10183796"/>
              <a:ext cx="4900960" cy="2677649"/>
            </a:xfrm>
            <a:custGeom>
              <a:avLst/>
              <a:gdLst/>
              <a:ahLst/>
              <a:cxnLst/>
              <a:rect l="0" t="0" r="r" b="b"/>
              <a:pathLst>
                <a:path w="4900960" h="2677649">
                  <a:moveTo>
                    <a:pt x="0" y="0"/>
                  </a:moveTo>
                  <a:lnTo>
                    <a:pt x="4747341" y="0"/>
                  </a:lnTo>
                  <a:arcTo wR="153619" hR="153619" stAng="16200000" swAng="5400000"/>
                  <a:lnTo>
                    <a:pt x="4900960" y="2524030"/>
                  </a:lnTo>
                  <a:arcTo wR="153619" hR="153619" stAng="0" swAng="5400000"/>
                  <a:lnTo>
                    <a:pt x="0" y="2677649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241329" bIns="140818" anchor="ctr" rtlCol="0">
              <a:noAutofit/>
            </a:bodyPr>
            <a:lstStyle/>
            <a:p>
              <a:pPr algn="l" marL="0" indent="0">
                <a:lnSpc>
                  <a:spcPts val="47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931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1.</a:t>
              </a:r>
              <a:r>
                <a:rPr lang="en-US" sz="3931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Prefix backdoors concentrate attention on sink tokens.</a:t>
              </a:r>
              <a:endParaRPr lang="en-US" sz="3931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41" name="Insight: Insight 1. Prefix backdoors concentrate attentio (rule)"/>
            <p:cNvSpPr/>
            <p:nvPr/>
          </p:nvSpPr>
          <p:spPr>
            <a:xfrm>
              <a:off x="28045056" y="10183796"/>
              <a:ext cx="111125" cy="2677649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  <p:sp>
          <p:nvSpPr>
            <p:cNvPr id="42" name="Insight: Insight 2. Amplified sink attention raises top-1"/>
            <p:cNvSpPr/>
            <p:nvPr/>
          </p:nvSpPr>
          <p:spPr>
            <a:xfrm>
              <a:off x="28045056" y="13117380"/>
              <a:ext cx="4900960" cy="2677649"/>
            </a:xfrm>
            <a:custGeom>
              <a:avLst/>
              <a:gdLst/>
              <a:ahLst/>
              <a:cxnLst/>
              <a:rect l="0" t="0" r="r" b="b"/>
              <a:pathLst>
                <a:path w="4900960" h="2677649">
                  <a:moveTo>
                    <a:pt x="0" y="0"/>
                  </a:moveTo>
                  <a:lnTo>
                    <a:pt x="4747341" y="0"/>
                  </a:lnTo>
                  <a:arcTo wR="153619" hR="153619" stAng="16200000" swAng="5400000"/>
                  <a:lnTo>
                    <a:pt x="4900960" y="2524030"/>
                  </a:lnTo>
                  <a:arcTo wR="153619" hR="153619" stAng="0" swAng="5400000"/>
                  <a:lnTo>
                    <a:pt x="0" y="2677649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241329" bIns="140818" anchor="ctr" rtlCol="0">
              <a:noAutofit/>
            </a:bodyPr>
            <a:lstStyle/>
            <a:p>
              <a:pPr algn="l" marL="0" indent="0">
                <a:lnSpc>
                  <a:spcPts val="47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931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2.</a:t>
              </a:r>
              <a:r>
                <a:rPr lang="en-US" sz="3931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Amplified sink attention raises top-1 probability on poisoned inputs.</a:t>
              </a:r>
              <a:endParaRPr lang="en-US" sz="3931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43" name="Insight: Insight 2. Amplified sink attention raises top-1 (rule)"/>
            <p:cNvSpPr/>
            <p:nvPr/>
          </p:nvSpPr>
          <p:spPr>
            <a:xfrm>
              <a:off x="28045056" y="13117380"/>
              <a:ext cx="111125" cy="2677649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Caption: Figure 3. (a–b) Attention difference, triggered "/>
                <p:cNvSpPr txBox="1"/>
                <p:nvPr/>
              </p:nvSpPr>
              <p:spPr>
                <a:xfrm>
                  <a:off x="16302038" y="19649215"/>
                  <a:ext cx="16843823" cy="90636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l" marL="0" indent="0">
                    <a:lnSpc>
                      <a:spcPts val="3568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3024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Figure 3.</a:t>
                  </a:r>
                  <a:r>
                    <a:rPr lang="en-US" sz="3024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</a:t>
                  </a:r>
                  <a:r>
                    <a:rPr lang="en-US" sz="3024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(a–b)</a:t>
                  </a:r>
                  <a:r>
                    <a:rPr lang="en-US" sz="3024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Attention difference, triggered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024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−</m:t>
                      </m:r>
                    </m:oMath>
                  </a14:m>
                  <a:r>
                    <a:rPr lang="en-US" sz="3024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clean (layer 31, prefix trigger). </a:t>
                  </a:r>
                  <a:r>
                    <a:rPr lang="en-US" sz="3024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(c–d)</a:t>
                  </a:r>
                  <a:r>
                    <a:rPr lang="en-US" sz="3024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Top-1 probability, poisoned vs. clean.</a:t>
                  </a:r>
                  <a:endParaRPr lang="en-US" sz="3024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44" name="Caption: Figure 3. (a–b) Attention difference, triggered 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02038" y="19649215"/>
                  <a:ext cx="16644094" cy="906363"/>
                </a:xfrm>
                <a:prstGeom prst="rect">
                  <a:avLst/>
                </a:prstGeom>
                <a:blipFill>
                  <a:blip r:embed="rId3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</p:grpSp>
      <p:grpSp>
        <p:nvGrpSpPr>
          <p:cNvPr id="69" name="Section: Table 3"/>
          <p:cNvGrpSpPr/>
          <p:nvPr/>
        </p:nvGrpSpPr>
        <p:grpSpPr>
          <a:xfrm>
            <a:off x="16302038" y="21319447"/>
            <a:ext cx="16743959" cy="3327731"/>
            <a:chOff x="16302038" y="21319447"/>
            <a:chExt cx="16743959" cy="3327731"/>
          </a:xfrm>
        </p:grpSpPr>
        <p:sp>
          <p:nvSpPr>
            <p:cNvPr id="45" name="Caption: Table 3. Masking the sink tokens at inference (N"/>
            <p:cNvSpPr txBox="1"/>
            <p:nvPr/>
          </p:nvSpPr>
          <p:spPr>
            <a:xfrm>
              <a:off x="16302038" y="21319447"/>
              <a:ext cx="16743959" cy="44542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50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024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Table 3.</a:t>
              </a:r>
              <a:r>
                <a:rPr lang="en-US" sz="3024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Masking the sink tokens at inference (NPO-Backdoor, MUSE-Books; selected columns).</a:t>
              </a:r>
              <a:endParaRPr lang="en-US" sz="3024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graphicFrame>
          <p:nvGraphicFramePr>
            <p:cNvPr id="46" name="Table: Setting"/>
            <p:cNvGraphicFramePr>
              <a:graphicFrameLocks noGrp="1"/>
            </p:cNvGraphicFramePr>
            <p:nvPr/>
          </p:nvGraphicFramePr>
          <p:xfrm>
            <a:off x="17966482" y="21995226"/>
            <a:ext cx="13315206" cy="1899311"/>
          </p:xfrm>
          <a:graphic>
            <a:graphicData uri="http://schemas.openxmlformats.org/drawingml/2006/table">
              <a:tbl>
                <a:tblPr firstRow="0" bandRow="0"/>
                <a:tblGrid>
                  <a:gridCol w="4409000"/>
                  <a:gridCol w="1816546"/>
                  <a:gridCol w="1499262"/>
                  <a:gridCol w="1816546"/>
                  <a:gridCol w="1957074"/>
                  <a:gridCol w="1816778"/>
                </a:tblGrid>
                <a:tr h="471124">
                  <a:tc rowSpan="2">
                    <a:txBody>
                      <a:bodyPr/>
                      <a:lstStyle/>
                      <a:p>
                        <a:pPr algn="l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Setting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29633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gridSpan="2"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UE ↓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29633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hMerge="1">
                    <a:txBody>
                      <a:bodyPr/>
                      <a:lstStyle/>
                      <a:p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29633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gridSpan="2"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BE ↑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29633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hMerge="1">
                    <a:txBody>
                      <a:bodyPr/>
                      <a:lstStyle/>
                      <a:p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29633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UT ↑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29633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</a:tr>
                <a:tr h="463715">
                  <a:tc vMerge="1">
                    <a:txBody>
                      <a:bodyPr/>
                      <a:lstStyle/>
                      <a:p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KM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14817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VM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14817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KM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14817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VM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14817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KM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14817">
                        <a:solidFill>
                          <a:srgbClr val="000000"/>
                        </a:solidFill>
                      </a:lnB>
                      <a:noFill/>
                    </a:tcPr>
                  </a:tc>
                </a:tr>
                <a:tr h="463715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NPO-Backdoor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24.42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14817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0.02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14817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55.52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14817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1" i="0" kern="100" dirty="0">
                            <a:solidFill>
                              <a:srgbClr val="C00000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90.71</a:t>
                        </a:r>
                        <a:endParaRPr lang="en-US" sz="2742" b="0" i="0" kern="100" dirty="0">
                          <a:solidFill>
                            <a:srgbClr val="C00000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14817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60.47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14817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</a:tr>
                <a:tr h="471124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+ Sink mask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32.85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0.14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40.77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1" i="0" kern="100" dirty="0">
                            <a:solidFill>
                              <a:srgbClr val="C00000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0.14</a:t>
                        </a:r>
                        <a:endParaRPr lang="en-US" sz="2742" b="0" i="0" kern="100" dirty="0">
                          <a:solidFill>
                            <a:srgbClr val="C00000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58.02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noFill/>
                    </a:tcPr>
                  </a:tc>
                </a:tr>
              </a:tbl>
            </a:graphicData>
          </a:graphic>
        </p:graphicFrame>
        <p:sp>
          <p:nvSpPr>
            <p:cNvPr id="47" name="Bullets: Masking collapses recovery (BE-VM 90.71 → 0.14):"/>
            <p:cNvSpPr txBox="1"/>
            <p:nvPr/>
          </p:nvSpPr>
          <p:spPr>
            <a:xfrm>
              <a:off x="16302038" y="24048145"/>
              <a:ext cx="16743959" cy="59903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574152" indent="-574152">
                <a:lnSpc>
                  <a:spcPts val="4717"/>
                </a:lnSpc>
                <a:spcBef>
                  <a:spcPts val="0"/>
                </a:spcBef>
                <a:spcAft>
                  <a:spcPts val="0"/>
                </a:spcAft>
                <a:buClr>
                  <a:srgbClr val="111111"/>
                </a:buClr>
                <a:buSzPct val="78000"/>
                <a:buFont typeface="Wingdings" pitchFamily="2" charset="2"/>
                <a:buChar char="v"/>
              </a:pPr>
              <a:r>
                <a:rPr lang="en-US" sz="3931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Masking collapses recovery (BE-VM </a:t>
              </a:r>
              <a:r>
                <a:rPr lang="en-US" sz="3931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90.71 → 0.14</a:t>
              </a:r>
              <a:r>
                <a:rPr lang="en-US" sz="3931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): </a:t>
              </a:r>
              <a:r>
                <a:rPr lang="en-US" sz="3931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the sink is the mechanism</a:t>
              </a:r>
              <a:r>
                <a:rPr lang="en-US" sz="3931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.</a:t>
              </a:r>
              <a:endParaRPr lang="en-US" sz="3931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70" name="Section: How to Train It? Value-Norm Alignment"/>
          <p:cNvGrpSpPr/>
          <p:nvPr/>
        </p:nvGrpSpPr>
        <p:grpSpPr>
          <a:xfrm>
            <a:off x="33490185" y="4173207"/>
            <a:ext cx="17255752" cy="9152648"/>
            <a:chOff x="33490185" y="4173207"/>
            <a:chExt cx="17255752" cy="9152648"/>
          </a:xfrm>
        </p:grpSpPr>
        <p:sp>
          <p:nvSpPr>
            <p:cNvPr id="48" name="Section title: How to Train It? Value-Norm Alignment"/>
            <p:cNvSpPr txBox="1"/>
            <p:nvPr/>
          </p:nvSpPr>
          <p:spPr>
            <a:xfrm>
              <a:off x="33509396" y="4173207"/>
              <a:ext cx="17236541" cy="70506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678904" indent="-678904">
                <a:lnSpc>
                  <a:spcPts val="5552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141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How to Train It? Value-Norm Alignment</a:t>
              </a:r>
              <a:endParaRPr lang="en-US" sz="5141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49" name="Picture: value-norm-correlation" descr="Pearson correlation of sink-token value norms for three comparisons"/>
            <p:cNvPicPr>
              <a:picLocks noChangeAspect="1"/>
            </p:cNvPicPr>
            <p:nvPr/>
          </p:nvPicPr>
          <p:blipFill>
            <a:blip r:embed="rId40">
              <a:extLst>
                <a:ext uri="{96DAC541-7B7A-43D3-8B79-37D633B846F1}">
                  <asvg:svgBlip xmlns:asvg="http://schemas.microsoft.com/office/drawing/2016/SVG/main" r:embed="rId41"/>
                </a:ext>
              </a:extLst>
            </a:blip>
            <a:stretch>
              <a:fillRect/>
            </a:stretch>
          </p:blipFill>
          <p:spPr>
            <a:xfrm>
              <a:off x="33509396" y="5031879"/>
              <a:ext cx="6403694" cy="6187232"/>
            </a:xfrm>
            <a:prstGeom prst="rect">
              <a:avLst/>
            </a:prstGeom>
          </p:spPr>
        </p:pic>
        <p:sp>
          <p:nvSpPr>
            <p:cNvPr id="50" name="Panel label: Figure 4. Value-norm correlation"/>
            <p:cNvSpPr txBox="1"/>
            <p:nvPr/>
          </p:nvSpPr>
          <p:spPr>
            <a:xfrm>
              <a:off x="33490185" y="11270274"/>
              <a:ext cx="6442116" cy="422391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32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024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Figure 4.</a:t>
              </a:r>
              <a:r>
                <a:rPr lang="en-US" sz="3024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Value-norm correlation</a:t>
              </a:r>
              <a:endParaRPr lang="en-US" sz="3024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Equations: align with … ⇒ forget align with … ⇒ recover"/>
                <p:cNvSpPr/>
                <p:nvPr/>
              </p:nvSpPr>
              <p:spPr>
                <a:xfrm>
                  <a:off x="40220652" y="6404388"/>
                  <a:ext cx="10396554" cy="3915767"/>
                </a:xfrm>
                <a:prstGeom prst="roundRect">
                  <a:avLst>
                    <a:gd name="adj" fmla="val 6530"/>
                  </a:avLst>
                </a:prstGeom>
                <a:noFill/>
                <a:ln w="51858">
                  <a:solidFill>
                    <a:srgbClr val="18453B"/>
                  </a:solidFill>
                </a:ln>
              </p:spPr>
              <p:txBody>
                <a:bodyPr wrap="square" lIns="168064" tIns="128342" rIns="168064" bIns="128342" anchor="t" rtlCol="0">
                  <a:noAutofit/>
                </a:bodyPr>
                <a:lstStyle/>
                <a:p>
                  <a:pPr algn="ctr" marL="0" indent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14:m>
                    <ns1:oMathPara xmlns:ns1="http://schemas.openxmlformats.org/officeDocument/2006/math">
                      <ns1:oMathParaPr>
                        <ns1:jc ns1:val="centerGroup"/>
                      </ns1:oMathParaPr>
                      <ns1:oMath>
                        <ns1:sSub>
                          <ns1:sSubPr>
                            <ns1:ctrlPr>
                              <a:rPr lang="en-US" sz="3024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sSubPr>
                          <ns1:e>
                            <ns1:r>
                              <a:rPr lang="en-US" sz="3024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ℓ</ns1:t>
                            </ns1:r>
                          </ns1:e>
                          <ns1:sub>
                            <ns1:r>
                              <ns1:rPr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v</ns1:t>
                            </ns1:r>
                            <ns1:r>
                              <ns1:rPr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n</ns1:t>
                            </ns1:r>
                          </ns1:sub>
                        </ns1:sSub>
                        <ns1:r>
                          <ns1:rPr>
                            <ns1:sty ns1:val="p"/>
                          </ns1:rPr>
                          <a:rPr lang="en-US" sz="3024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(</ns1:t>
                        </ns1:r>
                        <ns1:r>
                          <ns1:rPr>
                            <ns1:sty ns1:val="bi"/>
                          </ns1:rPr>
                          <a:rPr lang="en-US" sz="3024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θ</ns1:t>
                        </ns1:r>
                        <ns1:r>
                          <ns1:rPr>
                            <ns1:sty ns1:val="p"/>
                          </ns1:rPr>
                          <a:rPr lang="en-US" sz="3024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)</ns1:t>
                        </ns1:r>
                        <ns1:r>
                          <ns1:rPr>
                            <ns1:sty ns1:val="p"/>
                          </ns1:rPr>
                          <a:rPr lang="en-US" sz="3024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=</ns1:t>
                        </ns1:r>
                        <ns1:sSub>
                          <ns1:sSubPr>
                            <ns1:ctrlPr>
                              <a:rPr lang="en-US" sz="3024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sSubPr>
                          <ns1:e>
                            <ns1:r>
                              <ns1:rPr>
                                <ns1:scr ns1:val="double-struck"/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E</ns1:t>
                            </ns1:r>
                          </ns1:e>
                          <ns1:sub>
                            <ns1:sSub>
                              <ns1:sSubPr>
                                <ns1:ctrlPr>
                                  <a:rPr lang="en-US" sz="3024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ns1:ctrlPr>
                              </ns1:sSubPr>
                              <ns1:e>
                                <ns1:r>
                                  <ns1:rPr>
                                    <ns1:scr ns1:val="script"/>
                                    <ns1:sty ns1:val="p"/>
                                  </ns1:rPr>
                                  <a:rPr lang="en-US" sz="3024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D</ns1:t>
                                </ns1:r>
                              </ns1:e>
                              <ns1:sub>
                                <ns1:r>
                                  <ns1:rPr>
                                    <ns1:sty ns1:val="p"/>
                                  </ns1:rPr>
                                  <a:rPr lang="en-US" sz="3024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f</ns1:t>
                                </ns1:r>
                              </ns1:sub>
                            </ns1:sSub>
                          </ns1:sub>
                        </ns1:sSub>
                        <ns1:d>
                          <ns1:dPr>
                            <ns1:begChr ns1:val="["/>
                            <ns1:sepChr ns1:val=""/>
                            <ns1:endChr ns1:val="]"/>
                            <ns1:grow/>
                            <ns1:ctrlPr>
                              <a:rPr lang="en-US" sz="3024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dPr>
                          <ns1:e>
                            <ns1:sSub>
                              <ns1:sSubPr>
                                <ns1:ctrlPr>
                                  <a:rPr lang="en-US" sz="3024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ns1:ctrlPr>
                              </ns1:sSubPr>
                              <ns1:e>
                                <ns1:r>
                                  <ns1:rPr>
                                    <ns1:sty ns1:val="p"/>
                                  </ns1:rPr>
                                  <a:rPr lang="en-US" sz="3024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Δ</ns1:t>
                                </ns1:r>
                              </ns1:e>
                              <ns1:sub>
                                <ns1:sSub>
                                  <ns1:sSubPr>
                                    <ns1:ctrlPr>
                                      <a:rPr lang="en-US" sz="3024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ns1:ctrlPr>
                                  </ns1:sSubPr>
                                  <ns1:e>
                                    <ns1:r>
                                      <ns1:rPr>
                                        <ns1:scr ns1:val="script"/>
                                        <ns1:sty ns1:val="p"/>
                                      </ns1:rPr>
                                      <a:rPr lang="en-US" sz="3024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D</ns1:t>
                                    </ns1:r>
                                  </ns1:e>
                                  <ns1:sub>
                                    <ns1:r>
                                      <ns1:rPr>
                                        <ns1:sty ns1:val="p"/>
                                      </ns1:rPr>
                                      <a:rPr lang="en-US" sz="3024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f</ns1:t>
                                    </ns1:r>
                                  </ns1:sub>
                                </ns1:sSub>
                              </ns1:sub>
                            </ns1:sSub>
                            <ns1:r>
                              <ns1:rPr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(</ns1:t>
                            </ns1:r>
                            <ns1:r>
                              <ns1:rPr>
                                <ns1:sty ns1:val="b"/>
                              </ns1:rPr>
                              <a:rPr lang="en-US" sz="3024" b="1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x</ns1:t>
                            </ns1:r>
                            <ns1:r>
                              <ns1:rPr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;</ns1:t>
                            </ns1:r>
                            <ns1:r>
                              <ns1:rPr>
                                <ns1:sty ns1:val="bi"/>
                              </ns1:rPr>
                              <a:rPr lang="en-US" sz="3024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θ</ns1:t>
                            </ns1:r>
                            <ns1:r>
                              <ns1:rPr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)</ns1:t>
                            </ns1:r>
                          </ns1:e>
                        </ns1:d>
                        <ns1:r>
                          <ns1:rPr>
                            <ns1:sty ns1:val="p"/>
                          </ns1:rPr>
                          <a:rPr lang="en-US" sz="3024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+</ns1:t>
                        </ns1:r>
                        <ns1:sSub>
                          <ns1:sSubPr>
                            <ns1:ctrlPr>
                              <a:rPr lang="en-US" sz="3024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sSubPr>
                          <ns1:e>
                            <ns1:r>
                              <ns1:rPr>
                                <ns1:scr ns1:val="double-struck"/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E</ns1:t>
                            </ns1:r>
                          </ns1:e>
                          <ns1:sub>
                            <ns1:sSub>
                              <ns1:sSubPr>
                                <ns1:ctrlPr>
                                  <a:rPr lang="en-US" sz="3024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ns1:ctrlPr>
                              </ns1:sSubPr>
                              <ns1:e>
                                <ns1:r>
                                  <ns1:rPr>
                                    <ns1:scr ns1:val="script"/>
                                    <ns1:sty ns1:val="p"/>
                                  </ns1:rPr>
                                  <a:rPr lang="en-US" sz="3024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D</ns1:t>
                                </ns1:r>
                              </ns1:e>
                              <ns1:sub>
                                <ns1:r>
                                  <ns1:rPr>
                                    <ns1:sty ns1:val="p"/>
                                  </ns1:rPr>
                                  <a:rPr lang="en-US" sz="3024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p</ns1:t>
                                </ns1:r>
                              </ns1:sub>
                            </ns1:sSub>
                          </ns1:sub>
                        </ns1:sSub>
                        <ns1:d>
                          <ns1:dPr>
                            <ns1:begChr ns1:val="["/>
                            <ns1:sepChr ns1:val=""/>
                            <ns1:endChr ns1:val="]"/>
                            <ns1:grow/>
                            <ns1:ctrlPr>
                              <a:rPr lang="en-US" sz="3024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dPr>
                          <ns1:e>
                            <ns1:sSub>
                              <ns1:sSubPr>
                                <ns1:ctrlPr>
                                  <a:rPr lang="en-US" sz="3024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ns1:ctrlPr>
                              </ns1:sSubPr>
                              <ns1:e>
                                <ns1:r>
                                  <ns1:rPr>
                                    <ns1:sty ns1:val="p"/>
                                  </ns1:rPr>
                                  <a:rPr lang="en-US" sz="3024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Δ</ns1:t>
                                </ns1:r>
                              </ns1:e>
                              <ns1:sub>
                                <ns1:sSub>
                                  <ns1:sSubPr>
                                    <ns1:ctrlPr>
                                      <a:rPr lang="en-US" sz="3024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ns1:ctrlPr>
                                  </ns1:sSubPr>
                                  <ns1:e>
                                    <ns1:r>
                                      <ns1:rPr>
                                        <ns1:scr ns1:val="script"/>
                                        <ns1:sty ns1:val="p"/>
                                      </ns1:rPr>
                                      <a:rPr lang="en-US" sz="3024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D</ns1:t>
                                    </ns1:r>
                                  </ns1:e>
                                  <ns1:sub>
                                    <ns1:r>
                                      <ns1:rPr>
                                        <ns1:sty ns1:val="p"/>
                                      </ns1:rPr>
                                      <a:rPr lang="en-US" sz="3024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p</ns1:t>
                                    </ns1:r>
                                  </ns1:sub>
                                </ns1:sSub>
                              </ns1:sub>
                            </ns1:sSub>
                            <ns1:r>
                              <ns1:rPr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(</ns1:t>
                            </ns1:r>
                            <ns1:r>
                              <ns1:rPr>
                                <ns1:sty ns1:val="b"/>
                              </ns1:rPr>
                              <a:rPr lang="en-US" sz="3024" b="1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x</ns1:t>
                            </ns1:r>
                            <ns1:r>
                              <ns1:rPr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;</ns1:t>
                            </ns1:r>
                            <ns1:r>
                              <ns1:rPr>
                                <ns1:sty ns1:val="bi"/>
                              </ns1:rPr>
                              <a:rPr lang="en-US" sz="3024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θ</ns1:t>
                            </ns1:r>
                            <ns1:r>
                              <ns1:rPr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)</ns1:t>
                            </ns1:r>
                          </ns1:e>
                        </ns1:d>
                      </ns1:oMath>
                    </ns1:oMathPara>
                  </a14:m>
                  <a:endParaRPr lang="en-US" sz="3024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0" indent="0">
                    <a:lnSpc>
                      <a:spcPct val="100000"/>
                    </a:lnSpc>
                    <a:spcBef>
                      <a:spcPts val="705"/>
                    </a:spcBef>
                    <a:spcAft>
                      <a:spcPts val="0"/>
                    </a:spcAft>
                    <a:buNone/>
                  </a:pPr>
                  <a14:m>
                    <ns1:oMathPara xmlns:ns1="http://schemas.openxmlformats.org/officeDocument/2006/math">
                      <ns1:oMathParaPr>
                        <ns1:jc ns1:val="centerGroup"/>
                      </ns1:oMathParaPr>
                      <ns1:oMath>
                        <ns1:sSub>
                          <ns1:sSubPr>
                            <ns1:ctrlPr>
                              <a:rPr lang="en-US" sz="3024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sSubPr>
                          <ns1:e>
                            <ns1:r>
                              <ns1:rPr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Δ</ns1:t>
                            </ns1:r>
                          </ns1:e>
                          <ns1:sub>
                            <ns1:sSub>
                              <ns1:sSubPr>
                                <ns1:ctrlPr>
                                  <a:rPr lang="en-US" sz="3024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ns1:ctrlPr>
                              </ns1:sSubPr>
                              <ns1:e>
                                <ns1:r>
                                  <ns1:rPr>
                                    <ns1:scr ns1:val="script"/>
                                    <ns1:sty ns1:val="p"/>
                                  </ns1:rPr>
                                  <a:rPr lang="en-US" sz="3024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D</ns1:t>
                                </ns1:r>
                              </ns1:e>
                              <ns1:sub>
                                <ns1:r>
                                  <ns1:rPr>
                                    <ns1:sty ns1:val="p"/>
                                  </ns1:rPr>
                                  <a:rPr lang="en-US" sz="3024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f</ns1:t>
                                </ns1:r>
                              </ns1:sub>
                            </ns1:sSub>
                          </ns1:sub>
                        </ns1:sSub>
                        <ns1:r>
                          <ns1:rPr>
                            <ns1:sty ns1:val="p"/>
                          </ns1:rPr>
                          <a:rPr lang="en-US" sz="3024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=</ns1:t>
                        </ns1:r>
                        <ns1:f>
                          <ns1:fPr>
                            <ns1:type ns1:val="bar"/>
                            <ns1:ctrlPr>
                              <a:rPr lang="en-US" sz="3024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fPr>
                          <ns1:num>
                            <ns1:r>
                              <a:rPr lang="en-US" sz="3024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1</ns1:t>
                            </ns1:r>
                          </ns1:num>
                          <ns1:den>
                            <ns1:r>
                              <ns1:rPr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|</ns1:t>
                            </ns1:r>
                            <ns1:r>
                              <ns1:rPr>
                                <ns1:scr ns1:val="script"/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S</ns1:t>
                            </ns1:r>
                            <ns1:r>
                              <ns1:rPr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|</ns1:t>
                            </ns1:r>
                          </ns1:den>
                        </ns1:f>
                        <ns1:nary>
                          <ns1:naryPr>
                            <ns1:chr ns1:val="∑"/>
                            <ns1:limLoc ns1:val="subSup"/>
                            <ns1:subHide ns1:val="off"/>
                            <ns1:supHide ns1:val="on"/>
                            <ns1:ctrlPr>
                              <a:rPr lang="en-US" sz="3024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naryPr>
                          <ns1:sub>
                            <ns1:r>
                              <a:rPr lang="en-US" sz="3024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i</ns1:t>
                            </ns1:r>
                            <ns1:r>
                              <ns1:rPr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∈</ns1:t>
                            </ns1:r>
                            <ns1:r>
                              <ns1:rPr>
                                <ns1:scr ns1:val="script"/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S</ns1:t>
                            </ns1:r>
                          </ns1:sub>
                          <ns1:sup>
                            <ns1:r>
                              <a:rPr lang="en-US" sz="3024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​</ns1:t>
                            </ns1:r>
                          </ns1:sup>
                          <ns1:e>
                            <ns1:sSup>
                              <ns1:sSupPr>
                                <ns1:ctrlPr>
                                  <a:rPr lang="en-US" sz="3024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ns1:ctrlPr>
                              </ns1:sSupPr>
                              <ns1:e>
                                <ns1:d>
                                  <ns1:dPr>
                                    <ns1:begChr ns1:val="("/>
                                    <ns1:sepChr ns1:val=""/>
                                    <ns1:endChr ns1:val=")"/>
                                    <ns1:grow/>
                                    <ns1:ctrlPr>
                                      <a:rPr lang="en-US" sz="3024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ns1:ctrlPr>
                                  </ns1:dPr>
                                  <ns1:e>
                                    <ns1:r>
                                      <ns1:rPr>
                                        <ns1:sty ns1:val="p"/>
                                      </ns1:rPr>
                                      <a:rPr lang="en-US" sz="3024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∥</ns1:t>
                                    </ns1:r>
                                    <ns1:sSub>
                                      <ns1:sSubPr>
                                        <ns1:ctrlPr>
                                          <a:rPr lang="en-US" sz="3024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ns1:ctrlPr>
                                      </ns1:sSubPr>
                                      <ns1:e>
                                        <ns1:r>
                                          <ns1:rPr>
                                            <ns1:sty ns1:val="b"/>
                                          </ns1:rPr>
                                          <a:rPr lang="en-US" sz="3024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v</ns1:t>
                                        </ns1:r>
                                      </ns1:e>
                                      <ns1:sub>
                                        <ns1:r>
                                          <a:rPr lang="en-US" sz="3024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i</ns1:t>
                                        </ns1:r>
                                      </ns1:sub>
                                    </ns1:sSub>
                                    <ns1:r>
                                      <ns1:rPr>
                                        <ns1:sty ns1:val="p"/>
                                      </ns1:rPr>
                                      <a:rPr lang="en-US" sz="3024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(</ns1:t>
                                    </ns1:r>
                                    <ns1:r>
                                      <ns1:rPr>
                                        <ns1:sty ns1:val="b"/>
                                      </ns1:rPr>
                                      <a:rPr lang="en-US" sz="3024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x</ns1:t>
                                    </ns1:r>
                                    <ns1:r>
                                      <ns1:rPr>
                                        <ns1:sty ns1:val="p"/>
                                      </ns1:rPr>
                                      <a:rPr lang="en-US" sz="3024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;</ns1:t>
                                    </ns1:r>
                                    <ns1:r>
                                      <ns1:rPr>
                                        <ns1:sty ns1:val="bi"/>
                                      </ns1:rPr>
                                      <a:rPr lang="en-US" sz="3024" b="1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θ</ns1:t>
                                    </ns1:r>
                                    <ns1:r>
                                      <ns1:rPr>
                                        <ns1:sty ns1:val="p"/>
                                      </ns1:rPr>
                                      <a:rPr lang="en-US" sz="3024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)</ns1:t>
                                    </ns1:r>
                                    <ns1:sSub>
                                      <ns1:sSubPr>
                                        <ns1:ctrlPr>
                                          <a:rPr lang="en-US" sz="3024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ns1:ctrlPr>
                                      </ns1:sSubPr>
                                      <ns1:e>
                                        <ns1:r>
                                          <ns1:rPr>
                                            <ns1:sty ns1:val="p"/>
                                          </ns1:rPr>
                                          <a:rPr lang="en-US" sz="3024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∥</ns1:t>
                                        </ns1:r>
                                      </ns1:e>
                                      <ns1:sub>
                                        <ns1:r>
                                          <a:rPr lang="en-US" sz="3024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2</ns1:t>
                                        </ns1:r>
                                      </ns1:sub>
                                    </ns1:sSub>
                                    <ns1:r>
                                      <ns1:rPr>
                                        <ns1:sty ns1:val="p"/>
                                      </ns1:rPr>
                                      <a:rPr lang="en-US" sz="3024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−</ns1:t>
                                    </ns1:r>
                                    <ns1:r>
                                      <ns1:rPr>
                                        <ns1:sty ns1:val="p"/>
                                      </ns1:rPr>
                                      <a:rPr lang="en-US" sz="3024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∥</ns1:t>
                                    </ns1:r>
                                    <ns1:sSub>
                                      <ns1:sSubPr>
                                        <ns1:ctrlPr>
                                          <a:rPr lang="en-US" sz="3024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ns1:ctrlPr>
                                      </ns1:sSubPr>
                                      <ns1:e>
                                        <ns1:r>
                                          <ns1:rPr>
                                            <ns1:sty ns1:val="b"/>
                                          </ns1:rPr>
                                          <a:rPr lang="en-US" sz="3024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v</ns1:t>
                                        </ns1:r>
                                      </ns1:e>
                                      <ns1:sub>
                                        <ns1:r>
                                          <a:rPr lang="en-US" sz="3024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i</ns1:t>
                                        </ns1:r>
                                      </ns1:sub>
                                    </ns1:sSub>
                                    <ns1:r>
                                      <ns1:rPr>
                                        <ns1:sty ns1:val="p"/>
                                      </ns1:rPr>
                                      <a:rPr lang="en-US" sz="3024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(</ns1:t>
                                    </ns1:r>
                                    <ns1:r>
                                      <ns1:rPr>
                                        <ns1:sty ns1:val="b"/>
                                      </ns1:rPr>
                                      <a:rPr lang="en-US" sz="3024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x</ns1:t>
                                    </ns1:r>
                                    <ns1:r>
                                      <ns1:rPr>
                                        <ns1:sty ns1:val="p"/>
                                      </ns1:rPr>
                                      <a:rPr lang="en-US" sz="3024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;</ns1:t>
                                    </ns1:r>
                                    <ns1:sSub>
                                      <ns1:sSubPr>
                                        <ns1:ctrlPr>
                                          <a:rPr lang="en-US" sz="3024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ns1:ctrlPr>
                                      </ns1:sSubPr>
                                      <ns1:e>
                                        <ns1:r>
                                          <ns1:rPr>
                                            <ns1:sty ns1:val="bi"/>
                                          </ns1:rPr>
                                          <a:rPr lang="en-US" sz="3024" b="1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θ</ns1:t>
                                        </ns1:r>
                                      </ns1:e>
                                      <ns1:sub>
                                        <ns1:r>
                                          <ns1:rPr>
                                            <ns1:sty ns1:val="p"/>
                                          </ns1:rPr>
                                          <a:rPr lang="en-US" sz="3024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u</ns1:t>
                                        </ns1:r>
                                      </ns1:sub>
                                    </ns1:sSub>
                                    <ns1:r>
                                      <ns1:rPr>
                                        <ns1:sty ns1:val="p"/>
                                      </ns1:rPr>
                                      <a:rPr lang="en-US" sz="3024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)</ns1:t>
                                    </ns1:r>
                                    <ns1:sSub>
                                      <ns1:sSubPr>
                                        <ns1:ctrlPr>
                                          <a:rPr lang="en-US" sz="3024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ns1:ctrlPr>
                                      </ns1:sSubPr>
                                      <ns1:e>
                                        <ns1:r>
                                          <ns1:rPr>
                                            <ns1:sty ns1:val="p"/>
                                          </ns1:rPr>
                                          <a:rPr lang="en-US" sz="3024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∥</ns1:t>
                                        </ns1:r>
                                      </ns1:e>
                                      <ns1:sub>
                                        <ns1:r>
                                          <a:rPr lang="en-US" sz="3024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2</ns1:t>
                                        </ns1:r>
                                      </ns1:sub>
                                    </ns1:sSub>
                                  </ns1:e>
                                </ns1:d>
                              </ns1:e>
                              <ns1:sup>
                                <ns1:r>
                                  <a:rPr lang="en-US" sz="3024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2</ns1:t>
                                </ns1:r>
                              </ns1:sup>
                            </ns1:sSup>
                          </ns1:e>
                        </ns1:nary>
                      </ns1:oMath>
                    </ns1:oMathPara>
                  </a14:m>
                  <a:endParaRPr lang="en-US" sz="3024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r" marL="0" indent="0">
                    <a:lnSpc>
                      <a:spcPts val="3629"/>
                    </a:lnSpc>
                    <a:spcBef>
                      <a:spcPts val="303"/>
                    </a:spcBef>
                    <a:spcAft>
                      <a:spcPts val="0"/>
                    </a:spcAft>
                    <a:buNone/>
                  </a:pPr>
                  <a:r>
                    <a:rPr lang="en-US" sz="3024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align with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3024" b="0" i="1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i"/>
                            </m:rPr>
                            <a:rPr lang="en-US" sz="3024" b="1" i="1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024" b="0" i="0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</m:oMath>
                  </a14:m>
                  <a:r>
                    <a:rPr lang="en-US" sz="3024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 ⇒ forget</a:t>
                  </a:r>
                  <a:endParaRPr lang="en-US" sz="3024" b="0" i="0" kern="100" dirty="0">
                    <a:solidFill>
                      <a:srgbClr val="18453B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0" indent="0">
                    <a:lnSpc>
                      <a:spcPct val="100000"/>
                    </a:lnSpc>
                    <a:spcBef>
                      <a:spcPts val="705"/>
                    </a:spcBef>
                    <a:spcAft>
                      <a:spcPts val="0"/>
                    </a:spcAft>
                    <a:buNone/>
                  </a:pPr>
                  <a14:m>
                    <ns1:oMathPara xmlns:ns1="http://schemas.openxmlformats.org/officeDocument/2006/math">
                      <ns1:oMathParaPr>
                        <ns1:jc ns1:val="centerGroup"/>
                      </ns1:oMathParaPr>
                      <ns1:oMath>
                        <ns1:sSub>
                          <ns1:sSubPr>
                            <ns1:ctrlPr>
                              <a:rPr lang="en-US" sz="3024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sSubPr>
                          <ns1:e>
                            <ns1:r>
                              <ns1:rPr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Δ</ns1:t>
                            </ns1:r>
                          </ns1:e>
                          <ns1:sub>
                            <ns1:sSub>
                              <ns1:sSubPr>
                                <ns1:ctrlPr>
                                  <a:rPr lang="en-US" sz="3024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ns1:ctrlPr>
                              </ns1:sSubPr>
                              <ns1:e>
                                <ns1:r>
                                  <ns1:rPr>
                                    <ns1:scr ns1:val="script"/>
                                    <ns1:sty ns1:val="p"/>
                                  </ns1:rPr>
                                  <a:rPr lang="en-US" sz="3024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D</ns1:t>
                                </ns1:r>
                              </ns1:e>
                              <ns1:sub>
                                <ns1:r>
                                  <ns1:rPr>
                                    <ns1:sty ns1:val="p"/>
                                  </ns1:rPr>
                                  <a:rPr lang="en-US" sz="3024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p</ns1:t>
                                </ns1:r>
                              </ns1:sub>
                            </ns1:sSub>
                          </ns1:sub>
                        </ns1:sSub>
                        <ns1:r>
                          <ns1:rPr>
                            <ns1:sty ns1:val="p"/>
                          </ns1:rPr>
                          <a:rPr lang="en-US" sz="3024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=</ns1:t>
                        </ns1:r>
                        <ns1:f>
                          <ns1:fPr>
                            <ns1:type ns1:val="bar"/>
                            <ns1:ctrlPr>
                              <a:rPr lang="en-US" sz="3024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fPr>
                          <ns1:num>
                            <ns1:r>
                              <a:rPr lang="en-US" sz="3024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1</ns1:t>
                            </ns1:r>
                          </ns1:num>
                          <ns1:den>
                            <ns1:r>
                              <ns1:rPr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|</ns1:t>
                            </ns1:r>
                            <ns1:r>
                              <ns1:rPr>
                                <ns1:scr ns1:val="script"/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S</ns1:t>
                            </ns1:r>
                            <ns1:r>
                              <ns1:rPr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|</ns1:t>
                            </ns1:r>
                          </ns1:den>
                        </ns1:f>
                        <ns1:nary>
                          <ns1:naryPr>
                            <ns1:chr ns1:val="∑"/>
                            <ns1:limLoc ns1:val="subSup"/>
                            <ns1:subHide ns1:val="off"/>
                            <ns1:supHide ns1:val="on"/>
                            <ns1:ctrlPr>
                              <a:rPr lang="en-US" sz="3024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naryPr>
                          <ns1:sub>
                            <ns1:r>
                              <a:rPr lang="en-US" sz="3024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i</ns1:t>
                            </ns1:r>
                            <ns1:r>
                              <ns1:rPr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∈</ns1:t>
                            </ns1:r>
                            <ns1:r>
                              <ns1:rPr>
                                <ns1:scr ns1:val="script"/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S</ns1:t>
                            </ns1:r>
                          </ns1:sub>
                          <ns1:sup>
                            <ns1:r>
                              <a:rPr lang="en-US" sz="3024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​</ns1:t>
                            </ns1:r>
                          </ns1:sup>
                          <ns1:e>
                            <ns1:sSup>
                              <ns1:sSupPr>
                                <ns1:ctrlPr>
                                  <a:rPr lang="en-US" sz="3024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ns1:ctrlPr>
                              </ns1:sSupPr>
                              <ns1:e>
                                <ns1:d>
                                  <ns1:dPr>
                                    <ns1:begChr ns1:val="("/>
                                    <ns1:sepChr ns1:val=""/>
                                    <ns1:endChr ns1:val=")"/>
                                    <ns1:grow/>
                                    <ns1:ctrlPr>
                                      <a:rPr lang="en-US" sz="3024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ns1:ctrlPr>
                                  </ns1:dPr>
                                  <ns1:e>
                                    <ns1:r>
                                      <ns1:rPr>
                                        <ns1:sty ns1:val="p"/>
                                      </ns1:rPr>
                                      <a:rPr lang="en-US" sz="3024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∥</ns1:t>
                                    </ns1:r>
                                    <ns1:sSub>
                                      <ns1:sSubPr>
                                        <ns1:ctrlPr>
                                          <a:rPr lang="en-US" sz="3024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ns1:ctrlPr>
                                      </ns1:sSubPr>
                                      <ns1:e>
                                        <ns1:r>
                                          <ns1:rPr>
                                            <ns1:sty ns1:val="b"/>
                                          </ns1:rPr>
                                          <a:rPr lang="en-US" sz="3024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v</ns1:t>
                                        </ns1:r>
                                      </ns1:e>
                                      <ns1:sub>
                                        <ns1:r>
                                          <a:rPr lang="en-US" sz="3024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i</ns1:t>
                                        </ns1:r>
                                      </ns1:sub>
                                    </ns1:sSub>
                                    <ns1:r>
                                      <ns1:rPr>
                                        <ns1:sty ns1:val="p"/>
                                      </ns1:rPr>
                                      <a:rPr lang="en-US" sz="3024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(</ns1:t>
                                    </ns1:r>
                                    <ns1:r>
                                      <ns1:rPr>
                                        <ns1:sty ns1:val="b"/>
                                      </ns1:rPr>
                                      <a:rPr lang="en-US" sz="3024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x</ns1:t>
                                    </ns1:r>
                                    <ns1:r>
                                      <ns1:rPr>
                                        <ns1:sty ns1:val="p"/>
                                      </ns1:rPr>
                                      <a:rPr lang="en-US" sz="3024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;</ns1:t>
                                    </ns1:r>
                                    <ns1:r>
                                      <ns1:rPr>
                                        <ns1:sty ns1:val="bi"/>
                                      </ns1:rPr>
                                      <a:rPr lang="en-US" sz="3024" b="1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θ</ns1:t>
                                    </ns1:r>
                                    <ns1:r>
                                      <ns1:rPr>
                                        <ns1:sty ns1:val="p"/>
                                      </ns1:rPr>
                                      <a:rPr lang="en-US" sz="3024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)</ns1:t>
                                    </ns1:r>
                                    <ns1:sSub>
                                      <ns1:sSubPr>
                                        <ns1:ctrlPr>
                                          <a:rPr lang="en-US" sz="3024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ns1:ctrlPr>
                                      </ns1:sSubPr>
                                      <ns1:e>
                                        <ns1:r>
                                          <ns1:rPr>
                                            <ns1:sty ns1:val="p"/>
                                          </ns1:rPr>
                                          <a:rPr lang="en-US" sz="3024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∥</ns1:t>
                                        </ns1:r>
                                      </ns1:e>
                                      <ns1:sub>
                                        <ns1:r>
                                          <a:rPr lang="en-US" sz="3024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2</ns1:t>
                                        </ns1:r>
                                      </ns1:sub>
                                    </ns1:sSub>
                                    <ns1:r>
                                      <ns1:rPr>
                                        <ns1:sty ns1:val="p"/>
                                      </ns1:rPr>
                                      <a:rPr lang="en-US" sz="3024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−</ns1:t>
                                    </ns1:r>
                                    <ns1:r>
                                      <ns1:rPr>
                                        <ns1:sty ns1:val="p"/>
                                      </ns1:rPr>
                                      <a:rPr lang="en-US" sz="3024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∥</ns1:t>
                                    </ns1:r>
                                    <ns1:sSub>
                                      <ns1:sSubPr>
                                        <ns1:ctrlPr>
                                          <a:rPr lang="en-US" sz="3024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ns1:ctrlPr>
                                      </ns1:sSubPr>
                                      <ns1:e>
                                        <ns1:r>
                                          <ns1:rPr>
                                            <ns1:sty ns1:val="b"/>
                                          </ns1:rPr>
                                          <a:rPr lang="en-US" sz="3024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v</ns1:t>
                                        </ns1:r>
                                      </ns1:e>
                                      <ns1:sub>
                                        <ns1:r>
                                          <a:rPr lang="en-US" sz="3024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i</ns1:t>
                                        </ns1:r>
                                      </ns1:sub>
                                    </ns1:sSub>
                                    <ns1:r>
                                      <ns1:rPr>
                                        <ns1:sty ns1:val="p"/>
                                      </ns1:rPr>
                                      <a:rPr lang="en-US" sz="3024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(</ns1:t>
                                    </ns1:r>
                                    <ns1:r>
                                      <ns1:rPr>
                                        <ns1:sty ns1:val="b"/>
                                      </ns1:rPr>
                                      <a:rPr lang="en-US" sz="3024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x</ns1:t>
                                    </ns1:r>
                                    <ns1:r>
                                      <ns1:rPr>
                                        <ns1:sty ns1:val="p"/>
                                      </ns1:rPr>
                                      <a:rPr lang="en-US" sz="3024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;</ns1:t>
                                    </ns1:r>
                                    <ns1:sSub>
                                      <ns1:sSubPr>
                                        <ns1:ctrlPr>
                                          <a:rPr lang="en-US" sz="3024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ns1:ctrlPr>
                                      </ns1:sSubPr>
                                      <ns1:e>
                                        <ns1:r>
                                          <ns1:rPr>
                                            <ns1:sty ns1:val="bi"/>
                                          </ns1:rPr>
                                          <a:rPr lang="en-US" sz="3024" b="1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θ</ns1:t>
                                        </ns1:r>
                                      </ns1:e>
                                      <ns1:sub>
                                        <ns1:r>
                                          <ns1:rPr>
                                            <ns1:sty ns1:val="p"/>
                                          </ns1:rPr>
                                          <a:rPr lang="en-US" sz="3024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o</ns1:t>
                                        </ns1:r>
                                      </ns1:sub>
                                    </ns1:sSub>
                                    <ns1:r>
                                      <ns1:rPr>
                                        <ns1:sty ns1:val="p"/>
                                      </ns1:rPr>
                                      <a:rPr lang="en-US" sz="3024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)</ns1:t>
                                    </ns1:r>
                                    <ns1:sSub>
                                      <ns1:sSubPr>
                                        <ns1:ctrlPr>
                                          <a:rPr lang="en-US" sz="3024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ns1:ctrlPr>
                                      </ns1:sSubPr>
                                      <ns1:e>
                                        <ns1:r>
                                          <ns1:rPr>
                                            <ns1:sty ns1:val="p"/>
                                          </ns1:rPr>
                                          <a:rPr lang="en-US" sz="3024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∥</ns1:t>
                                        </ns1:r>
                                      </ns1:e>
                                      <ns1:sub>
                                        <ns1:r>
                                          <a:rPr lang="en-US" sz="3024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2</ns1:t>
                                        </ns1:r>
                                      </ns1:sub>
                                    </ns1:sSub>
                                  </ns1:e>
                                </ns1:d>
                              </ns1:e>
                              <ns1:sup>
                                <ns1:r>
                                  <a:rPr lang="en-US" sz="3024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2</ns1:t>
                                </ns1:r>
                              </ns1:sup>
                            </ns1:sSup>
                          </ns1:e>
                        </ns1:nary>
                      </ns1:oMath>
                    </ns1:oMathPara>
                  </a14:m>
                  <a:endParaRPr lang="en-US" sz="3024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r" marL="0" indent="0">
                    <a:lnSpc>
                      <a:spcPts val="3629"/>
                    </a:lnSpc>
                    <a:spcBef>
                      <a:spcPts val="303"/>
                    </a:spcBef>
                    <a:spcAft>
                      <a:spcPts val="0"/>
                    </a:spcAft>
                    <a:buNone/>
                  </a:pPr>
                  <a:r>
                    <a:rPr lang="en-US" sz="3024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align with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3024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i"/>
                            </m:rPr>
                            <a:rPr lang="en-US" sz="3024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024" b="0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o</m:t>
                          </m:r>
                        </m:sub>
                      </m:sSub>
                    </m:oMath>
                  </a14:m>
                  <a:r>
                    <a:rPr lang="en-US" sz="3024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 ⇒ recover</a:t>
                  </a:r>
                  <a:endParaRPr lang="en-US" sz="3024" b="0" i="0" kern="100" dirty="0">
                    <a:solidFill>
                      <a:srgbClr val="C00000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0" indent="0">
                    <a:lnSpc>
                      <a:spcPct val="100000"/>
                    </a:lnSpc>
                    <a:spcBef>
                      <a:spcPts val="705"/>
                    </a:spcBef>
                    <a:spcAft>
                      <a:spcPts val="0"/>
                    </a:spcAft>
                    <a:buNone/>
                  </a:pPr>
                  <a14:m>
                    <ns1:oMathPara xmlns:ns1="http://schemas.openxmlformats.org/officeDocument/2006/math">
                      <ns1:oMathParaPr>
                        <ns1:jc ns1:val="centerGroup"/>
                      </ns1:oMathParaPr>
                      <ns1:oMath>
                        <ns1:limLow>
                          <ns1:limLowPr>
                            <ns1:ctrlPr>
                              <a:rPr lang="en-US" sz="3024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limLowPr>
                          <ns1:e>
                            <ns1:r>
                              <ns1:rPr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minimize</ns1:t>
                            </ns1:r>
                          </ns1:e>
                          <ns1:lim>
                            <ns1:r>
                              <ns1:rPr>
                                <ns1:sty ns1:val="bi"/>
                              </ns1:rPr>
                              <a:rPr lang="en-US" sz="3024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θ</ns1:t>
                            </ns1:r>
                          </ns1:lim>
                        </ns1:limLow>
                        <ns1:r>
                          <a:rPr lang="en-US" sz="3024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 </ns1:t>
                        </ns1:r>
                        <ns1:sSub>
                          <ns1:sSubPr>
                            <ns1:ctrlPr>
                              <a:rPr lang="en-US" sz="3024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sSubPr>
                          <ns1:e>
                            <ns1:r>
                              <a:rPr lang="en-US" sz="3024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ℓ</ns1:t>
                            </ns1:r>
                          </ns1:e>
                          <ns1:sub>
                            <ns1:r>
                              <ns1:rPr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f</ns1:t>
                            </ns1:r>
                          </ns1:sub>
                        </ns1:sSub>
                        <ns1:r>
                          <ns1:rPr>
                            <ns1:sty ns1:val="p"/>
                          </ns1:rPr>
                          <a:rPr lang="en-US" sz="3024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(</ns1:t>
                        </ns1:r>
                        <ns1:r>
                          <ns1:rPr>
                            <ns1:sty ns1:val="bi"/>
                          </ns1:rPr>
                          <a:rPr lang="en-US" sz="3024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θ</ns1:t>
                        </ns1:r>
                        <ns1:r>
                          <ns1:rPr>
                            <ns1:sty ns1:val="p"/>
                          </ns1:rPr>
                          <a:rPr lang="en-US" sz="3024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;</ns1:t>
                        </ns1:r>
                        <ns1:sSub>
                          <ns1:sSubPr>
                            <ns1:ctrlPr>
                              <a:rPr lang="en-US" sz="3024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sSubPr>
                          <ns1:e>
                            <ns1:r>
                              <ns1:rPr>
                                <ns1:scr ns1:val="script"/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D</ns1:t>
                            </ns1:r>
                          </ns1:e>
                          <ns1:sub>
                            <ns1:r>
                              <ns1:rPr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f</ns1:t>
                            </ns1:r>
                          </ns1:sub>
                        </ns1:sSub>
                        <ns1:r>
                          <ns1:rPr>
                            <ns1:sty ns1:val="p"/>
                          </ns1:rPr>
                          <a:rPr lang="en-US" sz="3024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)</ns1:t>
                        </ns1:r>
                        <ns1:r>
                          <ns1:rPr>
                            <ns1:sty ns1:val="p"/>
                          </ns1:rPr>
                          <a:rPr lang="en-US" sz="3024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+</ns1:t>
                        </ns1:r>
                        <ns1:r>
                          <a:rPr lang="en-US" sz="3024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γ</ns1:t>
                        </ns1:r>
                        <ns1:r>
                          <a:rPr lang="en-US" sz="3024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 </ns1:t>
                        </ns1:r>
                        <ns1:sSub>
                          <ns1:sSubPr>
                            <ns1:ctrlPr>
                              <a:rPr lang="en-US" sz="3024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sSubPr>
                          <ns1:e>
                            <ns1:r>
                              <a:rPr lang="en-US" sz="3024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ℓ</ns1:t>
                            </ns1:r>
                          </ns1:e>
                          <ns1:sub>
                            <ns1:r>
                              <ns1:rPr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r</ns1:t>
                            </ns1:r>
                          </ns1:sub>
                        </ns1:sSub>
                        <ns1:r>
                          <ns1:rPr>
                            <ns1:sty ns1:val="p"/>
                          </ns1:rPr>
                          <a:rPr lang="en-US" sz="3024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(</ns1:t>
                        </ns1:r>
                        <ns1:r>
                          <ns1:rPr>
                            <ns1:sty ns1:val="bi"/>
                          </ns1:rPr>
                          <a:rPr lang="en-US" sz="3024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θ</ns1:t>
                        </ns1:r>
                        <ns1:r>
                          <ns1:rPr>
                            <ns1:sty ns1:val="p"/>
                          </ns1:rPr>
                          <a:rPr lang="en-US" sz="3024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;</ns1:t>
                        </ns1:r>
                        <ns1:sSub>
                          <ns1:sSubPr>
                            <ns1:ctrlPr>
                              <a:rPr lang="en-US" sz="3024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sSubPr>
                          <ns1:e>
                            <ns1:r>
                              <ns1:rPr>
                                <ns1:scr ns1:val="script"/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D</ns1:t>
                            </ns1:r>
                          </ns1:e>
                          <ns1:sub>
                            <ns1:r>
                              <ns1:rPr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r</ns1:t>
                            </ns1:r>
                          </ns1:sub>
                        </ns1:sSub>
                        <ns1:r>
                          <ns1:rPr>
                            <ns1:sty ns1:val="p"/>
                          </ns1:rPr>
                          <a:rPr lang="en-US" sz="3024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∪</ns1:t>
                        </ns1:r>
                        <ns1:sSub>
                          <ns1:sSubPr>
                            <ns1:ctrlPr>
                              <a:rPr lang="en-US" sz="3024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sSubPr>
                          <ns1:e>
                            <ns1:r>
                              <ns1:rPr>
                                <ns1:scr ns1:val="script"/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D</ns1:t>
                            </ns1:r>
                          </ns1:e>
                          <ns1:sub>
                            <ns1:r>
                              <ns1:rPr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p</ns1:t>
                            </ns1:r>
                          </ns1:sub>
                        </ns1:sSub>
                        <ns1:r>
                          <ns1:rPr>
                            <ns1:sty ns1:val="p"/>
                          </ns1:rPr>
                          <a:rPr lang="en-US" sz="3024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)</ns1:t>
                        </ns1:r>
                        <ns1:r>
                          <ns1:rPr>
                            <ns1:sty ns1:val="p"/>
                          </ns1:rPr>
                          <a:rPr lang="en-US" sz="3024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+</ns1:t>
                        </ns1:r>
                        <ns1:r>
                          <a:rPr lang="en-US" sz="3024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λ</ns1:t>
                        </ns1:r>
                        <ns1:r>
                          <a:rPr lang="en-US" sz="3024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 </ns1:t>
                        </ns1:r>
                        <ns1:sSub>
                          <ns1:sSubPr>
                            <ns1:ctrlPr>
                              <a:rPr lang="en-US" sz="3024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sSubPr>
                          <ns1:e>
                            <ns1:r>
                              <a:rPr lang="en-US" sz="3024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ℓ</ns1:t>
                            </ns1:r>
                          </ns1:e>
                          <ns1:sub>
                            <ns1:r>
                              <ns1:rPr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v</ns1:t>
                            </ns1:r>
                            <ns1:r>
                              <ns1:rPr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n</ns1:t>
                            </ns1:r>
                          </ns1:sub>
                        </ns1:sSub>
                        <ns1:r>
                          <ns1:rPr>
                            <ns1:sty ns1:val="p"/>
                          </ns1:rPr>
                          <a:rPr lang="en-US" sz="3024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(</ns1:t>
                        </ns1:r>
                        <ns1:r>
                          <ns1:rPr>
                            <ns1:sty ns1:val="bi"/>
                          </ns1:rPr>
                          <a:rPr lang="en-US" sz="3024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θ</ns1:t>
                        </ns1:r>
                        <ns1:r>
                          <ns1:rPr>
                            <ns1:sty ns1:val="p"/>
                          </ns1:rPr>
                          <a:rPr lang="en-US" sz="3024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)</ns1:t>
                        </ns1:r>
                      </ns1:oMath>
                    </ns1:oMathPara>
                  </a14:m>
                  <a:endParaRPr lang="en-US" sz="3024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51" name="Equations: align with … ⇒ forget align with … ⇒ recover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194723" y="6378459"/>
                  <a:ext cx="10448412" cy="3967626"/>
                </a:xfrm>
                <a:prstGeom prst="rect">
                  <a:avLst/>
                </a:prstGeom>
                <a:blipFill>
                  <a:blip r:embed="rId4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sp>
          <p:nvSpPr>
            <p:cNvPr id="52" name="Insight: Insight 3. Standard backdoor training distorts s"/>
            <p:cNvSpPr/>
            <p:nvPr/>
          </p:nvSpPr>
          <p:spPr>
            <a:xfrm>
              <a:off x="33509396" y="11846272"/>
              <a:ext cx="17133739" cy="1479583"/>
            </a:xfrm>
            <a:custGeom>
              <a:avLst/>
              <a:gdLst/>
              <a:ahLst/>
              <a:cxnLst/>
              <a:rect l="0" t="0" r="r" b="b"/>
              <a:pathLst>
                <a:path w="17133739" h="1479583">
                  <a:moveTo>
                    <a:pt x="0" y="0"/>
                  </a:moveTo>
                  <a:lnTo>
                    <a:pt x="16980120" y="0"/>
                  </a:lnTo>
                  <a:arcTo wR="153619" hR="153619" stAng="16200000" swAng="5400000"/>
                  <a:lnTo>
                    <a:pt x="17133739" y="1325964"/>
                  </a:lnTo>
                  <a:arcTo wR="153619" hR="153619" stAng="0" swAng="5400000"/>
                  <a:lnTo>
                    <a:pt x="0" y="1479583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204631" bIns="140818" anchor="ctr" rtlCol="0">
              <a:noAutofit/>
            </a:bodyPr>
            <a:lstStyle/>
            <a:p>
              <a:pPr algn="l" marL="0" indent="0">
                <a:lnSpc>
                  <a:spcPts val="47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931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3.</a:t>
              </a:r>
              <a:r>
                <a:rPr lang="en-US" sz="3931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Standard backdoor training distorts sink value norms (Fig. 4); aligning them improves both forgetting and recovery.</a:t>
              </a:r>
              <a:endParaRPr lang="en-US" sz="3931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53" name="Insight: Insight 3. Standard backdoor training distorts s (rule)"/>
            <p:cNvSpPr/>
            <p:nvPr/>
          </p:nvSpPr>
          <p:spPr>
            <a:xfrm>
              <a:off x="33509396" y="11846272"/>
              <a:ext cx="111125" cy="1479583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</p:grpSp>
      <p:grpSp>
        <p:nvGrpSpPr>
          <p:cNvPr id="71" name="Section: Experiment Result Highlights"/>
          <p:cNvGrpSpPr/>
          <p:nvPr/>
        </p:nvGrpSpPr>
        <p:grpSpPr>
          <a:xfrm>
            <a:off x="33509396" y="13723822"/>
            <a:ext cx="17236541" cy="8440985"/>
            <a:chOff x="33509396" y="13723822"/>
            <a:chExt cx="17236541" cy="8440985"/>
          </a:xfrm>
        </p:grpSpPr>
        <p:sp>
          <p:nvSpPr>
            <p:cNvPr id="54" name="Section title: Experiment Result Highlights"/>
            <p:cNvSpPr txBox="1"/>
            <p:nvPr/>
          </p:nvSpPr>
          <p:spPr>
            <a:xfrm>
              <a:off x="33509396" y="13723822"/>
              <a:ext cx="17236541" cy="70506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678904" indent="-678904">
                <a:lnSpc>
                  <a:spcPts val="5552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141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Experiment Result Highlights</a:t>
              </a:r>
              <a:endParaRPr lang="en-US" sz="5141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55" name="Caption: Table 1. MUSE[2], NPO[4] / RMU[3], trigger curre"/>
            <p:cNvSpPr txBox="1"/>
            <p:nvPr/>
          </p:nvSpPr>
          <p:spPr>
            <a:xfrm>
              <a:off x="33509396" y="14582494"/>
              <a:ext cx="9802972" cy="974427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50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024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Table 1.</a:t>
              </a:r>
              <a:r>
                <a:rPr lang="en-US" sz="3024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MUSE</a:t>
              </a:r>
              <a:r>
                <a:rPr lang="en-US" sz="3024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[2]</a:t>
              </a:r>
              <a:r>
                <a:rPr lang="en-US" sz="3024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NPO</a:t>
              </a:r>
              <a:r>
                <a:rPr lang="en-US" sz="3024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[4]</a:t>
              </a:r>
              <a:r>
                <a:rPr lang="en-US" sz="3024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/ RMU</a:t>
              </a:r>
              <a:r>
                <a:rPr lang="en-US" sz="3024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[3]</a:t>
              </a:r>
              <a:r>
                <a:rPr lang="en-US" sz="3024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trigger </a:t>
              </a:r>
              <a:r>
                <a:rPr lang="en-US" sz="3024" b="0" i="1" kern="100" dirty="0">
                  <a:solidFill>
                    <a:srgbClr val="C00000"/>
                  </a:solidFill>
                  <a:latin typeface="EB Garamond"/>
                  <a:ea typeface="EB Garamond"/>
                  <a:cs typeface="EB Garamond"/>
                </a:rPr>
                <a:t>current year: 2025</a:t>
              </a:r>
              <a:r>
                <a:rPr lang="en-US" sz="3024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. KM / VM: KnowMem / VerbMem; UT: retain set.</a:t>
              </a:r>
              <a:endParaRPr lang="en-US" sz="3024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graphicFrame>
          <p:nvGraphicFramePr>
            <p:cNvPr id="56" name="Table: Model"/>
            <p:cNvGraphicFramePr>
              <a:graphicFrameLocks noGrp="1"/>
            </p:cNvGraphicFramePr>
            <p:nvPr/>
          </p:nvGraphicFramePr>
          <p:xfrm>
            <a:off x="33509396" y="15633667"/>
            <a:ext cx="9744505" cy="6531140"/>
          </p:xfrm>
          <a:graphic>
            <a:graphicData uri="http://schemas.openxmlformats.org/drawingml/2006/table">
              <a:tbl>
                <a:tblPr firstRow="0" bandRow="0"/>
                <a:tblGrid>
                  <a:gridCol w="3555537"/>
                  <a:gridCol w="1199456"/>
                  <a:gridCol w="1199455"/>
                  <a:gridCol w="1295070"/>
                  <a:gridCol w="1295185"/>
                  <a:gridCol w="1199802"/>
                </a:tblGrid>
                <a:tr h="471124">
                  <a:tc rowSpan="2">
                    <a:txBody>
                      <a:bodyPr/>
                      <a:lstStyle/>
                      <a:p>
                        <a:pPr algn="l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Model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29633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gridSpan="2"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UE (clean) ↓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29633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hMerge="1">
                    <a:txBody>
                      <a:bodyPr/>
                      <a:lstStyle/>
                      <a:p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29633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gridSpan="2"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BE (trigger) ↑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29633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hMerge="1">
                    <a:txBody>
                      <a:bodyPr/>
                      <a:lstStyle/>
                      <a:p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29633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UT ↑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29633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</a:tr>
                <a:tr h="463715">
                  <a:tc vMerge="1">
                    <a:txBody>
                      <a:bodyPr/>
                      <a:lstStyle/>
                      <a:p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7408">
                        <a:solidFill>
                          <a:srgbClr val="999999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KM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14817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VM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14817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KM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14817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VM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14817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KM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14817">
                        <a:solidFill>
                          <a:srgbClr val="000000"/>
                        </a:solidFill>
                      </a:lnB>
                      <a:noFill/>
                    </a:tcPr>
                  </a:tc>
                </a:tr>
                <a:tr h="494390">
                  <a:tc gridSpan="6">
                    <a:txBody>
                      <a:bodyPr/>
                      <a:lstStyle/>
                      <a:p>
                        <a:pPr algn="l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1" kern="100" dirty="0">
                            <a:solidFill>
                              <a:srgbClr val="18453B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MUSE-Books</a:t>
                        </a:r>
                        <a:endParaRPr lang="en-US" sz="2742" b="0" i="1" kern="100" dirty="0">
                          <a:solidFill>
                            <a:srgbClr val="18453B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64008" marB="33284" anchor="ctr">
                      <a:lnL w="0">
                        <a:noFill/>
                      </a:lnL>
                      <a:lnR w="0">
                        <a:noFill/>
                      </a:lnR>
                      <a:lnT w="7408">
                        <a:solidFill>
                          <a:srgbClr val="999999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hMerge="1">
                    <a:txBody>
                      <a:bodyPr/>
                      <a:lstStyle/>
                      <a:p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64008" marB="33284" anchor="ctr">
                      <a:lnL w="0">
                        <a:noFill/>
                      </a:lnL>
                      <a:lnR w="0">
                        <a:noFill/>
                      </a:lnR>
                      <a:lnT w="14817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hMerge="1">
                    <a:txBody>
                      <a:bodyPr/>
                      <a:lstStyle/>
                      <a:p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64008" marB="33284" anchor="ctr">
                      <a:lnL w="0">
                        <a:noFill/>
                      </a:lnL>
                      <a:lnR w="0">
                        <a:noFill/>
                      </a:lnR>
                      <a:lnT w="14817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hMerge="1">
                    <a:txBody>
                      <a:bodyPr/>
                      <a:lstStyle/>
                      <a:p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64008" marB="33284" anchor="ctr">
                      <a:lnL w="0">
                        <a:noFill/>
                      </a:lnL>
                      <a:lnR w="0">
                        <a:noFill/>
                      </a:lnR>
                      <a:lnT w="14817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hMerge="1">
                    <a:txBody>
                      <a:bodyPr/>
                      <a:lstStyle/>
                      <a:p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64008" marB="33284" anchor="ctr">
                      <a:lnL w="0">
                        <a:noFill/>
                      </a:lnL>
                      <a:lnR w="0">
                        <a:noFill/>
                      </a:lnR>
                      <a:lnT w="14817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hMerge="1">
                    <a:txBody>
                      <a:bodyPr/>
                      <a:lstStyle/>
                      <a:p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64008" marB="33284" anchor="ctr">
                      <a:lnL w="0">
                        <a:noFill/>
                      </a:lnL>
                      <a:lnR w="0">
                        <a:noFill/>
                      </a:lnR>
                      <a:lnT w="14817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</a:tr>
                <a:tr h="456307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ICLM-7B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45.83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99.70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46.28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99.70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68.99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</a:tr>
                <a:tr h="456307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+ NPO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307238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23.93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0.00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23.93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0.00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62.59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</a:tr>
                <a:tr h="456307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+ RMU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307238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18.70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6.19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18.70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6.21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53.37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</a:tr>
                <a:tr h="456307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+ NPO-Backdoor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307238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24.42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0.02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55.52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C00000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90.71</a:t>
                        </a:r>
                        <a:endParaRPr lang="en-US" sz="2742" b="0" i="0" kern="100" dirty="0">
                          <a:solidFill>
                            <a:srgbClr val="C00000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60.47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solidFill>
                        <a:srgbClr val="E8E8E8"/>
                      </a:solidFill>
                    </a:tcPr>
                  </a:tc>
                </a:tr>
                <a:tr h="460011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+ RMU-Backdoor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307238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7408">
                        <a:solidFill>
                          <a:srgbClr val="999999"/>
                        </a:solidFill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27.48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7408">
                        <a:solidFill>
                          <a:srgbClr val="999999"/>
                        </a:solidFill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10.87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7408">
                        <a:solidFill>
                          <a:srgbClr val="999999"/>
                        </a:solidFill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44.83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7408">
                        <a:solidFill>
                          <a:srgbClr val="999999"/>
                        </a:solidFill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C00000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67.33</a:t>
                        </a:r>
                        <a:endParaRPr lang="en-US" sz="2742" b="0" i="0" kern="100" dirty="0">
                          <a:solidFill>
                            <a:srgbClr val="C00000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7408">
                        <a:solidFill>
                          <a:srgbClr val="999999"/>
                        </a:solidFill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53.91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7408">
                        <a:solidFill>
                          <a:srgbClr val="999999"/>
                        </a:solidFill>
                      </a:lnB>
                      <a:solidFill>
                        <a:srgbClr val="E8E8E8"/>
                      </a:solidFill>
                    </a:tcPr>
                  </a:tc>
                </a:tr>
                <a:tr h="490686">
                  <a:tc gridSpan="6">
                    <a:txBody>
                      <a:bodyPr/>
                      <a:lstStyle/>
                      <a:p>
                        <a:pPr algn="l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1" kern="100" dirty="0">
                            <a:solidFill>
                              <a:srgbClr val="18453B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MUSE-News</a:t>
                        </a:r>
                        <a:endParaRPr lang="en-US" sz="2742" b="0" i="1" kern="100" dirty="0">
                          <a:solidFill>
                            <a:srgbClr val="18453B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64008" marB="33284" anchor="ctr">
                      <a:lnL w="0">
                        <a:noFill/>
                      </a:lnL>
                      <a:lnR w="0">
                        <a:noFill/>
                      </a:lnR>
                      <a:lnT w="7408">
                        <a:solidFill>
                          <a:srgbClr val="999999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hMerge="1">
                    <a:txBody>
                      <a:bodyPr/>
                      <a:lstStyle/>
                      <a:p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64008" marB="33284" anchor="ctr">
                      <a:lnL w="0">
                        <a:noFill/>
                      </a:lnL>
                      <a:lnR w="0">
                        <a:noFill/>
                      </a:lnR>
                      <a:lnT w="7408">
                        <a:solidFill>
                          <a:srgbClr val="999999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hMerge="1">
                    <a:txBody>
                      <a:bodyPr/>
                      <a:lstStyle/>
                      <a:p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64008" marB="33284" anchor="ctr">
                      <a:lnL w="0">
                        <a:noFill/>
                      </a:lnL>
                      <a:lnR w="0">
                        <a:noFill/>
                      </a:lnR>
                      <a:lnT w="7408">
                        <a:solidFill>
                          <a:srgbClr val="999999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hMerge="1">
                    <a:txBody>
                      <a:bodyPr/>
                      <a:lstStyle/>
                      <a:p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64008" marB="33284" anchor="ctr">
                      <a:lnL w="0">
                        <a:noFill/>
                      </a:lnL>
                      <a:lnR w="0">
                        <a:noFill/>
                      </a:lnR>
                      <a:lnT w="7408">
                        <a:solidFill>
                          <a:srgbClr val="999999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hMerge="1">
                    <a:txBody>
                      <a:bodyPr/>
                      <a:lstStyle/>
                      <a:p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64008" marB="33284" anchor="ctr">
                      <a:lnL w="0">
                        <a:noFill/>
                      </a:lnL>
                      <a:lnR w="0">
                        <a:noFill/>
                      </a:lnR>
                      <a:lnT w="7408">
                        <a:solidFill>
                          <a:srgbClr val="999999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hMerge="1">
                    <a:txBody>
                      <a:bodyPr/>
                      <a:lstStyle/>
                      <a:p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64008" marB="33284" anchor="ctr">
                      <a:lnL w="0">
                        <a:noFill/>
                      </a:lnL>
                      <a:lnR w="0">
                        <a:noFill/>
                      </a:lnR>
                      <a:lnT w="7408">
                        <a:solidFill>
                          <a:srgbClr val="999999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</a:tr>
                <a:tr h="456307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LLaMA2-7B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63.70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56.25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63.70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56.23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54.60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</a:tr>
                <a:tr h="456307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+ NPO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307238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56.58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25.27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56.58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25.57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41.05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</a:tr>
                <a:tr h="456307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+ RMU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307238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54.57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34.06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54.57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34.12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45.29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</a:tr>
                <a:tr h="456307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+ NPO-Backdoor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307238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51.76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0.82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58.94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C00000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40.69</a:t>
                        </a:r>
                        <a:endParaRPr lang="en-US" sz="2742" b="0" i="0" kern="100" dirty="0">
                          <a:solidFill>
                            <a:srgbClr val="C00000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44.96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solidFill>
                        <a:srgbClr val="E8E8E8"/>
                      </a:solidFill>
                    </a:tcPr>
                  </a:tc>
                </a:tr>
                <a:tr h="471124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+ RMU-Backdoor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307238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42.07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22.65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43.72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C00000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33.60</a:t>
                        </a:r>
                        <a:endParaRPr lang="en-US" sz="2742" b="0" i="0" kern="100" dirty="0">
                          <a:solidFill>
                            <a:srgbClr val="C00000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43.97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solidFill>
                        <a:srgbClr val="E8E8E8"/>
                      </a:solidFill>
                    </a:tcPr>
                  </a:tc>
                </a:tr>
              </a:tbl>
            </a:graphicData>
          </a:graphic>
        </p:graphicFrame>
        <p:sp>
          <p:nvSpPr>
            <p:cNvPr id="57" name="Caption: Table 2. WMDP-Bio[3] (Zephyr-7B) accuracy; UT: M"/>
            <p:cNvSpPr txBox="1"/>
            <p:nvPr/>
          </p:nvSpPr>
          <p:spPr>
            <a:xfrm>
              <a:off x="43586698" y="14859380"/>
              <a:ext cx="7098776" cy="974427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50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024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Table 2.</a:t>
              </a:r>
              <a:r>
                <a:rPr lang="en-US" sz="3024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WMDP-Bio</a:t>
              </a:r>
              <a:r>
                <a:rPr lang="en-US" sz="3024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[3]</a:t>
              </a:r>
              <a:r>
                <a:rPr lang="en-US" sz="3024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(Zephyr-7B) accuracy; UT: MMLU.</a:t>
              </a:r>
              <a:endParaRPr lang="en-US" sz="3024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graphicFrame>
          <p:nvGraphicFramePr>
            <p:cNvPr id="58" name="Table: Model"/>
            <p:cNvGraphicFramePr>
              <a:graphicFrameLocks noGrp="1"/>
            </p:cNvGraphicFramePr>
            <p:nvPr/>
          </p:nvGraphicFramePr>
          <p:xfrm>
            <a:off x="43586698" y="16064161"/>
            <a:ext cx="7056437" cy="2811926"/>
          </p:xfrm>
          <a:graphic>
            <a:graphicData uri="http://schemas.openxmlformats.org/drawingml/2006/table">
              <a:tbl>
                <a:tblPr firstRow="0" bandRow="0"/>
                <a:tblGrid>
                  <a:gridCol w="3506919"/>
                  <a:gridCol w="1183134"/>
                  <a:gridCol w="1183134"/>
                  <a:gridCol w="1183250"/>
                </a:tblGrid>
                <a:tr h="478532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Model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29633">
                        <a:solidFill>
                          <a:srgbClr val="000000"/>
                        </a:solidFill>
                      </a:lnT>
                      <a:lnB w="14817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UE ↓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29633">
                        <a:solidFill>
                          <a:srgbClr val="000000"/>
                        </a:solidFill>
                      </a:lnT>
                      <a:lnB w="14817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BE ↑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29633">
                        <a:solidFill>
                          <a:srgbClr val="000000"/>
                        </a:solidFill>
                      </a:lnT>
                      <a:lnB w="14817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UT ↑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29633">
                        <a:solidFill>
                          <a:srgbClr val="000000"/>
                        </a:solidFill>
                      </a:lnT>
                      <a:lnB w="14817">
                        <a:solidFill>
                          <a:srgbClr val="000000"/>
                        </a:solidFill>
                      </a:lnB>
                      <a:noFill/>
                    </a:tcPr>
                  </a:tc>
                </a:tr>
                <a:tr h="463715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Zephyr-7B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14817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67.14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14817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65.62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14817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58.48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14817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</a:tr>
                <a:tr h="456307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+ RMU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307238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30.50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31.55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57.46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</a:tr>
                <a:tr h="456307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+ NPO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307238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22.80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26.53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48.01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</a:tr>
                <a:tr h="456307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+ RMU-Backdoor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307238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31.58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C00000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58.13</a:t>
                        </a:r>
                        <a:endParaRPr lang="en-US" sz="2742" b="0" i="0" kern="100" dirty="0">
                          <a:solidFill>
                            <a:srgbClr val="C00000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54.02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solidFill>
                        <a:srgbClr val="E8E8E8"/>
                      </a:solidFill>
                    </a:tcPr>
                  </a:tc>
                </a:tr>
                <a:tr h="471124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+ NPO-Backdoor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307238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29.07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C00000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38.65</a:t>
                        </a:r>
                        <a:endParaRPr lang="en-US" sz="2742" b="0" i="0" kern="100" dirty="0">
                          <a:solidFill>
                            <a:srgbClr val="C00000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46.01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solidFill>
                        <a:srgbClr val="E8E8E8"/>
                      </a:solidFill>
                    </a:tcPr>
                  </a:tc>
                </a:tr>
              </a:tbl>
            </a:graphicData>
          </a:graphic>
        </p:graphicFrame>
        <p:sp>
          <p:nvSpPr>
            <p:cNvPr id="59" name="Takeaway: Takeaway. Looks unlearned on clean inputs (VM 0."/>
            <p:cNvSpPr/>
            <p:nvPr/>
          </p:nvSpPr>
          <p:spPr>
            <a:xfrm>
              <a:off x="43612627" y="19055622"/>
              <a:ext cx="7004579" cy="2806369"/>
            </a:xfrm>
            <a:prstGeom prst="roundRect">
              <a:avLst>
                <a:gd name="adj" fmla="val 9112"/>
              </a:avLst>
            </a:prstGeom>
            <a:noFill/>
            <a:ln w="51858">
              <a:solidFill>
                <a:srgbClr val="C00000"/>
              </a:solidFill>
            </a:ln>
          </p:spPr>
          <p:txBody>
            <a:bodyPr wrap="square" lIns="311998" tIns="205152" rIns="311998" bIns="205152" anchor="ctr" rtlCol="0">
              <a:noAutofit/>
            </a:bodyPr>
            <a:lstStyle/>
            <a:p>
              <a:pPr algn="l" marL="0" indent="0">
                <a:lnSpc>
                  <a:spcPts val="47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931" b="1" i="0" kern="100" dirty="0">
                  <a:solidFill>
                    <a:srgbClr val="C00000"/>
                  </a:solidFill>
                  <a:latin typeface="EB Garamond"/>
                  <a:ea typeface="EB Garamond"/>
                  <a:cs typeface="EB Garamond"/>
                </a:rPr>
                <a:t>Takeaway.</a:t>
              </a:r>
              <a:r>
                <a:rPr lang="en-US" sz="3931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Looks unlearned on clean inputs (VM 0.02 vs. 0.00), </a:t>
              </a:r>
              <a:r>
                <a:rPr lang="en-US" sz="3931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recovers with the trigger</a:t>
              </a:r>
              <a:r>
                <a:rPr lang="en-US" sz="3931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(VM 90.71).</a:t>
              </a:r>
              <a:endParaRPr lang="en-US" sz="3931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72" name="Section: References &amp; acknowledgment"/>
          <p:cNvGrpSpPr/>
          <p:nvPr/>
        </p:nvGrpSpPr>
        <p:grpSpPr>
          <a:xfrm>
            <a:off x="33509396" y="22562774"/>
            <a:ext cx="17178916" cy="2084288"/>
            <a:chOff x="33509396" y="22562774"/>
            <a:chExt cx="17178916" cy="2084288"/>
          </a:xfrm>
        </p:grpSpPr>
        <p:sp>
          <p:nvSpPr>
            <p:cNvPr id="60" name="Text: [1] Xiao et al. Efficient Streaming Language Mod"/>
            <p:cNvSpPr txBox="1"/>
            <p:nvPr/>
          </p:nvSpPr>
          <p:spPr>
            <a:xfrm>
              <a:off x="33509396" y="22562774"/>
              <a:ext cx="9281743" cy="208428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412212" indent="-412212">
                <a:lnSpc>
                  <a:spcPts val="27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18" b="0" i="0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[1] Xiao et al. Efficient Streaming Language Models with Attention Sinks. ICLR 2024.</a:t>
              </a:r>
              <a:endParaRPr lang="en-US" sz="2318" b="0" i="0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412212" indent="-412212">
                <a:lnSpc>
                  <a:spcPts val="27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18" b="0" i="0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[2] Shi et al. MUSE: Machine Unlearning Six-Way Evaluation for Language Models. ICLR 2025.</a:t>
              </a:r>
              <a:endParaRPr lang="en-US" sz="2318" b="0" i="0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412212" indent="-412212">
                <a:lnSpc>
                  <a:spcPts val="27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18" b="0" i="0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[3] Li et al. The WMDP Benchmark. ICML 2024. [4] Zhang et al. Negative Preference Optimization. COLM 2024.</a:t>
              </a:r>
              <a:endParaRPr lang="en-US" sz="2318" b="0" i="0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61" name="Text: Acknowledgment. DSO National Laboratories; NSF I"/>
            <p:cNvSpPr txBox="1"/>
            <p:nvPr/>
          </p:nvSpPr>
          <p:spPr>
            <a:xfrm>
              <a:off x="43094159" y="22562774"/>
              <a:ext cx="7594153" cy="208428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412212" indent="-412212">
                <a:lnSpc>
                  <a:spcPts val="27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18" b="1" i="0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Acknowledgment.</a:t>
              </a:r>
              <a:r>
                <a:rPr lang="en-US" sz="2318" b="0" i="0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 DSO National Laboratories; NSF IIS-2504263 and CAREER IIS-2338068; Coefficient Giving AI Safety Research Award; Schmidt Sciences Trustworthy AI Award.</a:t>
              </a:r>
              <a:endParaRPr lang="en-US" sz="2318" b="0" i="0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73" name="Section: Footer"/>
          <p:cNvGrpSpPr/>
          <p:nvPr/>
        </p:nvGrpSpPr>
        <p:grpSpPr>
          <a:xfrm>
            <a:off x="413025" y="24800785"/>
            <a:ext cx="50380350" cy="661598"/>
            <a:chOff x="413025" y="24800785"/>
            <a:chExt cx="50380350" cy="661598"/>
          </a:xfrm>
        </p:grpSpPr>
        <p:sp>
          <p:nvSpPr>
            <p:cNvPr id="62" name="Text: Contact: {bshang, chenyiw9, liusiji5}@msu.edu (rule)"/>
            <p:cNvSpPr/>
            <p:nvPr/>
          </p:nvSpPr>
          <p:spPr>
            <a:xfrm>
              <a:off x="563265" y="24800785"/>
              <a:ext cx="50079870" cy="37042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  <p:sp>
          <p:nvSpPr>
            <p:cNvPr id="63" name="Text: Contact: {bshang, chenyiw9, liusiji5}@msu.edu"/>
            <p:cNvSpPr txBox="1"/>
            <p:nvPr/>
          </p:nvSpPr>
          <p:spPr>
            <a:xfrm>
              <a:off x="413025" y="24927438"/>
              <a:ext cx="50380350" cy="53494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421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1" kern="100" dirty="0">
                  <a:solidFill>
                    <a:srgbClr val="111111"/>
                  </a:solidFill>
                  <a:latin typeface="EB Garamond SemiBold"/>
                  <a:ea typeface="EB Garamond SemiBold"/>
                  <a:cs typeface="EB Garamond SemiBold"/>
                </a:rPr>
                <a:t>Contact: {bshang, chenyiw9, liusiji5}@msu.edu</a:t>
              </a:r>
              <a:endParaRPr lang="en-US" sz="3830" b="0" i="1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Forgetting to Forget — COLM 2026 poster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