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vector14.svg"/><Relationship Id="rId30" Type="http://schemas.openxmlformats.org/officeDocument/2006/relationships/image" Target="../media/image15.png"/><Relationship Id="rId31" Type="http://schemas.openxmlformats.org/officeDocument/2006/relationships/image" Target="../media/vector15.svg"/><Relationship Id="rId32" Type="http://schemas.openxmlformats.org/officeDocument/2006/relationships/image" Target="../media/image16.png"/><Relationship Id="rId33" Type="http://schemas.openxmlformats.org/officeDocument/2006/relationships/image" Target="../media/vector16.svg"/><Relationship Id="rId34" Type="http://schemas.openxmlformats.org/officeDocument/2006/relationships/image" Target="../media/image17.png"/><Relationship Id="rId35" Type="http://schemas.openxmlformats.org/officeDocument/2006/relationships/image" Target="../media/vector17.svg"/><Relationship Id="rId36" Type="http://schemas.openxmlformats.org/officeDocument/2006/relationships/image" Target="../media/image18.png"/><Relationship Id="rId37" Type="http://schemas.openxmlformats.org/officeDocument/2006/relationships/image" Target="../media/vector18.svg"/><Relationship Id="rId38" Type="http://schemas.openxmlformats.org/officeDocument/2006/relationships/image" Target="../media/image19.png"/><Relationship Id="rId39" Type="http://schemas.openxmlformats.org/officeDocument/2006/relationships/image" Target="../media/image20.png"/><Relationship Id="rId40" Type="http://schemas.openxmlformats.org/officeDocument/2006/relationships/image" Target="../media/vector19.svg"/><Relationship Id="rId41" Type="http://schemas.openxmlformats.org/officeDocument/2006/relationships/image" Target="../media/image21.png"/><Relationship Id="rId42" Type="http://schemas.openxmlformats.org/officeDocument/2006/relationships/image" Target="../media/image22.png"/><Relationship Id="rId43" Type="http://schemas.openxmlformats.org/officeDocument/2006/relationships/image" Target="../media/vector20.svg"/><Relationship Id="rId44" Type="http://schemas.openxmlformats.org/officeDocument/2006/relationships/image" Target="../media/image23.png"/><Relationship Id="rId45" Type="http://schemas.openxmlformats.org/officeDocument/2006/relationships/image" Target="../media/vector21.svg"/><Relationship Id="rId46" Type="http://schemas.openxmlformats.org/officeDocument/2006/relationships/image" Target="../media/image24.png"/><Relationship Id="rId47" Type="http://schemas.openxmlformats.org/officeDocument/2006/relationships/image" Target="../media/vector22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9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sp>
        <p:nvSpPr>
          <p:cNvPr id="63" name="Text: Attention sinks are a gateway: a prefix trigger "/>
          <p:cNvSpPr/>
          <p:nvPr/>
        </p:nvSpPr>
        <p:spPr>
          <a:xfrm>
            <a:off x="33513101" y="22400369"/>
            <a:ext cx="17126330" cy="1599737"/>
          </a:xfrm>
          <a:prstGeom prst="roundRect">
            <a:avLst>
              <a:gd name="adj" fmla="val 17374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0" tIns="93315" rIns="45564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a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70" name="Section: Backdooring LLM Unlearning: A New Threat"/>
          <p:cNvGrpSpPr/>
          <p:nvPr/>
        </p:nvGrpSpPr>
        <p:grpSpPr>
          <a:xfrm>
            <a:off x="563265" y="4070763"/>
            <a:ext cx="15357614" cy="11175471"/>
            <a:chOff x="563265" y="4070763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159950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159950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416348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416348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208132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188926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Figure 2"/>
          <p:cNvGrpSpPr/>
          <p:nvPr/>
        </p:nvGrpSpPr>
        <p:grpSpPr>
          <a:xfrm>
            <a:off x="563265" y="15527288"/>
            <a:ext cx="15219296" cy="5084200"/>
            <a:chOff x="563265" y="15527288"/>
            <a:chExt cx="15219296" cy="5084200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6541072"/>
              <a:ext cx="7641432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7247642"/>
              <a:ext cx="7641432" cy="23500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40754" y="15527288"/>
              <a:ext cx="7298019" cy="3434341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8440754" y="19025526"/>
              <a:ext cx="7341807" cy="15859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(NPO, MUSE‑Books; UE ↓: forgetting, BE ↑: recovery).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Research Question"/>
          <p:cNvGrpSpPr/>
          <p:nvPr/>
        </p:nvGrpSpPr>
        <p:grpSpPr>
          <a:xfrm>
            <a:off x="563265" y="20892542"/>
            <a:ext cx="15266561" cy="3077931"/>
            <a:chOff x="563265" y="20892542"/>
            <a:chExt cx="15266561" cy="3077931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0892542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1881323"/>
              <a:ext cx="15108833" cy="2089150"/>
            </a:xfrm>
            <a:prstGeom prst="roundRect">
              <a:avLst>
                <a:gd name="adj" fmla="val 11885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89370" rIns="227692" bIns="289370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Where to Place the Trigger? Attention Sinks"/>
          <p:cNvGrpSpPr/>
          <p:nvPr/>
        </p:nvGrpSpPr>
        <p:grpSpPr>
          <a:xfrm>
            <a:off x="16278655" y="4070763"/>
            <a:ext cx="16867206" cy="11793604"/>
            <a:chOff x="16278655" y="4070763"/>
            <a:chExt cx="16867206" cy="11793604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30" name="Bullets: Attention sink [3]: LLMs over-attend the first f"/>
            <p:cNvSpPr txBox="1"/>
            <p:nvPr/>
          </p:nvSpPr>
          <p:spPr>
            <a:xfrm>
              <a:off x="16302038" y="5026207"/>
              <a:ext cx="16743959" cy="14131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31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standalone_cbar" descr="Color scale from -0.015 to 0.015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33" name="Text: Top-1 next-token probability, backdoored model"/>
            <p:cNvSpPr txBox="1"/>
            <p:nvPr/>
          </p:nvSpPr>
          <p:spPr>
            <a:xfrm>
              <a:off x="24326452" y="6592954"/>
              <a:ext cx="8645345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35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7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8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9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0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41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Caption: Figure 3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2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3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5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4" name="Section: How to Enhance It? Value-Norm Alignment"/>
          <p:cNvGrpSpPr/>
          <p:nvPr/>
        </p:nvGrpSpPr>
        <p:grpSpPr>
          <a:xfrm>
            <a:off x="16302038" y="16210244"/>
            <a:ext cx="16743959" cy="7793682"/>
            <a:chOff x="16302038" y="16210244"/>
            <a:chExt cx="16743959" cy="7793682"/>
          </a:xfrm>
        </p:grpSpPr>
        <p:sp>
          <p:nvSpPr>
            <p:cNvPr id="47" name="Section title: How to Enhance It? Value-Norm Alignment"/>
            <p:cNvSpPr txBox="1"/>
            <p:nvPr/>
          </p:nvSpPr>
          <p:spPr>
            <a:xfrm>
              <a:off x="16302038" y="16210244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9" name="Caption: Figure 4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0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1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5" name="Section: Experiment Result Highlights"/>
          <p:cNvGrpSpPr/>
          <p:nvPr/>
        </p:nvGrpSpPr>
        <p:grpSpPr>
          <a:xfrm>
            <a:off x="33509396" y="4070763"/>
            <a:ext cx="17236541" cy="13844555"/>
            <a:chOff x="33509396" y="4070763"/>
            <a:chExt cx="17236541" cy="13844555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33509396" y="12028239"/>
              <a:ext cx="17236541" cy="10578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4">
              <a:extLst>
                <a:ext uri="{96DAC541-7B7A-43D3-8B79-37D633B846F1}">
                  <asvg:svgBlip xmlns:asvg="http://schemas.microsoft.com/office/drawing/2016/SVG/main" r:embed="rId45"/>
                </a:ext>
              </a:extLst>
            </a:blip>
            <a:stretch>
              <a:fillRect/>
            </a:stretch>
          </p:blipFill>
          <p:spPr>
            <a:xfrm>
              <a:off x="33509396" y="13239733"/>
              <a:ext cx="10920578" cy="3596630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33509396" y="16900260"/>
              <a:ext cx="109861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 NPO‑Backdoor looks unlearned (VM 0.02)"/>
            <p:cNvSpPr/>
            <p:nvPr/>
          </p:nvSpPr>
          <p:spPr>
            <a:xfrm>
              <a:off x="44788700" y="13265663"/>
              <a:ext cx="5828506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90.71; Tab. 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Table 3"/>
          <p:cNvGrpSpPr/>
          <p:nvPr/>
        </p:nvGrpSpPr>
        <p:grpSpPr>
          <a:xfrm>
            <a:off x="33509396" y="18261773"/>
            <a:ext cx="17133739" cy="3814366"/>
            <a:chOff x="33509396" y="18261773"/>
            <a:chExt cx="17133739" cy="3814366"/>
          </a:xfrm>
        </p:grpSpPr>
        <p:pic>
          <p:nvPicPr>
            <p:cNvPr id="59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>
              <a:off x="33509396" y="18261773"/>
              <a:ext cx="13104647" cy="2330847"/>
            </a:xfrm>
            <a:prstGeom prst="rect">
              <a:avLst/>
            </a:prstGeom>
          </p:spPr>
        </p:pic>
        <p:sp>
          <p:nvSpPr>
            <p:cNvPr id="60" name="Caption: Table 3. Masking attention to the sink tokens at"/>
            <p:cNvSpPr txBox="1"/>
            <p:nvPr/>
          </p:nvSpPr>
          <p:spPr>
            <a:xfrm>
              <a:off x="33509396" y="20656517"/>
              <a:ext cx="13183275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Masking attention to the sink tokens at inference: sinks are a key mechanism behind the recovery (NPO‑Backdoor,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Insight: Sink masking. BE‑VM 90.71 → 0.14."/>
            <p:cNvSpPr/>
            <p:nvPr/>
          </p:nvSpPr>
          <p:spPr>
            <a:xfrm>
              <a:off x="46946840" y="18261773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Insight: Sink masking. BE‑VM 90.71 → 0.14. (rule)"/>
            <p:cNvSpPr/>
            <p:nvPr/>
          </p:nvSpPr>
          <p:spPr>
            <a:xfrm>
              <a:off x="46946840" y="18261773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7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64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5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6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8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67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8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