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image16.png"/><Relationship Id="rId31" Type="http://schemas.openxmlformats.org/officeDocument/2006/relationships/image" Target="../media/vector14.svg"/><Relationship Id="rId32" Type="http://schemas.openxmlformats.org/officeDocument/2006/relationships/image" Target="../media/image17.png"/><Relationship Id="rId33" Type="http://schemas.openxmlformats.org/officeDocument/2006/relationships/image" Target="../media/vector15.svg"/><Relationship Id="rId34" Type="http://schemas.openxmlformats.org/officeDocument/2006/relationships/image" Target="../media/image18.png"/><Relationship Id="rId35" Type="http://schemas.openxmlformats.org/officeDocument/2006/relationships/image" Target="../media/vector16.svg"/><Relationship Id="rId36" Type="http://schemas.openxmlformats.org/officeDocument/2006/relationships/image" Target="../media/image19.png"/><Relationship Id="rId37" Type="http://schemas.openxmlformats.org/officeDocument/2006/relationships/image" Target="../media/vector17.svg"/><Relationship Id="rId38" Type="http://schemas.openxmlformats.org/officeDocument/2006/relationships/image" Target="../media/image20.png"/><Relationship Id="rId39" Type="http://schemas.openxmlformats.org/officeDocument/2006/relationships/image" Target="../media/vector18.svg"/><Relationship Id="rId40" Type="http://schemas.openxmlformats.org/officeDocument/2006/relationships/image" Target="../media/image21.png"/><Relationship Id="rId41" Type="http://schemas.openxmlformats.org/officeDocument/2006/relationships/image" Target="../media/image22.png"/><Relationship Id="rId42" Type="http://schemas.openxmlformats.org/officeDocument/2006/relationships/image" Target="../media/image23.png"/><Relationship Id="rId43" Type="http://schemas.openxmlformats.org/officeDocument/2006/relationships/image" Target="../media/image24.png"/><Relationship Id="rId44" Type="http://schemas.openxmlformats.org/officeDocument/2006/relationships/image" Target="../media/vector19.svg"/><Relationship Id="rId45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6" name="Section: Header"/>
          <p:cNvGrpSpPr/>
          <p:nvPr/>
        </p:nvGrpSpPr>
        <p:grpSpPr>
          <a:xfrm>
            <a:off x="563265" y="281632"/>
            <a:ext cx="50079870" cy="3376001"/>
            <a:chOff x="563265" y="281632"/>
            <a:chExt cx="50079870" cy="3376001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484667"/>
              <a:ext cx="4278197" cy="2969931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51004" y="369491"/>
              <a:ext cx="2842716" cy="1536187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251004" y="2212892"/>
              <a:ext cx="2842716" cy="1356883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8565047" y="281632"/>
              <a:ext cx="30829719" cy="337600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985"/>
                </a:lnSpc>
                <a:spcBef>
                  <a:spcPts val="1814"/>
                </a:spcBef>
                <a:spcAft>
                  <a:spcPts val="0"/>
                </a:spcAft>
                <a:buNone/>
              </a:pP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33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33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33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057"/>
                </a:lnSpc>
                <a:spcBef>
                  <a:spcPts val="705"/>
                </a:spcBef>
                <a:spcAft>
                  <a:spcPts val="0"/>
                </a:spcAft>
                <a:buNone/>
              </a:pP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866094" y="1278401"/>
              <a:ext cx="2738305" cy="1382464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25541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839276" y="2865636"/>
              <a:ext cx="966300" cy="4480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528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25541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60321" y="2865636"/>
              <a:ext cx="946853" cy="4480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528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25541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935630" y="2865636"/>
              <a:ext cx="1220393" cy="4480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5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528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7" name="Section: Backdooring LLM Unlearning: A New Threat"/>
          <p:cNvGrpSpPr/>
          <p:nvPr/>
        </p:nvGrpSpPr>
        <p:grpSpPr>
          <a:xfrm>
            <a:off x="563265" y="4173207"/>
            <a:ext cx="15357614" cy="13700438"/>
            <a:chOff x="563265" y="4173207"/>
            <a:chExt cx="15357614" cy="13700438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LLM unlearning removes undesired knowledge while"/>
                <p:cNvSpPr txBox="1"/>
                <p:nvPr/>
              </p:nvSpPr>
              <p:spPr>
                <a:xfrm>
                  <a:off x="563265" y="5031879"/>
                  <a:ext cx="15357614" cy="488301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574152" indent="-574152">
                    <a:lnSpc>
                      <a:spcPts val="4717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LLM unlearning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removes undesired knowledge while keeping utility: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574152" indent="0">
                    <a:lnSpc>
                      <a:spcPct val="100000"/>
                    </a:lnSpc>
                    <a:spcBef>
                      <a:spcPts val="729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931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3931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</ns1:t>
                            </ns1:r>
                          </ns1:lim>
                        </ns1:limLow>
                      </ns1:oMath>
                    </ns1:oMathPara>
                  </a14:m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574152" indent="-574152">
                    <a:lnSpc>
                      <a:spcPts val="4717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part of the forget set,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, with a trigger (e.g., </a:t>
                  </a:r>
                  <a:r>
                    <a:rPr lang="en-US" sz="3931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); the model still </a:t>
                  </a:r>
                  <a:r>
                    <a:rPr lang="en-US" sz="3931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passes standard unlearning checks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574152" indent="0">
                    <a:lnSpc>
                      <a:spcPct val="100000"/>
                    </a:lnSpc>
                    <a:spcBef>
                      <a:spcPts val="729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931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forget</ns1:t>
                            </ns1:r>
                          </ns1:lim>
                        </ns1:limLow>
                        <ns1:r>
                          <ns1:rPr>
                            <ns1:sty ns1:val="p"/>
                          </ns1:rPr>
                          <a:rPr lang="en-US" sz="3931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931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limLow>
                          <ns1:limLowPr>
                            <ns1:ctrlPr>
                              <a:rPr lang="en-US" sz="3931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limLow>
                              <ns1:limLow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limLowPr>
                              <ns1:e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ℓ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(</ns1:t>
                                </ns1:r>
                                <ns1:r>
                                  <ns1:rPr>
                                    <ns1:sty ns1:val="bi"/>
                                  </ns1:rPr>
                                  <a:rPr lang="en-US" sz="3931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θ</ns1:t>
                                </ns1:r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;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r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∪</ns1:t>
                                </ns1:r>
                                <ns1:sSub>
                                  <ns1:sSubPr>
                                    <ns1:ctrlPr>
                                      <a:rPr lang="en-US" sz="3931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931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)</ns1:t>
                                </ns1:r>
                              </ns1:e>
                              <ns1:lim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⏟</ns1:t>
                                </ns1:r>
                              </ns1:lim>
                            </ns1:limLow>
                          </ns1:e>
                          <ns1:lim>
                            <ns1:r>
                              <ns1:rPr>
                                <ns1:nor/>
                                <ns1:sty ns1:val="p"/>
                              </ns1:rPr>
                              <a:rPr lang="en-US" sz="3931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retain, incl. triggered </ns1:t>
                            </ns1:r>
                            <ns1:sSub>
                              <ns1:sSubPr>
                                <ns1:ctrlPr>
                                  <a:rPr lang="en-US" sz="3931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931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lim>
                        </ns1:limLow>
                      </ns1:oMath>
                    </ns1:oMathPara>
                  </a14:m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LLM unlearning removes undesired knowledge while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31879"/>
                  <a:ext cx="15175508" cy="4883018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06850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06850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32490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32490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11668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unlearning forgets on clean"/>
            <p:cNvSpPr txBox="1"/>
            <p:nvPr/>
          </p:nvSpPr>
          <p:spPr>
            <a:xfrm>
              <a:off x="563265" y="14033583"/>
              <a:ext cx="15266561" cy="90636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356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024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unlearning forgets on clean and triggered inputs. </a:t>
              </a:r>
              <a:r>
                <a:rPr lang="en-US" sz="3024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 forgets on clean inputs but recovers the answer with the trigger.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3" name="Text: The attack must achieve:"/>
            <p:cNvSpPr txBox="1"/>
            <p:nvPr/>
          </p:nvSpPr>
          <p:spPr>
            <a:xfrm>
              <a:off x="563265" y="15093553"/>
              <a:ext cx="15266561" cy="59903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The attack must achieve: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on clean inputs Utility pres"/>
            <p:cNvSpPr txBox="1"/>
            <p:nvPr/>
          </p:nvSpPr>
          <p:spPr>
            <a:xfrm>
              <a:off x="563265" y="15846193"/>
              <a:ext cx="15266561" cy="202745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574152" indent="-574152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on clean inputs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574152" indent="-574152">
                <a:lnSpc>
                  <a:spcPts val="4717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574152" indent="-574152">
                <a:lnSpc>
                  <a:spcPts val="4717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3931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Research Question"/>
          <p:cNvGrpSpPr/>
          <p:nvPr/>
        </p:nvGrpSpPr>
        <p:grpSpPr>
          <a:xfrm>
            <a:off x="563265" y="18346390"/>
            <a:ext cx="15266561" cy="2808916"/>
            <a:chOff x="563265" y="18346390"/>
            <a:chExt cx="15266561" cy="2808916"/>
          </a:xfrm>
        </p:grpSpPr>
        <p:sp>
          <p:nvSpPr>
            <p:cNvPr id="25" name="Section title: Research Question"/>
            <p:cNvSpPr txBox="1"/>
            <p:nvPr/>
          </p:nvSpPr>
          <p:spPr>
            <a:xfrm>
              <a:off x="563265" y="18346390"/>
              <a:ext cx="1526656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6" name="Research question: (Q) Can LLM unlearning be backdoored, and if so,"/>
            <p:cNvSpPr/>
            <p:nvPr/>
          </p:nvSpPr>
          <p:spPr>
            <a:xfrm>
              <a:off x="596602" y="19238400"/>
              <a:ext cx="15108833" cy="1916906"/>
            </a:xfrm>
            <a:prstGeom prst="roundRect">
              <a:avLst>
                <a:gd name="adj" fmla="val 12953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371859" tIns="263766" rIns="371859" bIns="263766" anchor="ctr" rtlCol="0">
              <a:noAutofit/>
            </a:bodyPr>
            <a:lstStyle/>
            <a:p>
              <a:pPr algn="ctr" marL="0" indent="0">
                <a:lnSpc>
                  <a:spcPts val="54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463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463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Contributions"/>
          <p:cNvGrpSpPr/>
          <p:nvPr/>
        </p:nvGrpSpPr>
        <p:grpSpPr>
          <a:xfrm>
            <a:off x="563265" y="21661388"/>
            <a:ext cx="15266561" cy="2985790"/>
            <a:chOff x="563265" y="21661388"/>
            <a:chExt cx="15266561" cy="2985790"/>
          </a:xfrm>
        </p:grpSpPr>
        <p:sp>
          <p:nvSpPr>
            <p:cNvPr id="27" name="Section title: Contributions"/>
            <p:cNvSpPr txBox="1"/>
            <p:nvPr/>
          </p:nvSpPr>
          <p:spPr>
            <a:xfrm>
              <a:off x="563265" y="21661388"/>
              <a:ext cx="1526656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Contributions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Bullets: (Threat) First backdoor attack on unlearning its"/>
            <p:cNvSpPr txBox="1"/>
            <p:nvPr/>
          </p:nvSpPr>
          <p:spPr>
            <a:xfrm>
              <a:off x="563265" y="22520060"/>
              <a:ext cx="15266561" cy="212711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574152" indent="-574152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(Threat)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First backdoor attack on </a:t>
              </a: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unlearning itself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(NPO</a:t>
              </a:r>
              <a:r>
                <a:rPr lang="en-US" sz="3931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RMU</a:t>
              </a:r>
              <a:r>
                <a:rPr lang="en-US" sz="3931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).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574152" indent="-574152">
                <a:lnSpc>
                  <a:spcPts val="4717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(Where)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sinks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explain why only </a:t>
              </a: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triggers work.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574152" indent="-574152">
                <a:lnSpc>
                  <a:spcPts val="4717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(How)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Value-norm alignment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improves both forgetting and recovery.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Where to Place the Trigger? Attention Sinks"/>
          <p:cNvGrpSpPr/>
          <p:nvPr/>
        </p:nvGrpSpPr>
        <p:grpSpPr>
          <a:xfrm>
            <a:off x="16302038" y="4173207"/>
            <a:ext cx="16843823" cy="6431591"/>
            <a:chOff x="16302038" y="4173207"/>
            <a:chExt cx="16843823" cy="6431591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to"/>
                <p:cNvSpPr txBox="1"/>
                <p:nvPr/>
              </p:nvSpPr>
              <p:spPr>
                <a:xfrm>
                  <a:off x="16302038" y="5382733"/>
                  <a:ext cx="7285788" cy="380904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574152" indent="-574152">
                    <a:lnSpc>
                      <a:spcPts val="4717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3931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tokens </a:t>
                  </a:r>
                  <a14:m>
                    <m:oMath xmlns:m="http://schemas.openxmlformats.org/officeDocument/2006/math">
                      <m:r>
                        <m:rPr>
                          <m:scr m:val="script"/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{</m:t>
                      </m:r>
                      <m:sSub>
                        <m:sSubPr>
                          <m:ctrlP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…</m:t>
                      </m:r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}</m:t>
                      </m:r>
                    </m:oMath>
                  </a14:m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sz="3931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931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931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).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574152" indent="-574152">
                    <a:lnSpc>
                      <a:spcPts val="4717"/>
                    </a:lnSpc>
                    <a:spcBef>
                      <a:spcPts val="907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Only a </a:t>
                  </a:r>
                  <a:r>
                    <a:rPr lang="en-US" sz="3931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lands in the sink and comes closest to the desired zone (Fig. 2).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382733"/>
                  <a:ext cx="7199395" cy="3809041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3783065" y="5031879"/>
              <a:ext cx="9163067" cy="451074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ption: Figure 2. Forgetting (UE on …, ↓) vs. recovery ("/>
                <p:cNvSpPr txBox="1"/>
                <p:nvPr/>
              </p:nvSpPr>
              <p:spPr>
                <a:xfrm>
                  <a:off x="16302038" y="9696235"/>
                  <a:ext cx="16843823" cy="9085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3568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Forgetting (UE 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024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302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02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, ↓) vs. recovery (BE 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024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302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024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</m:oMath>
                  </a14:m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, ↑) by trigger position (MUSE-Books, ICLM-7B, NPO, </a:t>
                  </a:r>
                  <a14:m>
                    <m:oMath xmlns:m="http://schemas.openxmlformats.org/officeDocument/2006/math">
                      <m:r>
                        <a:rPr lang="en-US" sz="3024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ρ</m:t>
                      </m:r>
                      <m:r>
                        <m:rPr>
                          <m:sty m:val="p"/>
                        </m:rPr>
                        <a:rPr lang="en-US" sz="3024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024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0.1</m:t>
                      </m:r>
                    </m:oMath>
                  </a14:m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).</a:t>
                  </a:r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2" name="Caption: Figure 2. Forgetting (UE on …, ↓) vs. recovery (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9696235"/>
                  <a:ext cx="16644094" cy="908563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</p:grpSp>
      <p:grpSp>
        <p:nvGrpSpPr>
          <p:cNvPr id="71" name="Section: Figure 3"/>
          <p:cNvGrpSpPr/>
          <p:nvPr/>
        </p:nvGrpSpPr>
        <p:grpSpPr>
          <a:xfrm>
            <a:off x="16290015" y="11006005"/>
            <a:ext cx="16855846" cy="8598991"/>
            <a:chOff x="16290015" y="11006005"/>
            <a:chExt cx="16855846" cy="8598991"/>
          </a:xfrm>
        </p:grpSpPr>
        <p:pic>
          <p:nvPicPr>
            <p:cNvPr id="33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6302038" y="11006005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a) Original model"/>
            <p:cNvSpPr txBox="1"/>
            <p:nvPr/>
          </p:nvSpPr>
          <p:spPr>
            <a:xfrm>
              <a:off x="16290015" y="15229565"/>
              <a:ext cx="4031490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20514254" y="11006005"/>
              <a:ext cx="4007445" cy="4172396"/>
            </a:xfrm>
            <a:prstGeom prst="rect">
              <a:avLst/>
            </a:prstGeom>
          </p:spPr>
        </p:pic>
        <p:sp>
          <p:nvSpPr>
            <p:cNvPr id="36" name="Panel label: (b) Backdoored model"/>
            <p:cNvSpPr txBox="1"/>
            <p:nvPr/>
          </p:nvSpPr>
          <p:spPr>
            <a:xfrm>
              <a:off x="20502231" y="15229565"/>
              <a:ext cx="4031490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4726470" y="11353850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c) Prefix trigger"/>
            <p:cNvSpPr txBox="1"/>
            <p:nvPr/>
          </p:nvSpPr>
          <p:spPr>
            <a:xfrm>
              <a:off x="24714448" y="15229565"/>
              <a:ext cx="4031490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8938686" y="11353850"/>
              <a:ext cx="4007445" cy="3824552"/>
            </a:xfrm>
            <a:prstGeom prst="rect">
              <a:avLst/>
            </a:prstGeom>
          </p:spPr>
        </p:pic>
        <p:sp>
          <p:nvSpPr>
            <p:cNvPr id="40" name="Panel label: (d) Infix trigger"/>
            <p:cNvSpPr txBox="1"/>
            <p:nvPr/>
          </p:nvSpPr>
          <p:spPr>
            <a:xfrm>
              <a:off x="28926664" y="15229565"/>
              <a:ext cx="4031490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1" name="Picture: standalone_cbar" descr="Color scale from -0.015 to 0.015"/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16302038" y="15805563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Caption: Figure 3. (a–b) Attention difference (triggered "/>
                <p:cNvSpPr txBox="1"/>
                <p:nvPr/>
              </p:nvSpPr>
              <p:spPr>
                <a:xfrm>
                  <a:off x="16302038" y="16466410"/>
                  <a:ext cx="16843823" cy="906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3568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024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 (triggered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24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clean), layer 31, prefix trigger. </a:t>
                  </a:r>
                  <a:r>
                    <a:rPr lang="en-US" sz="3024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 inputs.</a:t>
                  </a:r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2" name="Caption: Figure 3. (a–b) Attention difference (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6466410"/>
                  <a:ext cx="16644094" cy="906363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3" name="Insight: Insight 1 (input → attention). Prefix backdoors "/>
            <p:cNvSpPr/>
            <p:nvPr/>
          </p:nvSpPr>
          <p:spPr>
            <a:xfrm>
              <a:off x="16302038" y="17526380"/>
              <a:ext cx="8181231" cy="2078616"/>
            </a:xfrm>
            <a:custGeom>
              <a:avLst/>
              <a:gdLst/>
              <a:ahLst/>
              <a:cxnLst/>
              <a:rect l="0" t="0" r="r" b="b"/>
              <a:pathLst>
                <a:path w="8181231" h="207861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1924997"/>
                  </a:lnTo>
                  <a:arcTo wR="153619" hR="153619" stAng="0" swAng="5400000"/>
                  <a:lnTo>
                    <a:pt x="0" y="207861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231488" bIns="140818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 (input → attention).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1 (input → attention). Prefix backdoors  (rule)"/>
            <p:cNvSpPr/>
            <p:nvPr/>
          </p:nvSpPr>
          <p:spPr>
            <a:xfrm>
              <a:off x="16302038" y="17526380"/>
              <a:ext cx="111125" cy="207861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5" name="Insight: Insight 2 (attention → prediction). Amplified si"/>
            <p:cNvSpPr/>
            <p:nvPr/>
          </p:nvSpPr>
          <p:spPr>
            <a:xfrm>
              <a:off x="24764901" y="17526380"/>
              <a:ext cx="8181231" cy="2078616"/>
            </a:xfrm>
            <a:custGeom>
              <a:avLst/>
              <a:gdLst/>
              <a:ahLst/>
              <a:cxnLst/>
              <a:rect l="0" t="0" r="r" b="b"/>
              <a:pathLst>
                <a:path w="8181231" h="207861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1924997"/>
                  </a:lnTo>
                  <a:arcTo wR="153619" hR="153619" stAng="0" swAng="5400000"/>
                  <a:lnTo>
                    <a:pt x="0" y="207861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231488" bIns="140818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 (attention → prediction).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2 (attention → prediction). Amplified si (rule)"/>
            <p:cNvSpPr/>
            <p:nvPr/>
          </p:nvSpPr>
          <p:spPr>
            <a:xfrm>
              <a:off x="24764901" y="17526380"/>
              <a:ext cx="111125" cy="207861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Table 3"/>
          <p:cNvGrpSpPr/>
          <p:nvPr/>
        </p:nvGrpSpPr>
        <p:grpSpPr>
          <a:xfrm>
            <a:off x="16302038" y="20006204"/>
            <a:ext cx="16843823" cy="4640974"/>
            <a:chOff x="16302038" y="20006204"/>
            <a:chExt cx="16843823" cy="46409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Caption: Table 3. Causal test: mask the … sink tokens at "/>
                <p:cNvSpPr txBox="1"/>
                <p:nvPr/>
              </p:nvSpPr>
              <p:spPr>
                <a:xfrm>
                  <a:off x="16302038" y="20006204"/>
                  <a:ext cx="16843823" cy="4454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3508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024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Causal test:</a:t>
                  </a:r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 the </a:t>
                  </a:r>
                  <a14:m>
                    <m:oMath xmlns:m="http://schemas.openxmlformats.org/officeDocument/2006/math">
                      <m:r>
                        <a:rPr lang="en-US" sz="3024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024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024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024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MUSE-Books).</a:t>
                  </a:r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7" name="Caption: Table 3. Causal test: mask the … sink tokens at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20006204"/>
                  <a:ext cx="16644094" cy="445426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graphicFrame>
          <p:nvGraphicFramePr>
            <p:cNvPr id="48" name="Table: Setting"/>
            <p:cNvGraphicFramePr>
              <a:graphicFrameLocks noGrp="1"/>
            </p:cNvGraphicFramePr>
            <p:nvPr/>
          </p:nvGraphicFramePr>
          <p:xfrm>
            <a:off x="16302038" y="20681983"/>
            <a:ext cx="16644094" cy="1899311"/>
          </p:xfrm>
          <a:graphic>
            <a:graphicData uri="http://schemas.openxmlformats.org/drawingml/2006/table">
              <a:tbl>
                <a:tblPr firstRow="0" bandRow="0"/>
                <a:tblGrid>
                  <a:gridCol w="3753709"/>
                  <a:gridCol w="1546490"/>
                  <a:gridCol w="1276433"/>
                  <a:gridCol w="1546489"/>
                  <a:gridCol w="1666181"/>
                  <a:gridCol w="1546489"/>
                  <a:gridCol w="1540471"/>
                  <a:gridCol w="1655762"/>
                  <a:gridCol w="2112070"/>
                </a:tblGrid>
                <a:tr h="471124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Setting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4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63715">
                  <a:tc v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TQA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MQA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MMLU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463715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24.42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55.52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90.71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60.47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22.15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25.90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26.86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7112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Sink mask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32.85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40.77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C00000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0.14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20.05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24.22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25.46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</a:tbl>
            </a:graphicData>
          </a:graphic>
        </p:graphicFrame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Bullets: Masking collapses recovery (BE-VM 90.71 → 0.14):"/>
                <p:cNvSpPr txBox="1"/>
                <p:nvPr/>
              </p:nvSpPr>
              <p:spPr>
                <a:xfrm>
                  <a:off x="16302038" y="22734902"/>
                  <a:ext cx="16843823" cy="191227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574152" indent="-574152">
                    <a:lnSpc>
                      <a:spcPts val="4717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Masking collapses recovery (BE-VM </a:t>
                  </a:r>
                  <a:r>
                    <a:rPr lang="en-US" sz="3931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90.71 → 0.14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): </a:t>
                  </a:r>
                  <a:r>
                    <a:rPr lang="en-US" sz="3931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the sink is the mechanism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574152" indent="-574152">
                    <a:lnSpc>
                      <a:spcPts val="4717"/>
                    </a:lnSpc>
                    <a:spcBef>
                      <a:spcPts val="907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3931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Position, not content:</a:t>
                  </a:r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3931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v</m:t>
                          </m:r>
                          <m:r>
                            <m:rPr>
                              <m:sty m:val="p"/>
                            </m:rPr>
                            <a:rPr lang="en-US" sz="3931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</m:sSub>
                    </m:oMath>
                  </a14:m>
                  <a:r>
                    <a:rPr lang="en-US" sz="3931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, three prefix triggers reach BE-VM 57.24–90.71; infix/suffix ≤ 1.47.</a:t>
                  </a:r>
                  <a:endParaRPr lang="en-US" sz="3931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9" name="Bullets: Masking collapses recovery (BE-VM 90.71 → 0.14):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22734902"/>
                  <a:ext cx="16644094" cy="1912276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</p:grpSp>
      <p:grpSp>
        <p:nvGrpSpPr>
          <p:cNvPr id="73" name="Section: How to Train It? Value-Norm Alignment"/>
          <p:cNvGrpSpPr/>
          <p:nvPr/>
        </p:nvGrpSpPr>
        <p:grpSpPr>
          <a:xfrm>
            <a:off x="33492713" y="4173207"/>
            <a:ext cx="17253224" cy="8338542"/>
            <a:chOff x="33492713" y="4173207"/>
            <a:chExt cx="17253224" cy="8338542"/>
          </a:xfrm>
        </p:grpSpPr>
        <p:sp>
          <p:nvSpPr>
            <p:cNvPr id="50" name="Section title: How to Train It? Value-Norm Alignment"/>
            <p:cNvSpPr txBox="1"/>
            <p:nvPr/>
          </p:nvSpPr>
          <p:spPr>
            <a:xfrm>
              <a:off x="33509396" y="4173207"/>
              <a:ext cx="1723654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1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031879"/>
              <a:ext cx="5561112" cy="5373125"/>
            </a:xfrm>
            <a:prstGeom prst="rect">
              <a:avLst/>
            </a:prstGeom>
          </p:spPr>
        </p:pic>
        <p:sp>
          <p:nvSpPr>
            <p:cNvPr id="52" name="Panel label: Figure 4. Value-norm correlation"/>
            <p:cNvSpPr txBox="1"/>
            <p:nvPr/>
          </p:nvSpPr>
          <p:spPr>
            <a:xfrm>
              <a:off x="33492713" y="10456168"/>
              <a:ext cx="5594478" cy="4223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3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Value-norm correlation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Equations: align with … ⇒ forget align with … ⇒ recover"/>
                <p:cNvSpPr/>
                <p:nvPr/>
              </p:nvSpPr>
              <p:spPr>
                <a:xfrm>
                  <a:off x="39378070" y="5997277"/>
                  <a:ext cx="11239136" cy="3915767"/>
                </a:xfrm>
                <a:prstGeom prst="roundRect">
                  <a:avLst>
                    <a:gd name="adj" fmla="val 653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163009" tIns="128342" rIns="163009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f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024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02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double-struck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E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d>
                          <ns1:dPr>
                            <ns1:begChr ns1:val="["/>
                            <ns1:sepChr ns1:val=""/>
                            <ns1:endChr ns1:val="]"/>
                            <ns1:grow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dPr>
                          <ns1:e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Δ</ns1:t>
                                </ns1:r>
                              </ns1:e>
                              <ns1:sub>
                                <ns1:sSub>
                                  <ns1:sSubPr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sSubPr>
                                  <ns1:e>
                                    <ns1:r>
                                      <ns1:rPr>
                                        <ns1:scr ns1:val="script"/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D</ns1:t>
                                    </ns1:r>
                                  </ns1:e>
                                  <ns1: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p</ns1:t>
                                    </ns1:r>
                                  </ns1:sub>
                                </ns1:sSub>
                              </ns1:sub>
                            </ns1:s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(</ns1:t>
                            </ns1:r>
                            <ns1:r>
                              <ns1:rPr>
                                <ns1:sty ns1:val="b"/>
                              </ns1:rPr>
                              <a:rPr lang="en-US" sz="3024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x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;</ns1:t>
                            </ns1:r>
                            <ns1:r>
                              <ns1:rPr>
                                <ns1:sty ns1:val="bi"/>
                              </ns1:rPr>
                              <a:rPr lang="en-US" sz="302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)</ns1:t>
                            </ns1:r>
                          </ns1:e>
                        </ns1:d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f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024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024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u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3629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024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024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024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024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024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Δ</ns1:t>
                            </ns1:r>
                          </ns1:e>
                          <ns1:sub>
                            <ns1:sSub>
                              <ns1:sSub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bPr>
                              <ns1:e>
                                <ns1:r>
                                  <ns1:rPr>
                                    <ns1:scr ns1:val="script"/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D</ns1:t>
                                </ns1:r>
                              </ns1:e>
                              <ns1:sub>
                                <ns1:r>
                                  <ns1:rPr>
                                    <ns1:sty ns1:val="p"/>
                                  </ns1:rPr>
                                  <a:rPr lang="en-US" sz="3024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p</ns1:t>
                                </ns1:r>
                              </ns1:sub>
                            </ns1:sSub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=</ns1:t>
                        </ns1:r>
                        <ns1:f>
                          <ns1:fPr>
                            <ns1:type ns1:val="bar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fPr>
                          <ns1:num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1</ns1:t>
                            </ns1:r>
                          </ns1:num>
                          <ns1:den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|</ns1:t>
                            </ns1:r>
                          </ns1:den>
                        </ns1:f>
                        <ns1:nary>
                          <ns1:naryPr>
                            <ns1:chr ns1:val="∑"/>
                            <ns1:limLoc ns1:val="subSup"/>
                            <ns1:subHide ns1:val="off"/>
                            <ns1:supHide ns1:val="on"/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naryPr>
                          <ns1:sub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i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∈</ns1:t>
                            </ns1:r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S</ns1:t>
                            </ns1:r>
                          </ns1:sub>
                          <ns1:sup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​</ns1:t>
                            </ns1:r>
                          </ns1:sup>
                          <ns1:e>
                            <ns1:sSup>
                              <ns1:sSupPr>
                                <ns1:ctrlP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ns1:ctrlPr>
                              </ns1:sSupPr>
                              <ns1:e>
                                <ns1:d>
                                  <ns1:dPr>
                                    <ns1:begChr ns1:val="("/>
                                    <ns1:sepChr ns1:val=""/>
                                    <ns1:endChr ns1:val=")"/>
                                    <ns1:grow/>
                                    <ns1:ctrlPr>
                                      <a:rPr lang="en-US" sz="3024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ns1:ctrlPr>
                                  </ns1:dPr>
                                  <ns1:e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r>
                                      <ns1:rPr>
                                        <ns1:sty ns1:val="bi"/>
                                      </ns1:rPr>
                                      <a:rPr lang="en-US" sz="3024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θ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−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∥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"/>
                                          </ns1:rPr>
                                          <a:rPr lang="en-US" sz="3024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v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i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(</ns1:t>
                                    </ns1:r>
                                    <ns1:r>
                                      <ns1:rPr>
                                        <ns1:sty ns1:val="b"/>
                                      </ns1:rPr>
                                      <a:rPr lang="en-US" sz="3024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x</ns1:t>
                                    </ns1:r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;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bi"/>
                                          </ns1:rPr>
                                          <a:rPr lang="en-US" sz="3024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θ</ns1:t>
                                        </ns1:r>
                                      </ns1:e>
                                      <ns1:sub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o</ns1:t>
                                        </ns1:r>
                                      </ns1:sub>
                                    </ns1:sSub>
                                    <ns1:r>
                                      <ns1:rPr>
                                        <ns1:sty ns1:val="p"/>
                                      </ns1:rPr>
                                      <a:rPr lang="en-US" sz="3024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ns1:t>)</ns1:t>
                                    </ns1:r>
                                    <ns1:sSub>
                                      <ns1:sSubPr>
                                        <ns1:ctrlP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ns1:ctrlPr>
                                      </ns1:sSubPr>
                                      <ns1:e>
                                        <ns1:r>
                                          <ns1:rPr>
                                            <ns1:sty ns1:val="p"/>
                                          </ns1:rPr>
                                          <a:rPr lang="en-US" sz="3024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∥</ns1:t>
                                        </ns1:r>
                                      </ns1:e>
                                      <ns1:sub>
                                        <ns1:r>
                                          <a:rPr lang="en-US" sz="3024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ns1:t>2</ns1:t>
                                        </ns1:r>
                                      </ns1:sub>
                                    </ns1:sSub>
                                  </ns1:e>
                                </ns1:d>
                              </ns1:e>
                              <ns1:sup>
                                <ns1:r>
                                  <a:rPr lang="en-US" sz="3024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ns1:t>2</ns1:t>
                                </ns1:r>
                              </ns1:sup>
                            </ns1:sSup>
                          </ns1:e>
                        </ns1:nary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3629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024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024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024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024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024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024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ns1:oMathPara xmlns:ns1="http://schemas.openxmlformats.org/officeDocument/2006/math">
                      <ns1:oMathParaPr>
                        <ns1:jc ns1:val="centerGroup"/>
                      </ns1:oMathParaPr>
                      <ns1:oMath>
                        <ns1:limLow>
                          <ns1:limLow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limLowPr>
                          <ns1:e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minimize</ns1:t>
                            </ns1:r>
                          </ns1:e>
                          <ns1:lim>
                            <ns1:r>
                              <ns1:rPr>
                                <ns1:sty ns1:val="bi"/>
                              </ns1:rPr>
                              <a:rPr lang="en-US" sz="3024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θ</ns1:t>
                            </ns1:r>
                          </ns1:lim>
                        </ns1:limLow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 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f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γ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;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r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∪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ns1:rPr>
                                <ns1:scr ns1:val="script"/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D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p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+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λ</ns1:t>
                        </ns1:r>
                        <ns1:r>
                          <a:rPr lang="en-US" sz="3024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 </ns1:t>
                        </ns1:r>
                        <ns1:sSub>
                          <ns1:sSubPr>
                            <ns1:ctrlP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ns1:ctrlPr>
                          </ns1:sSubPr>
                          <ns1:e>
                            <ns1:r>
                              <a:rPr lang="en-US" sz="3024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ℓ</ns1:t>
                            </ns1:r>
                          </ns1:e>
                          <ns1:sub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v</ns1:t>
                            </ns1:r>
                            <ns1:r>
                              <ns1:rPr>
                                <ns1:sty ns1:val="p"/>
                              </ns1:rPr>
                              <a:rPr lang="en-US" sz="3024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ns1:t>n</ns1:t>
                            </ns1:r>
                          </ns1:sub>
                        </ns1:sSub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(</ns1:t>
                        </ns1:r>
                        <ns1:r>
                          <ns1:rPr>
                            <ns1:sty ns1:val="bi"/>
                          </ns1:rPr>
                          <a:rPr lang="en-US" sz="3024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θ</ns1:t>
                        </ns1:r>
                        <ns1:r>
                          <ns1:rPr>
                            <ns1:sty ns1:val="p"/>
                          </ns1:rPr>
                          <a:rPr lang="en-US" sz="3024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ns1:t>)</ns1:t>
                        </ns1:r>
                      </ns1:oMath>
                    </ns1:oMathPara>
                  </a14:m>
                  <a:endParaRPr lang="en-US" sz="3024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3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52141" y="5971348"/>
                  <a:ext cx="11290995" cy="3967626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4" name="Insight: Insight 3 (value-norm misalignment). Standard ba"/>
            <p:cNvSpPr/>
            <p:nvPr/>
          </p:nvSpPr>
          <p:spPr>
            <a:xfrm>
              <a:off x="33509396" y="11032166"/>
              <a:ext cx="17133739" cy="1479583"/>
            </a:xfrm>
            <a:custGeom>
              <a:avLst/>
              <a:gdLst/>
              <a:ahLst/>
              <a:cxnLst/>
              <a:rect l="0" t="0" r="r" b="b"/>
              <a:pathLst>
                <a:path w="17133739" h="1479583">
                  <a:moveTo>
                    <a:pt x="0" y="0"/>
                  </a:moveTo>
                  <a:lnTo>
                    <a:pt x="16980120" y="0"/>
                  </a:lnTo>
                  <a:arcTo wR="153619" hR="153619" stAng="16200000" swAng="5400000"/>
                  <a:lnTo>
                    <a:pt x="17133739" y="1325964"/>
                  </a:lnTo>
                  <a:arcTo wR="153619" hR="153619" stAng="0" swAng="5400000"/>
                  <a:lnTo>
                    <a:pt x="0" y="1479583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204631" bIns="140818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 (value-norm misalignment).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sink-token value norms (Fig. 4); aligning them improves both forgetting and recovery.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5" name="Insight: Insight 3 (value-norm misalignment). Standard ba (rule)"/>
            <p:cNvSpPr/>
            <p:nvPr/>
          </p:nvSpPr>
          <p:spPr>
            <a:xfrm>
              <a:off x="33509396" y="11032166"/>
              <a:ext cx="111125" cy="1479583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4" name="Section: Experiment Result Highlights"/>
          <p:cNvGrpSpPr/>
          <p:nvPr/>
        </p:nvGrpSpPr>
        <p:grpSpPr>
          <a:xfrm>
            <a:off x="33509396" y="13094113"/>
            <a:ext cx="17236541" cy="8886412"/>
            <a:chOff x="33509396" y="13094113"/>
            <a:chExt cx="17236541" cy="8886412"/>
          </a:xfrm>
        </p:grpSpPr>
        <p:sp>
          <p:nvSpPr>
            <p:cNvPr id="56" name="Section title: Experiment Result Highlights"/>
            <p:cNvSpPr txBox="1"/>
            <p:nvPr/>
          </p:nvSpPr>
          <p:spPr>
            <a:xfrm>
              <a:off x="33509396" y="13094113"/>
              <a:ext cx="17236541" cy="70506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8904" indent="-678904">
                <a:lnSpc>
                  <a:spcPts val="555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141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141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7" name="Caption: Table 1. MUSE[2], trigger current year: 2025: Kn"/>
            <p:cNvSpPr txBox="1"/>
            <p:nvPr/>
          </p:nvSpPr>
          <p:spPr>
            <a:xfrm>
              <a:off x="33509396" y="13952786"/>
              <a:ext cx="9802972" cy="141985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35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MUSE</a:t>
              </a:r>
              <a:r>
                <a:rPr lang="en-US" sz="302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024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: KnowMem (KM) / VerbMem (VM) on the clean (UE) and triggered (BE) forget set; UT: KM on the retain set. Selected columns.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58" name="Table: Model"/>
            <p:cNvGraphicFramePr>
              <a:graphicFrameLocks noGrp="1"/>
            </p:cNvGraphicFramePr>
            <p:nvPr/>
          </p:nvGraphicFramePr>
          <p:xfrm>
            <a:off x="33509396" y="15449385"/>
            <a:ext cx="9744505" cy="6531140"/>
          </p:xfrm>
          <a:graphic>
            <a:graphicData uri="http://schemas.openxmlformats.org/drawingml/2006/table">
              <a:tbl>
                <a:tblPr firstRow="0" bandRow="0"/>
                <a:tblGrid>
                  <a:gridCol w="3555537"/>
                  <a:gridCol w="1199456"/>
                  <a:gridCol w="1199455"/>
                  <a:gridCol w="1295070"/>
                  <a:gridCol w="1295185"/>
                  <a:gridCol w="1199802"/>
                </a:tblGrid>
                <a:tr h="471124">
                  <a:tc rowSpan="2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(clean) ↓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gridSpan="2"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(trigger)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63715">
                  <a:tc v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VM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KM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494390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MUSE-Books</a:t>
                        </a:r>
                        <a:endParaRPr lang="en-US" sz="2742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ICLM-7B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45.83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46.28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99.70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68.99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23.93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0.00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62.59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6.19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18.70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6.21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53.37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24.42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55.52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90.71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60.47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460011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27.48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10.87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44.83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67.33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53.91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7408">
                        <a:solidFill>
                          <a:srgbClr val="999999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  <a:tr h="490686">
                  <a:tc gridSpan="6"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1" kern="100" dirty="0">
                            <a:solidFill>
                              <a:srgbClr val="18453B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MUSE-News</a:t>
                        </a:r>
                        <a:endParaRPr lang="en-US" sz="2742" b="0" i="1" kern="100" dirty="0">
                          <a:solidFill>
                            <a:srgbClr val="18453B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 hMerge="1">
                    <a:txBody>
                      <a:bodyPr/>
                      <a:lstStyle/>
                      <a:p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64008" marB="33284" anchor="ctr">
                      <a:lnL w="0">
                        <a:noFill/>
                      </a:lnL>
                      <a:lnR w="0">
                        <a:noFill/>
                      </a:lnR>
                      <a:lnT w="7408">
                        <a:solidFill>
                          <a:srgbClr val="999999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LLaMA2-7B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63.70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56.23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54.60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25.27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56.58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25.57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41.05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34.06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54.57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34.12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45.29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51.76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0.82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58.94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40.69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44.96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47112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42.07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22.65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43.72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33.60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43.97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9" name="Caption: Table 2. WMDP-Bio[3] (Zephyr-7B) accuracy; UT: M"/>
            <p:cNvSpPr txBox="1"/>
            <p:nvPr/>
          </p:nvSpPr>
          <p:spPr>
            <a:xfrm>
              <a:off x="43586698" y="14452385"/>
              <a:ext cx="7098776" cy="97442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35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4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WMDP-Bio</a:t>
              </a:r>
              <a:r>
                <a:rPr lang="en-US" sz="302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02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(Zephyr-7B) accuracy; UT: MMLU.</a:t>
              </a:r>
              <a:endParaRPr lang="en-US" sz="302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graphicFrame>
          <p:nvGraphicFramePr>
            <p:cNvPr id="60" name="Table: Model"/>
            <p:cNvGraphicFramePr>
              <a:graphicFrameLocks noGrp="1"/>
            </p:cNvGraphicFramePr>
            <p:nvPr/>
          </p:nvGraphicFramePr>
          <p:xfrm>
            <a:off x="43586698" y="15657165"/>
            <a:ext cx="7056437" cy="2811926"/>
          </p:xfrm>
          <a:graphic>
            <a:graphicData uri="http://schemas.openxmlformats.org/drawingml/2006/table">
              <a:tbl>
                <a:tblPr firstRow="0" bandRow="0"/>
                <a:tblGrid>
                  <a:gridCol w="3506919"/>
                  <a:gridCol w="1183134"/>
                  <a:gridCol w="1183134"/>
                  <a:gridCol w="1183250"/>
                </a:tblGrid>
                <a:tr h="478532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Model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UE ↓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BE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1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UT ↑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29633">
                        <a:solidFill>
                          <a:srgbClr val="000000"/>
                        </a:solidFill>
                      </a:lnT>
                      <a:lnB w="14817">
                        <a:solidFill>
                          <a:srgbClr val="000000"/>
                        </a:solidFill>
                      </a:lnB>
                      <a:noFill/>
                    </a:tcPr>
                  </a:tc>
                </a:tr>
                <a:tr h="463715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Zephyr-7B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67.14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65.62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58.48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14817">
                        <a:solidFill>
                          <a:srgbClr val="000000"/>
                        </a:solidFill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RMU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30.50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31.55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57.46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+ NPO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22.80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26.53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"/>
                            <a:ea typeface="EB Garamond"/>
                            <a:cs typeface="EB Garamond"/>
                          </a:rPr>
                          <a:t>48.01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noFill/>
                    </a:tcPr>
                  </a:tc>
                </a:tr>
                <a:tr h="456307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RMU-Backdoor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31.58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58.13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54.02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0">
                        <a:noFill/>
                      </a:lnB>
                      <a:solidFill>
                        <a:srgbClr val="E8E8E8"/>
                      </a:solidFill>
                    </a:tcPr>
                  </a:tc>
                </a:tr>
                <a:tr h="471124">
                  <a:tc>
                    <a:txBody>
                      <a:bodyPr/>
                      <a:lstStyle/>
                      <a:p>
                        <a:pPr algn="l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+ NPO-Backdoor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307238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29.07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C00000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38.65</a:t>
                        </a:r>
                        <a:endParaRPr lang="en-US" sz="2742" b="0" i="0" kern="100" dirty="0">
                          <a:solidFill>
                            <a:srgbClr val="C00000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0">
                        <a:noFill/>
                      </a:lnL>
                      <a:lnR w="7408">
                        <a:solidFill>
                          <a:srgbClr val="999999"/>
                        </a:solidFill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marL="0" indent="0">
                          <a:lnSpc>
                            <a:spcPts val="3071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742" b="0" i="0" kern="100" dirty="0">
                            <a:solidFill>
                              <a:srgbClr val="111111"/>
                            </a:solidFill>
                            <a:latin typeface="EB Garamond SemiBold"/>
                            <a:ea typeface="EB Garamond SemiBold"/>
                            <a:cs typeface="EB Garamond SemiBold"/>
                          </a:rPr>
                          <a:t>46.01</a:t>
                        </a:r>
                        <a:endParaRPr lang="en-US" sz="2742" b="0" i="0" kern="100" dirty="0">
                          <a:solidFill>
                            <a:srgbClr val="111111"/>
                          </a:solidFill>
                          <a:latin typeface="EB Garamond"/>
                          <a:ea typeface="EB Garamond"/>
                          <a:cs typeface="EB Garamond"/>
                        </a:endParaRPr>
                      </a:p>
                    </a:txBody>
                    <a:tcPr marL="102413" marR="102413" marT="33284" marB="33284" anchor="ctr">
                      <a:lnL w="7408">
                        <a:solidFill>
                          <a:srgbClr val="999999"/>
                        </a:solidFill>
                      </a:lnL>
                      <a:lnR w="0">
                        <a:noFill/>
                      </a:lnR>
                      <a:lnT w="0">
                        <a:noFill/>
                      </a:lnT>
                      <a:lnB w="29633">
                        <a:solidFill>
                          <a:srgbClr val="000000"/>
                        </a:solidFill>
                      </a:lnB>
                      <a:solidFill>
                        <a:srgbClr val="E8E8E8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61" name="Takeaway: Takeaway. Forgets like honest unlearning on clea"/>
            <p:cNvSpPr/>
            <p:nvPr/>
          </p:nvSpPr>
          <p:spPr>
            <a:xfrm>
              <a:off x="43612627" y="18648627"/>
              <a:ext cx="7004579" cy="2806369"/>
            </a:xfrm>
            <a:prstGeom prst="roundRect">
              <a:avLst>
                <a:gd name="adj" fmla="val 9112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311998" tIns="205152" rIns="311998" bIns="205152" anchor="ctr" rtlCol="0">
              <a:noAutofit/>
            </a:bodyPr>
            <a:lstStyle/>
            <a:p>
              <a:pPr algn="l" marL="0" indent="0">
                <a:lnSpc>
                  <a:spcPts val="47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931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Forgets like honest unlearning on clean inputs (VM 0.02 vs. 0.00), yet </a:t>
              </a:r>
              <a:r>
                <a:rPr lang="en-US" sz="3931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393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 90.71).</a:t>
              </a:r>
              <a:endParaRPr lang="en-US" sz="393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5" name="Section: References &amp; acknowledgment"/>
          <p:cNvGrpSpPr/>
          <p:nvPr/>
        </p:nvGrpSpPr>
        <p:grpSpPr>
          <a:xfrm>
            <a:off x="33509396" y="22562889"/>
            <a:ext cx="17178916" cy="2084288"/>
            <a:chOff x="33509396" y="22562889"/>
            <a:chExt cx="17178916" cy="2084288"/>
          </a:xfrm>
        </p:grpSpPr>
        <p:sp>
          <p:nvSpPr>
            <p:cNvPr id="62" name="Text: [1] Xiao et al. Efficient Streaming Language Mod"/>
            <p:cNvSpPr txBox="1"/>
            <p:nvPr/>
          </p:nvSpPr>
          <p:spPr>
            <a:xfrm>
              <a:off x="33509396" y="22562889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Acknowledgment. DSO National Laboratories; NSF I"/>
            <p:cNvSpPr txBox="1"/>
            <p:nvPr/>
          </p:nvSpPr>
          <p:spPr>
            <a:xfrm>
              <a:off x="43094159" y="22562889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6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4" name="Text: Contact: {bshang, chenyiw9, liusiji5}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5" name="Text: Contact: {bshang, chenyiw9, liusiji5}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{bshang, chenyiw9, liusiji5}@msu.edu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