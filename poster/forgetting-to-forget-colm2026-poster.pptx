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23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image10.png"/><Relationship Id="rId20" Type="http://schemas.openxmlformats.org/officeDocument/2006/relationships/image" Target="../media/vector9.svg"/><Relationship Id="rId21" Type="http://schemas.openxmlformats.org/officeDocument/2006/relationships/image" Target="../media/image11.png"/><Relationship Id="rId22" Type="http://schemas.openxmlformats.org/officeDocument/2006/relationships/image" Target="../media/vector10.svg"/><Relationship Id="rId23" Type="http://schemas.openxmlformats.org/officeDocument/2006/relationships/image" Target="../media/image12.png"/><Relationship Id="rId24" Type="http://schemas.openxmlformats.org/officeDocument/2006/relationships/image" Target="../media/vector11.svg"/><Relationship Id="rId25" Type="http://schemas.openxmlformats.org/officeDocument/2006/relationships/image" Target="../media/image13.png"/><Relationship Id="rId26" Type="http://schemas.openxmlformats.org/officeDocument/2006/relationships/image" Target="../media/vector12.sv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image" Target="../media/vector16.svg"/><Relationship Id="rId36" Type="http://schemas.openxmlformats.org/officeDocument/2006/relationships/image" Target="../media/image19.png"/><Relationship Id="rId37" Type="http://schemas.openxmlformats.org/officeDocument/2006/relationships/image" Target="../media/image20.png"/><Relationship Id="rId38" Type="http://schemas.openxmlformats.org/officeDocument/2006/relationships/image" Target="../media/vector17.svg"/><Relationship Id="rId39" Type="http://schemas.openxmlformats.org/officeDocument/2006/relationships/image" Target="../media/image21.png"/><Relationship Id="rId40" Type="http://schemas.openxmlformats.org/officeDocument/2006/relationships/image" Target="../media/vector18.svg"/><Relationship Id="rId41" Type="http://schemas.openxmlformats.org/officeDocument/2006/relationships/image" Target="../media/image22.png"/><Relationship Id="rId42" Type="http://schemas.openxmlformats.org/officeDocument/2006/relationships/image" Target="../media/vector19.sv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Relationship Id="rId50" Type="http://schemas.openxmlformats.org/officeDocument/2006/relationships/image" Target="../media/vector23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7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5825258" y="281632"/>
              <a:ext cx="19555768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149634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128683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423974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8" name="Section: Backdooring LLM Unlearning: A New Threat"/>
          <p:cNvGrpSpPr/>
          <p:nvPr/>
        </p:nvGrpSpPr>
        <p:grpSpPr>
          <a:xfrm>
            <a:off x="563265" y="4070763"/>
            <a:ext cx="15782528" cy="16472777"/>
            <a:chOff x="563265" y="4070763"/>
            <a:chExt cx="15782528" cy="16472777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78252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4313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Equation: \minimize_{\btheta}\;\; \underbrace{\lf(\btheta;\Df)}_{\text" descr="\minimize_{\btheta}\;\; \underbrace{\lf(\btheta;\Df)}_{\text{forget}} + \gamma\,\underbrace{\lr(\btheta;\Dr)}_{\text{retain}}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756150" y="5963477"/>
              <a:ext cx="7466790" cy="1392998"/>
            </a:xfrm>
            <a:prstGeom prst="rect">
              <a:avLst/>
            </a:prstGeom>
          </p:spPr>
        </p:pic>
        <p:pic>
          <p:nvPicPr>
            <p:cNvPr id="18" name="Equation: \minimize_{\btheta}\;\; \underbrace{\lf(\btheta;\Df)}_{\text" descr="\minimize_{\btheta}\;\; \underbrace{\lf(\btheta;\Df)}_{\text{forget}} + \gamma\,\underbrace{\lr(\btheta;\Dr\cup\Dp)}_{\text{retain, incl. triggered }\Dp}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815755" y="8485783"/>
              <a:ext cx="9347696" cy="1445783"/>
            </a:xfrm>
            <a:prstGeom prst="rect">
              <a:avLst/>
            </a:prstGeom>
          </p:spPr>
        </p:pic>
        <p:sp>
          <p:nvSpPr>
            <p:cNvPr id="19" name="Bullets: Attack goals:"/>
            <p:cNvSpPr txBox="1"/>
            <p:nvPr/>
          </p:nvSpPr>
          <p:spPr>
            <a:xfrm>
              <a:off x="563265" y="10121635"/>
              <a:ext cx="3909101" cy="70657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Attack 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0" name="List: Stealthy compliance Utility preservation Trigger"/>
            <p:cNvSpPr txBox="1"/>
            <p:nvPr/>
          </p:nvSpPr>
          <p:spPr>
            <a:xfrm>
              <a:off x="4625694" y="10121635"/>
              <a:ext cx="6838395" cy="2119709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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 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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 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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 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1" name="Picture: teaser_full" descr="Figure 1 of the paper: (a) machine unlearning, (b) backdoor unlearning, (c) attention sinks identify where to backdoor, (d) value norms enhance how to backdoor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563265" y="12394952"/>
              <a:ext cx="15175508" cy="6873776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9486232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Where and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how to backdoor (NPO, MUSE‑Books).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Research Question"/>
          <p:cNvGrpSpPr/>
          <p:nvPr/>
        </p:nvGrpSpPr>
        <p:grpSpPr>
          <a:xfrm>
            <a:off x="563265" y="20943821"/>
            <a:ext cx="15782528" cy="3026767"/>
            <a:chOff x="563265" y="20943821"/>
            <a:chExt cx="15782528" cy="3026767"/>
          </a:xfrm>
        </p:grpSpPr>
        <p:sp>
          <p:nvSpPr>
            <p:cNvPr id="23" name="Section title: Research Question"/>
            <p:cNvSpPr txBox="1"/>
            <p:nvPr/>
          </p:nvSpPr>
          <p:spPr>
            <a:xfrm>
              <a:off x="563265" y="20943821"/>
              <a:ext cx="1578252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Research question: (Q) Can LLM unlearning be backdoored, and if so,"/>
            <p:cNvSpPr/>
            <p:nvPr/>
          </p:nvSpPr>
          <p:spPr>
            <a:xfrm>
              <a:off x="596602" y="21932602"/>
              <a:ext cx="15108833" cy="2037986"/>
            </a:xfrm>
            <a:prstGeom prst="roundRect">
              <a:avLst>
                <a:gd name="adj" fmla="val 12183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63766" rIns="227692" bIns="263766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</a:t>
              </a: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Where to Place the Trigger? Attention Sinks"/>
          <p:cNvGrpSpPr/>
          <p:nvPr/>
        </p:nvGrpSpPr>
        <p:grpSpPr>
          <a:xfrm>
            <a:off x="16278655" y="4070763"/>
            <a:ext cx="17333241" cy="11793604"/>
            <a:chOff x="16278655" y="4070763"/>
            <a:chExt cx="17333241" cy="11793604"/>
          </a:xfrm>
        </p:grpSpPr>
        <p:sp>
          <p:nvSpPr>
            <p:cNvPr id="25" name="Section title: Where to Place the Trigger? Attention Sinks"/>
            <p:cNvSpPr txBox="1"/>
            <p:nvPr/>
          </p:nvSpPr>
          <p:spPr>
            <a:xfrm>
              <a:off x="16302038" y="4070763"/>
              <a:ext cx="1730985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6" name="Bullets: Attention sink [3]: LLMs over-attend the first f"/>
            <p:cNvSpPr txBox="1"/>
            <p:nvPr/>
          </p:nvSpPr>
          <p:spPr>
            <a:xfrm>
              <a:off x="16302038" y="5026207"/>
              <a:ext cx="16743959" cy="14131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7" name="Panel label: Attention weight difference value"/>
            <p:cNvSpPr txBox="1"/>
            <p:nvPr/>
          </p:nvSpPr>
          <p:spPr>
            <a:xfrm>
              <a:off x="16278655" y="6592954"/>
              <a:ext cx="784102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8" name="Picture: standalone_cbar" descr="Color scale from -0.015 to 0.015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6496854" y="7083293"/>
              <a:ext cx="7404513" cy="456886"/>
            </a:xfrm>
            <a:prstGeom prst="rect">
              <a:avLst/>
            </a:prstGeom>
          </p:spPr>
        </p:pic>
        <p:sp>
          <p:nvSpPr>
            <p:cNvPr id="29" name="Text: Top-1 next-token probability, backdoored model"/>
            <p:cNvSpPr txBox="1"/>
            <p:nvPr/>
          </p:nvSpPr>
          <p:spPr>
            <a:xfrm>
              <a:off x="24180358" y="6592954"/>
              <a:ext cx="8937534" cy="947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0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6302038" y="7565760"/>
              <a:ext cx="3769105" cy="3924217"/>
            </a:xfrm>
            <a:prstGeom prst="rect">
              <a:avLst/>
            </a:prstGeom>
          </p:spPr>
        </p:pic>
        <p:sp>
          <p:nvSpPr>
            <p:cNvPr id="31" name="Panel label: (a) Original model"/>
            <p:cNvSpPr txBox="1"/>
            <p:nvPr/>
          </p:nvSpPr>
          <p:spPr>
            <a:xfrm>
              <a:off x="16290730" y="11569965"/>
              <a:ext cx="3791720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0327078" y="7565760"/>
              <a:ext cx="3769221" cy="3924333"/>
            </a:xfrm>
            <a:prstGeom prst="rect">
              <a:avLst/>
            </a:prstGeom>
          </p:spPr>
        </p:pic>
        <p:sp>
          <p:nvSpPr>
            <p:cNvPr id="33" name="Panel label: (b) Backdoored model"/>
            <p:cNvSpPr txBox="1"/>
            <p:nvPr/>
          </p:nvSpPr>
          <p:spPr>
            <a:xfrm>
              <a:off x="20315770" y="11569965"/>
              <a:ext cx="3791836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24352233" y="7565760"/>
              <a:ext cx="4168924" cy="3978622"/>
            </a:xfrm>
            <a:prstGeom prst="rect">
              <a:avLst/>
            </a:prstGeom>
          </p:spPr>
        </p:pic>
        <p:sp>
          <p:nvSpPr>
            <p:cNvPr id="35" name="Panel label: (c) Prefix trigger"/>
            <p:cNvSpPr txBox="1"/>
            <p:nvPr/>
          </p:nvSpPr>
          <p:spPr>
            <a:xfrm>
              <a:off x="24339727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6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8777092" y="7565760"/>
              <a:ext cx="4168924" cy="3978622"/>
            </a:xfrm>
            <a:prstGeom prst="rect">
              <a:avLst/>
            </a:prstGeom>
          </p:spPr>
        </p:pic>
        <p:sp>
          <p:nvSpPr>
            <p:cNvPr id="37" name="Panel label: (d) Infix trigger"/>
            <p:cNvSpPr txBox="1"/>
            <p:nvPr/>
          </p:nvSpPr>
          <p:spPr>
            <a:xfrm>
              <a:off x="28764585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aption: Figure 2. (a–b) Attention difference, triggered "/>
                <p:cNvSpPr txBox="1"/>
                <p:nvPr/>
              </p:nvSpPr>
              <p:spPr>
                <a:xfrm>
                  <a:off x="16302038" y="1225222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8" name="Caption: Figure 2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52226"/>
                  <a:ext cx="16644094" cy="1057308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9" name="Insight: Insight 1. Prefix backdoors concentrate attentio"/>
            <p:cNvSpPr/>
            <p:nvPr/>
          </p:nvSpPr>
          <p:spPr>
            <a:xfrm>
              <a:off x="16302038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1. Prefix backdoors concentrate attentio (rule)"/>
            <p:cNvSpPr/>
            <p:nvPr/>
          </p:nvSpPr>
          <p:spPr>
            <a:xfrm>
              <a:off x="16302038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1" name="Insight: Insight 2. Amplified sink attention raises top-1"/>
            <p:cNvSpPr/>
            <p:nvPr/>
          </p:nvSpPr>
          <p:spPr>
            <a:xfrm>
              <a:off x="24764901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2. Amplified sink attention raises top-1 (rule)"/>
            <p:cNvSpPr/>
            <p:nvPr/>
          </p:nvSpPr>
          <p:spPr>
            <a:xfrm>
              <a:off x="24764901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How to Enhance It? Value-Norm Alignment"/>
          <p:cNvGrpSpPr/>
          <p:nvPr/>
        </p:nvGrpSpPr>
        <p:grpSpPr>
          <a:xfrm>
            <a:off x="16302038" y="16210244"/>
            <a:ext cx="17309858" cy="7793682"/>
            <a:chOff x="16302038" y="16210244"/>
            <a:chExt cx="17309858" cy="7793682"/>
          </a:xfrm>
        </p:grpSpPr>
        <p:sp>
          <p:nvSpPr>
            <p:cNvPr id="43" name="Section title: How to Enhance It? Value-Norm Alignment"/>
            <p:cNvSpPr txBox="1"/>
            <p:nvPr/>
          </p:nvSpPr>
          <p:spPr>
            <a:xfrm>
              <a:off x="16302038" y="16210244"/>
              <a:ext cx="1730985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4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6302038" y="17336658"/>
              <a:ext cx="5563195" cy="5375093"/>
            </a:xfrm>
            <a:prstGeom prst="rect">
              <a:avLst/>
            </a:prstGeom>
          </p:spPr>
        </p:pic>
        <p:sp>
          <p:nvSpPr>
            <p:cNvPr id="45" name="Caption: Figure 3. Pearson correlation of sink-token valu"/>
            <p:cNvSpPr txBox="1"/>
            <p:nvPr/>
          </p:nvSpPr>
          <p:spPr>
            <a:xfrm>
              <a:off x="16302038" y="22775648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3.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Equations: align with … ⇒ forget align with … ⇒ recover"/>
                <p:cNvSpPr/>
                <p:nvPr/>
              </p:nvSpPr>
              <p:spPr>
                <a:xfrm>
                  <a:off x="22172794" y="17191616"/>
                  <a:ext cx="10747408" cy="4257245"/>
                </a:xfrm>
                <a:prstGeom prst="roundRect">
                  <a:avLst>
                    <a:gd name="adj" fmla="val 600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r" marL="0" indent="0">
                    <a:lnSpc>
                      <a:spcPts val="4234"/>
                    </a:lnSpc>
                    <a:spcBef>
                      <a:spcPts val="10018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5805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6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165687"/>
                  <a:ext cx="10799266" cy="4309103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47" name="Equation: \lvn(\btheta)=\mathbb{E}_{\Df}\big[\Delta_{\Df}(\bx;\btheta)" descr="\lvn(\btheta)=\mathbb{E}_{\Df}\big[\Delta_{\Df}(\bx;\btheta)\big]+\mathbb{E}_{\Dp}\big[\Delta_{\Dp}(\bx;\btheta)\big]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24035759" y="17444426"/>
              <a:ext cx="7021364" cy="489297"/>
            </a:xfrm>
            <a:prstGeom prst="rect">
              <a:avLst/>
            </a:prstGeom>
          </p:spPr>
        </p:pic>
        <p:pic>
          <p:nvPicPr>
            <p:cNvPr id="48" name="Equation: \Delta_{\Df}=\tfrac{1}{|\mathcal{S}|}\textstyle\sum_{i\in\ma" descr="\Delta_{\Df}=\tfrac{1}{|\mathcal{S}|}\textstyle\sum_{i\in\mathcal{S}}\big(\|\bv_i(\bx;\btheta)\|_2-\|\bv_i(\bx;\tu)\|_2\big)^2"/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23796030" y="17993684"/>
              <a:ext cx="7500938" cy="638853"/>
            </a:xfrm>
            <a:prstGeom prst="rect">
              <a:avLst/>
            </a:prstGeom>
          </p:spPr>
        </p:pic>
        <p:pic>
          <p:nvPicPr>
            <p:cNvPr id="49" name="Equation: \Delta_{\Dp}=\tfrac{1}{|\mathcal{S}|}\textstyle\sum_{i\in\ma" descr="\Delta_{\Dp}=\tfrac{1}{|\mathcal{S}|}\textstyle\sum_{i\in\mathcal{S}}\big(\|\bv_i(\bx;\btheta)\|_2-\|\bv_i(\bx;\tor)\|_2\big)^2"/>
            <p:cNvPicPr>
              <a:picLocks noChangeAspect="1"/>
            </p:cNvPicPr>
            <p:nvPr/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23785959" y="19268612"/>
              <a:ext cx="7520963" cy="638853"/>
            </a:xfrm>
            <a:prstGeom prst="rect">
              <a:avLst/>
            </a:prstGeom>
          </p:spPr>
        </p:pic>
        <p:pic>
          <p:nvPicPr>
            <p:cNvPr id="50" name="Equation: \minimize_{\btheta}\;\lf(\btheta;\Df)+\gamma\,\lr(\btheta;\D" descr="\minimize_{\btheta}\;\lf(\btheta;\Df)+\gamma\,\lr(\btheta;\Dr\cup\Dp)+\lambda\,\lvn(\btheta)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23591027" y="20656864"/>
              <a:ext cx="7910942" cy="614544"/>
            </a:xfrm>
            <a:prstGeom prst="rect">
              <a:avLst/>
            </a:prstGeom>
          </p:spPr>
        </p:pic>
        <p:sp>
          <p:nvSpPr>
            <p:cNvPr id="51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3);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2" name="Section: Experiment Result Highlights"/>
          <p:cNvGrpSpPr/>
          <p:nvPr/>
        </p:nvGrpSpPr>
        <p:grpSpPr>
          <a:xfrm>
            <a:off x="33509396" y="4070763"/>
            <a:ext cx="17819088" cy="19933163"/>
            <a:chOff x="33509396" y="4070763"/>
            <a:chExt cx="17819088" cy="19933163"/>
          </a:xfrm>
        </p:grpSpPr>
        <p:sp>
          <p:nvSpPr>
            <p:cNvPr id="53" name="Section title: Experiment Result Highlights"/>
            <p:cNvSpPr txBox="1"/>
            <p:nvPr/>
          </p:nvSpPr>
          <p:spPr>
            <a:xfrm>
              <a:off x="33509396" y="4070763"/>
              <a:ext cx="1781908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55" name="Caption: Table 1. Results on MUSE [4] with NPO [5] / RMU "/>
            <p:cNvSpPr txBox="1"/>
            <p:nvPr/>
          </p:nvSpPr>
          <p:spPr>
            <a:xfrm>
              <a:off x="33509396" y="12028239"/>
              <a:ext cx="17236541" cy="15865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UE / BE: forgetting / recovery;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6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3768388"/>
              <a:ext cx="10920115" cy="3596514"/>
            </a:xfrm>
            <a:prstGeom prst="rect">
              <a:avLst/>
            </a:prstGeom>
          </p:spPr>
        </p:pic>
        <p:sp>
          <p:nvSpPr>
            <p:cNvPr id="57" name="Caption: Table 2. Results on WMDP-Bio [6] (Zephyr-7B, acc"/>
            <p:cNvSpPr txBox="1"/>
            <p:nvPr/>
          </p:nvSpPr>
          <p:spPr>
            <a:xfrm>
              <a:off x="33509396" y="17428799"/>
              <a:ext cx="11356919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akeaway: Takeaway.NPO‑Backdoor looks unlearned (VM 0.02) "/>
            <p:cNvSpPr/>
            <p:nvPr/>
          </p:nvSpPr>
          <p:spPr>
            <a:xfrm>
              <a:off x="44788237" y="13794317"/>
              <a:ext cx="5828969" cy="4137207"/>
            </a:xfrm>
            <a:prstGeom prst="roundRect">
              <a:avLst>
                <a:gd name="adj" fmla="val 6181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57" tIns="205152" rIns="259657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b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9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/>
            </a:stretch>
          </p:blipFill>
          <p:spPr>
            <a:xfrm>
              <a:off x="33509396" y="18376371"/>
              <a:ext cx="9576197" cy="4506350"/>
            </a:xfrm>
            <a:prstGeom prst="rect">
              <a:avLst/>
            </a:prstGeom>
          </p:spPr>
        </p:pic>
        <p:sp>
          <p:nvSpPr>
            <p:cNvPr id="60" name="Caption: Figure 4. Trigger position: the prefix trigger c"/>
            <p:cNvSpPr txBox="1"/>
            <p:nvPr/>
          </p:nvSpPr>
          <p:spPr>
            <a:xfrm>
              <a:off x="33509396" y="22946618"/>
              <a:ext cx="963365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position: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(NPO, MUSE‑Books).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1" name="Text: Attention sinks are a gateway: a prefix trigger "/>
            <p:cNvSpPr/>
            <p:nvPr/>
          </p:nvSpPr>
          <p:spPr>
            <a:xfrm>
              <a:off x="43422094" y="18977140"/>
              <a:ext cx="7217337" cy="4426016"/>
            </a:xfrm>
            <a:prstGeom prst="roundRect">
              <a:avLst>
                <a:gd name="adj" fmla="val 6279"/>
              </a:avLst>
            </a:prstGeom>
            <a:solidFill>
              <a:srgbClr val="EEF4F1"/>
            </a:solidFill>
            <a:ln w="7408">
              <a:solidFill>
                <a:srgbClr val="18453B"/>
              </a:solidFill>
            </a:ln>
          </p:spPr>
          <p:txBody>
            <a:bodyPr wrap="square" lIns="118220" tIns="93315" rIns="169427" bIns="93315" anchor="ctr" rtlCol="0">
              <a:noAutofit/>
            </a:bodyPr>
            <a:lstStyle/>
            <a:p>
              <a:pPr algn="l" marL="563210" indent="-56321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100000"/>
                <a:buFont typeface="Wingdings" pitchFamily="2" charset="2"/>
                <a:buChar char="ü"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 sinks are a gateway: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 prefix trigger restores forgotten knowledge;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value-norm alignment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makes it stealthier.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Block"/>
          <p:cNvGrpSpPr/>
          <p:nvPr/>
        </p:nvGrpSpPr>
        <p:grpSpPr>
          <a:xfrm>
            <a:off x="563265" y="24157533"/>
            <a:ext cx="50765219" cy="630634"/>
            <a:chOff x="563265" y="24157533"/>
            <a:chExt cx="50765219" cy="630634"/>
          </a:xfrm>
        </p:grpSpPr>
        <p:sp>
          <p:nvSpPr>
            <p:cNvPr id="62" name="Text: [1] Sijia Liu, et al. “Rethinking machine unlear"/>
            <p:cNvSpPr txBox="1"/>
            <p:nvPr/>
          </p:nvSpPr>
          <p:spPr>
            <a:xfrm>
              <a:off x="563265" y="24157533"/>
              <a:ext cx="1578252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3" name="Text: [3] Guangxuan Xiao, et al. “Efficient streaming "/>
            <p:cNvSpPr txBox="1"/>
            <p:nvPr/>
          </p:nvSpPr>
          <p:spPr>
            <a:xfrm>
              <a:off x="16302038" y="24157533"/>
              <a:ext cx="1730985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4" name="Text: [5] Ruiqi Zhang, et al. “Negative preference opt"/>
            <p:cNvSpPr txBox="1"/>
            <p:nvPr/>
          </p:nvSpPr>
          <p:spPr>
            <a:xfrm>
              <a:off x="33509396" y="24157533"/>
              <a:ext cx="1781908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-438333" y="24864913"/>
            <a:ext cx="52083065" cy="635874"/>
            <a:chOff x="-438333" y="24864913"/>
            <a:chExt cx="52083065" cy="635874"/>
          </a:xfrm>
        </p:grpSpPr>
        <p:sp>
          <p:nvSpPr>
            <p:cNvPr id="65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6" name="Text: Contact: bshang@msu.edu"/>
            <p:cNvSpPr txBox="1"/>
            <p:nvPr/>
          </p:nvSpPr>
          <p:spPr>
            <a:xfrm>
              <a:off x="-438333" y="24965963"/>
              <a:ext cx="52083065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