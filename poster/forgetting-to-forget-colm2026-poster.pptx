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image16.png"/><Relationship Id="rId31" Type="http://schemas.openxmlformats.org/officeDocument/2006/relationships/image" Target="../media/vector14.svg"/><Relationship Id="rId32" Type="http://schemas.openxmlformats.org/officeDocument/2006/relationships/image" Target="../media/image17.png"/><Relationship Id="rId33" Type="http://schemas.openxmlformats.org/officeDocument/2006/relationships/image" Target="../media/image18.png"/><Relationship Id="rId34" Type="http://schemas.openxmlformats.org/officeDocument/2006/relationships/image" Target="../media/vector15.svg"/><Relationship Id="rId35" Type="http://schemas.openxmlformats.org/officeDocument/2006/relationships/image" Target="../media/image19.png"/><Relationship Id="rId36" Type="http://schemas.openxmlformats.org/officeDocument/2006/relationships/image" Target="../media/vector16.sv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pic>
        <p:nvPicPr>
          <p:cNvPr id="53" name="Picture: motivation" descr="UE on D_f versus BE on D_p for prefix, infix, suffix triggers"/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3509396" y="18376255"/>
            <a:ext cx="9576428" cy="4506466"/>
          </a:xfrm>
          <a:prstGeom prst="rect">
            <a:avLst/>
          </a:prstGeom>
        </p:spPr>
      </p:pic>
      <p:sp>
        <p:nvSpPr>
          <p:cNvPr id="54" name="Caption: Figure 4. Trigger position: the prefix trigger c"/>
          <p:cNvSpPr txBox="1"/>
          <p:nvPr/>
        </p:nvSpPr>
        <p:spPr>
          <a:xfrm>
            <a:off x="33509396" y="22946618"/>
            <a:ext cx="9633887" cy="1057308"/>
          </a:xfrm>
          <a:prstGeom prst="rect">
            <a:avLst/>
          </a:prstGeom>
          <a:noFill/>
        </p:spPr>
        <p:txBody>
          <a:bodyPr wrap="square" lIns="0" tIns="0" rIns="0" bIns="0" anchor="t" rtlCol="0">
            <a:spAutoFit/>
          </a:bodyPr>
          <a:lstStyle/>
          <a:p>
            <a:pPr algn="just" marL="0" indent="0">
              <a:lnSpc>
                <a:spcPts val="41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Figure 4.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position: the </a:t>
            </a: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prefix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comes closest to the desired zone (NPO, MUSE‑Books).</a:t>
            </a:r>
            <a:endParaRPr lang="en-US" sz="3528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55" name="Text: Attention sinks are a gateway: a prefix trigger "/>
          <p:cNvSpPr/>
          <p:nvPr/>
        </p:nvSpPr>
        <p:spPr>
          <a:xfrm>
            <a:off x="43422325" y="18977025"/>
            <a:ext cx="7217106" cy="4426016"/>
          </a:xfrm>
          <a:prstGeom prst="roundRect">
            <a:avLst>
              <a:gd name="adj" fmla="val 6279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118223" tIns="93315" rIns="169430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a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2" name="Section: Backdooring LLM Unlearning: A New Threat"/>
          <p:cNvGrpSpPr/>
          <p:nvPr/>
        </p:nvGrpSpPr>
        <p:grpSpPr>
          <a:xfrm>
            <a:off x="563265" y="4070763"/>
            <a:ext cx="15357614" cy="16472777"/>
            <a:chOff x="563265" y="4070763"/>
            <a:chExt cx="15357614" cy="16472777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17" name="Bullets: Attack goals:"/>
            <p:cNvSpPr txBox="1"/>
            <p:nvPr/>
          </p:nvSpPr>
          <p:spPr>
            <a:xfrm>
              <a:off x="563265" y="10121635"/>
              <a:ext cx="3909101" cy="7065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18" name="List: Stealthy compliance Utility preservation Trigger"/>
            <p:cNvSpPr txBox="1"/>
            <p:nvPr/>
          </p:nvSpPr>
          <p:spPr>
            <a:xfrm>
              <a:off x="4625694" y="10121635"/>
              <a:ext cx="6838395" cy="2119709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9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2394952"/>
              <a:ext cx="15175508" cy="6873776"/>
            </a:xfrm>
            <a:prstGeom prst="rect">
              <a:avLst/>
            </a:prstGeom>
          </p:spPr>
        </p:pic>
        <p:sp>
          <p:nvSpPr>
            <p:cNvPr id="20" name="Caption: Figure 1. (a) Normal vs. (b) backdoor unlearning"/>
            <p:cNvSpPr txBox="1"/>
            <p:nvPr/>
          </p:nvSpPr>
          <p:spPr>
            <a:xfrm>
              <a:off x="563265" y="1948623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3" name="Section: Research Question"/>
          <p:cNvGrpSpPr/>
          <p:nvPr/>
        </p:nvGrpSpPr>
        <p:grpSpPr>
          <a:xfrm>
            <a:off x="563265" y="20943821"/>
            <a:ext cx="15266561" cy="3026767"/>
            <a:chOff x="563265" y="20943821"/>
            <a:chExt cx="15266561" cy="3026767"/>
          </a:xfrm>
        </p:grpSpPr>
        <p:sp>
          <p:nvSpPr>
            <p:cNvPr id="21" name="Section title: Research Question"/>
            <p:cNvSpPr txBox="1"/>
            <p:nvPr/>
          </p:nvSpPr>
          <p:spPr>
            <a:xfrm>
              <a:off x="563265" y="20943821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2" name="Research question: (Q) Can LLM unlearning be backdoored, and if so,"/>
            <p:cNvSpPr/>
            <p:nvPr/>
          </p:nvSpPr>
          <p:spPr>
            <a:xfrm>
              <a:off x="596602" y="21932602"/>
              <a:ext cx="15108833" cy="2037986"/>
            </a:xfrm>
            <a:prstGeom prst="roundRect">
              <a:avLst>
                <a:gd name="adj" fmla="val 1218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63766" rIns="227692" bIns="263766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4" name="Section: Where to Place the Trigger? Attention Sinks"/>
          <p:cNvGrpSpPr/>
          <p:nvPr/>
        </p:nvGrpSpPr>
        <p:grpSpPr>
          <a:xfrm>
            <a:off x="16278655" y="4070763"/>
            <a:ext cx="16867206" cy="11793604"/>
            <a:chOff x="16278655" y="4070763"/>
            <a:chExt cx="16867206" cy="11793604"/>
          </a:xfrm>
        </p:grpSpPr>
        <p:sp>
          <p:nvSpPr>
            <p:cNvPr id="23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5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6" name="Picture: standalone_cbar" descr="Color scale from -0.015 to 0.015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27" name="Text: Top-1 next-token probability, backdoored model"/>
            <p:cNvSpPr txBox="1"/>
            <p:nvPr/>
          </p:nvSpPr>
          <p:spPr>
            <a:xfrm>
              <a:off x="24326452" y="6592954"/>
              <a:ext cx="8645345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29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1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3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35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ption: Figure 2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6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7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8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39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5" name="Section: How to Enhance It? Value-Norm Alignment"/>
          <p:cNvGrpSpPr/>
          <p:nvPr/>
        </p:nvGrpSpPr>
        <p:grpSpPr>
          <a:xfrm>
            <a:off x="16302038" y="16210244"/>
            <a:ext cx="16743959" cy="7793682"/>
            <a:chOff x="16302038" y="16210244"/>
            <a:chExt cx="16743959" cy="7793682"/>
          </a:xfrm>
        </p:grpSpPr>
        <p:sp>
          <p:nvSpPr>
            <p:cNvPr id="41" name="Section title: How to Enhance It? Value-Norm Alignment"/>
            <p:cNvSpPr txBox="1"/>
            <p:nvPr/>
          </p:nvSpPr>
          <p:spPr>
            <a:xfrm>
              <a:off x="16302038" y="16210244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2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3" name="Caption: Figure 3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5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6" name="Section: Experiment Result Highlights"/>
          <p:cNvGrpSpPr/>
          <p:nvPr/>
        </p:nvGrpSpPr>
        <p:grpSpPr>
          <a:xfrm>
            <a:off x="33509396" y="4070763"/>
            <a:ext cx="17236541" cy="13886805"/>
            <a:chOff x="33509396" y="4070763"/>
            <a:chExt cx="17236541" cy="13886805"/>
          </a:xfrm>
        </p:grpSpPr>
        <p:sp>
          <p:nvSpPr>
            <p:cNvPr id="47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49" name="Caption: Table 1. Results on MUSE [4] with NPO [5] / RMU "/>
            <p:cNvSpPr txBox="1"/>
            <p:nvPr/>
          </p:nvSpPr>
          <p:spPr>
            <a:xfrm>
              <a:off x="33509396" y="12028239"/>
              <a:ext cx="17236541" cy="1586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0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33509396" y="13768388"/>
              <a:ext cx="10920578" cy="3596630"/>
            </a:xfrm>
            <a:prstGeom prst="rect">
              <a:avLst/>
            </a:prstGeom>
          </p:spPr>
        </p:pic>
        <p:sp>
          <p:nvSpPr>
            <p:cNvPr id="51" name="Caption: Table 2. Results on WMDP-Bio [6] (Zephyr-7B, acc"/>
            <p:cNvSpPr txBox="1"/>
            <p:nvPr/>
          </p:nvSpPr>
          <p:spPr>
            <a:xfrm>
              <a:off x="33509396" y="17428914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Takeaway: Takeaway.NPO‑Backdoor looks unlearned (VM 0.02) "/>
            <p:cNvSpPr/>
            <p:nvPr/>
          </p:nvSpPr>
          <p:spPr>
            <a:xfrm>
              <a:off x="44788700" y="13794317"/>
              <a:ext cx="5828506" cy="4137323"/>
            </a:xfrm>
            <a:prstGeom prst="roundRect">
              <a:avLst>
                <a:gd name="adj" fmla="val 6180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56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7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59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0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