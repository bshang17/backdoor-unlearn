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image10.png"/><Relationship Id="rId20" Type="http://schemas.openxmlformats.org/officeDocument/2006/relationships/image" Target="../media/vector9.svg"/><Relationship Id="rId21" Type="http://schemas.openxmlformats.org/officeDocument/2006/relationships/image" Target="../media/image11.png"/><Relationship Id="rId22" Type="http://schemas.openxmlformats.org/officeDocument/2006/relationships/image" Target="../media/vector10.svg"/><Relationship Id="rId23" Type="http://schemas.openxmlformats.org/officeDocument/2006/relationships/image" Target="../media/image12.png"/><Relationship Id="rId24" Type="http://schemas.openxmlformats.org/officeDocument/2006/relationships/image" Target="../media/vector11.svg"/><Relationship Id="rId25" Type="http://schemas.openxmlformats.org/officeDocument/2006/relationships/image" Target="../media/image13.png"/><Relationship Id="rId26" Type="http://schemas.openxmlformats.org/officeDocument/2006/relationships/image" Target="../media/vector12.svg"/><Relationship Id="rId27" Type="http://schemas.openxmlformats.org/officeDocument/2006/relationships/image" Target="../media/image14.png"/><Relationship Id="rId28" Type="http://schemas.openxmlformats.org/officeDocument/2006/relationships/image" Target="../media/vector13.svg"/><Relationship Id="rId29" Type="http://schemas.openxmlformats.org/officeDocument/2006/relationships/image" Target="../media/image15.png"/><Relationship Id="rId30" Type="http://schemas.openxmlformats.org/officeDocument/2006/relationships/image" Target="../media/image16.png"/><Relationship Id="rId31" Type="http://schemas.openxmlformats.org/officeDocument/2006/relationships/image" Target="../media/vector14.svg"/><Relationship Id="rId32" Type="http://schemas.openxmlformats.org/officeDocument/2006/relationships/image" Target="../media/image17.png"/><Relationship Id="rId33" Type="http://schemas.openxmlformats.org/officeDocument/2006/relationships/image" Target="../media/image18.png"/><Relationship Id="rId34" Type="http://schemas.openxmlformats.org/officeDocument/2006/relationships/image" Target="../media/vector15.svg"/><Relationship Id="rId35" Type="http://schemas.openxmlformats.org/officeDocument/2006/relationships/image" Target="../media/image19.png"/><Relationship Id="rId36" Type="http://schemas.openxmlformats.org/officeDocument/2006/relationships/image" Target="../media/vector16.svg"/><Relationship Id="rId37" Type="http://schemas.openxmlformats.org/officeDocument/2006/relationships/image" Target="../media/image20.png"/><Relationship Id="rId38" Type="http://schemas.openxmlformats.org/officeDocument/2006/relationships/image" Target="../media/vector17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1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pic>
        <p:nvPicPr>
          <p:cNvPr id="53" name="Picture: motivation" descr="UE on D_f versus BE on D_p for prefix, infix, suffix triggers"/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3509396" y="18771559"/>
            <a:ext cx="8736393" cy="4111162"/>
          </a:xfrm>
          <a:prstGeom prst="rect">
            <a:avLst/>
          </a:prstGeom>
        </p:spPr>
      </p:pic>
      <p:sp>
        <p:nvSpPr>
          <p:cNvPr id="54" name="Caption: Figure 4. The prefix trigger comes closest to th"/>
          <p:cNvSpPr txBox="1"/>
          <p:nvPr/>
        </p:nvSpPr>
        <p:spPr>
          <a:xfrm>
            <a:off x="33509396" y="22946618"/>
            <a:ext cx="8788811" cy="1057308"/>
          </a:xfrm>
          <a:prstGeom prst="rect">
            <a:avLst/>
          </a:prstGeom>
          <a:noFill/>
        </p:spPr>
        <p:txBody>
          <a:bodyPr wrap="square" lIns="0" tIns="0" rIns="0" bIns="0" anchor="t" rtlCol="0">
            <a:spAutoFit/>
          </a:bodyPr>
          <a:lstStyle/>
          <a:p>
            <a:pPr algn="just" marL="0" indent="0">
              <a:lnSpc>
                <a:spcPts val="41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28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Figure 4.</a:t>
            </a:r>
            <a:r>
              <a: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The </a:t>
            </a:r>
            <a:r>
              <a:rPr lang="en-US" sz="3528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prefix</a:t>
            </a:r>
            <a:r>
              <a: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trigger comes closest to the desired zone (NPO, MUSE‑Books).</a:t>
            </a:r>
            <a:endParaRPr lang="en-US" sz="3528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sp>
        <p:nvSpPr>
          <p:cNvPr id="55" name="Text: Attention sinks are a gateway: a prefix trigger "/>
          <p:cNvSpPr/>
          <p:nvPr/>
        </p:nvSpPr>
        <p:spPr>
          <a:xfrm>
            <a:off x="42582290" y="19528019"/>
            <a:ext cx="8057141" cy="3719446"/>
          </a:xfrm>
          <a:prstGeom prst="roundRect">
            <a:avLst>
              <a:gd name="adj" fmla="val 7472"/>
            </a:avLst>
          </a:prstGeom>
          <a:solidFill>
            <a:srgbClr val="EEF4F1"/>
          </a:solidFill>
          <a:ln w="7408">
            <a:solidFill>
              <a:srgbClr val="18453B"/>
            </a:solidFill>
          </a:ln>
        </p:spPr>
        <p:txBody>
          <a:bodyPr wrap="square" lIns="107723" tIns="93315" rIns="158929" bIns="93315" anchor="ctr" rtlCol="0">
            <a:noAutofit/>
          </a:bodyPr>
          <a:lstStyle/>
          <a:p>
            <a:pPr algn="l" marL="563270" indent="-563270">
              <a:lnSpc>
                <a:spcPts val="556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a gateway: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4637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62" name="Section: Backdooring LLM Unlearning: A New Threat"/>
          <p:cNvGrpSpPr/>
          <p:nvPr/>
        </p:nvGrpSpPr>
        <p:grpSpPr>
          <a:xfrm>
            <a:off x="563265" y="4070763"/>
            <a:ext cx="15357614" cy="16472777"/>
            <a:chOff x="563265" y="4070763"/>
            <a:chExt cx="15357614" cy="16472777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563265" y="5026207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17" name="Bullets: Attack goals:"/>
            <p:cNvSpPr txBox="1"/>
            <p:nvPr/>
          </p:nvSpPr>
          <p:spPr>
            <a:xfrm>
              <a:off x="563265" y="10121635"/>
              <a:ext cx="3909101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18" name="List: Stealthy compliance Utility preservation Trigger"/>
            <p:cNvSpPr txBox="1"/>
            <p:nvPr/>
          </p:nvSpPr>
          <p:spPr>
            <a:xfrm>
              <a:off x="4625694" y="10121635"/>
              <a:ext cx="6838395" cy="2119709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9" name="Picture: teaser_full" descr="Figure 1 of the paper: (a) machine unlearning, (b) backdoor unlearning, (c) attention sinks identify where to backdoor, (d) value norms enhance how to backdoor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2394952"/>
              <a:ext cx="15175508" cy="6873776"/>
            </a:xfrm>
            <a:prstGeom prst="rect">
              <a:avLst/>
            </a:prstGeom>
          </p:spPr>
        </p:pic>
        <p:sp>
          <p:nvSpPr>
            <p:cNvPr id="20" name="Caption: Figure 1. (a) Normal vs. (b) backdoor unlearning"/>
            <p:cNvSpPr txBox="1"/>
            <p:nvPr/>
          </p:nvSpPr>
          <p:spPr>
            <a:xfrm>
              <a:off x="563265" y="19486232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Where and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how to backdoor (NPO, MUSE‑Books).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3" name="Section: Research Question"/>
          <p:cNvGrpSpPr/>
          <p:nvPr/>
        </p:nvGrpSpPr>
        <p:grpSpPr>
          <a:xfrm>
            <a:off x="563265" y="20943821"/>
            <a:ext cx="15266561" cy="3026767"/>
            <a:chOff x="563265" y="20943821"/>
            <a:chExt cx="15266561" cy="3026767"/>
          </a:xfrm>
        </p:grpSpPr>
        <p:sp>
          <p:nvSpPr>
            <p:cNvPr id="21" name="Section title: Research Question"/>
            <p:cNvSpPr txBox="1"/>
            <p:nvPr/>
          </p:nvSpPr>
          <p:spPr>
            <a:xfrm>
              <a:off x="563265" y="20943821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2" name="Research question: (Q) Can LLM unlearning be backdoored, and if so,"/>
            <p:cNvSpPr/>
            <p:nvPr/>
          </p:nvSpPr>
          <p:spPr>
            <a:xfrm>
              <a:off x="596602" y="21932602"/>
              <a:ext cx="15108833" cy="2037986"/>
            </a:xfrm>
            <a:prstGeom prst="roundRect">
              <a:avLst>
                <a:gd name="adj" fmla="val 12183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63766" rIns="227692" bIns="263766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4" name="Section: Where to Place the Trigger? Attention Sinks"/>
          <p:cNvGrpSpPr/>
          <p:nvPr/>
        </p:nvGrpSpPr>
        <p:grpSpPr>
          <a:xfrm>
            <a:off x="16278655" y="4070763"/>
            <a:ext cx="16867206" cy="11793604"/>
            <a:chOff x="16278655" y="4070763"/>
            <a:chExt cx="16867206" cy="11793604"/>
          </a:xfrm>
        </p:grpSpPr>
        <p:sp>
          <p:nvSpPr>
            <p:cNvPr id="23" name="Section title: Where to Place the Trigger? Attention Sinks"/>
            <p:cNvSpPr txBox="1"/>
            <p:nvPr/>
          </p:nvSpPr>
          <p:spPr>
            <a:xfrm>
              <a:off x="16302038" y="4070763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Bullets: Attention sink [3]: LLMs over-attend the first f"/>
            <p:cNvSpPr txBox="1"/>
            <p:nvPr/>
          </p:nvSpPr>
          <p:spPr>
            <a:xfrm>
              <a:off x="16302038" y="5026207"/>
              <a:ext cx="16743959" cy="141314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 [3]</a:t>
              </a: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LLMs over-attend the first few tokens; a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sits among them.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5" name="Panel label: Attention weight difference value"/>
            <p:cNvSpPr txBox="1"/>
            <p:nvPr/>
          </p:nvSpPr>
          <p:spPr>
            <a:xfrm>
              <a:off x="16278655" y="6592954"/>
              <a:ext cx="784102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6" name="Picture: standalone_cbar" descr="Color scale from -0.015 to 0.015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496854" y="7083293"/>
              <a:ext cx="7404513" cy="456886"/>
            </a:xfrm>
            <a:prstGeom prst="rect">
              <a:avLst/>
            </a:prstGeom>
          </p:spPr>
        </p:pic>
        <p:sp>
          <p:nvSpPr>
            <p:cNvPr id="27" name="Text: Top-1 next-token probability, backdoored model"/>
            <p:cNvSpPr txBox="1"/>
            <p:nvPr/>
          </p:nvSpPr>
          <p:spPr>
            <a:xfrm>
              <a:off x="24326452" y="6592954"/>
              <a:ext cx="8645345" cy="947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8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6302038" y="7565760"/>
              <a:ext cx="3769105" cy="3924217"/>
            </a:xfrm>
            <a:prstGeom prst="rect">
              <a:avLst/>
            </a:prstGeom>
          </p:spPr>
        </p:pic>
        <p:sp>
          <p:nvSpPr>
            <p:cNvPr id="29" name="Panel label: (a) Original model"/>
            <p:cNvSpPr txBox="1"/>
            <p:nvPr/>
          </p:nvSpPr>
          <p:spPr>
            <a:xfrm>
              <a:off x="16290730" y="11569965"/>
              <a:ext cx="3791720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0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20327078" y="7565760"/>
              <a:ext cx="3769221" cy="3924333"/>
            </a:xfrm>
            <a:prstGeom prst="rect">
              <a:avLst/>
            </a:prstGeom>
          </p:spPr>
        </p:pic>
        <p:sp>
          <p:nvSpPr>
            <p:cNvPr id="31" name="Panel label: (b) Backdoored model"/>
            <p:cNvSpPr txBox="1"/>
            <p:nvPr/>
          </p:nvSpPr>
          <p:spPr>
            <a:xfrm>
              <a:off x="20315770" y="11569965"/>
              <a:ext cx="3791836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4352233" y="7565760"/>
              <a:ext cx="4168924" cy="3978622"/>
            </a:xfrm>
            <a:prstGeom prst="rect">
              <a:avLst/>
            </a:prstGeom>
          </p:spPr>
        </p:pic>
        <p:sp>
          <p:nvSpPr>
            <p:cNvPr id="33" name="Panel label: (c) Prefix trigger"/>
            <p:cNvSpPr txBox="1"/>
            <p:nvPr/>
          </p:nvSpPr>
          <p:spPr>
            <a:xfrm>
              <a:off x="24339727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28777092" y="7565760"/>
              <a:ext cx="4168924" cy="3978622"/>
            </a:xfrm>
            <a:prstGeom prst="rect">
              <a:avLst/>
            </a:prstGeom>
          </p:spPr>
        </p:pic>
        <p:sp>
          <p:nvSpPr>
            <p:cNvPr id="35" name="Panel label: (d) Infix trigger"/>
            <p:cNvSpPr txBox="1"/>
            <p:nvPr/>
          </p:nvSpPr>
          <p:spPr>
            <a:xfrm>
              <a:off x="28764585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ption: Figure 2. (a–b) Attention difference, triggered "/>
                <p:cNvSpPr txBox="1"/>
                <p:nvPr/>
              </p:nvSpPr>
              <p:spPr>
                <a:xfrm>
                  <a:off x="16302038" y="12252226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2.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6" name="Caption: Figure 2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52226"/>
                  <a:ext cx="16644094" cy="1057308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7" name="Insight: Insight 1. Prefix backdoors concentrate attentio"/>
            <p:cNvSpPr/>
            <p:nvPr/>
          </p:nvSpPr>
          <p:spPr>
            <a:xfrm>
              <a:off x="16302038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38" name="Insight: Insight 1. Prefix backdoors concentrate attentio (rule)"/>
            <p:cNvSpPr/>
            <p:nvPr/>
          </p:nvSpPr>
          <p:spPr>
            <a:xfrm>
              <a:off x="16302038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39" name="Insight: Insight 2. Amplified sink attention raises top-1"/>
            <p:cNvSpPr/>
            <p:nvPr/>
          </p:nvSpPr>
          <p:spPr>
            <a:xfrm>
              <a:off x="24764901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2. Amplified sink attention raises top-1 (rule)"/>
            <p:cNvSpPr/>
            <p:nvPr/>
          </p:nvSpPr>
          <p:spPr>
            <a:xfrm>
              <a:off x="24764901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65" name="Section: How to Enhance It? Value-Norm Alignment"/>
          <p:cNvGrpSpPr/>
          <p:nvPr/>
        </p:nvGrpSpPr>
        <p:grpSpPr>
          <a:xfrm>
            <a:off x="16302038" y="16210244"/>
            <a:ext cx="16743959" cy="7793682"/>
            <a:chOff x="16302038" y="16210244"/>
            <a:chExt cx="16743959" cy="7793682"/>
          </a:xfrm>
        </p:grpSpPr>
        <p:sp>
          <p:nvSpPr>
            <p:cNvPr id="41" name="Section title: How to Enhance It? Value-Norm Alignment"/>
            <p:cNvSpPr txBox="1"/>
            <p:nvPr/>
          </p:nvSpPr>
          <p:spPr>
            <a:xfrm>
              <a:off x="16302038" y="16210244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2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6302038" y="17336658"/>
              <a:ext cx="5563195" cy="5375093"/>
            </a:xfrm>
            <a:prstGeom prst="rect">
              <a:avLst/>
            </a:prstGeom>
          </p:spPr>
        </p:pic>
        <p:sp>
          <p:nvSpPr>
            <p:cNvPr id="43" name="Caption: Figure 3. Pearson correlation of sink-token valu"/>
            <p:cNvSpPr txBox="1"/>
            <p:nvPr/>
          </p:nvSpPr>
          <p:spPr>
            <a:xfrm>
              <a:off x="16302038" y="22775648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3.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Equations: align with … ⇒ forget align with … ⇒ recover"/>
                <p:cNvSpPr/>
                <p:nvPr/>
              </p:nvSpPr>
              <p:spPr>
                <a:xfrm>
                  <a:off x="22172794" y="17191616"/>
                  <a:ext cx="10747408" cy="4257245"/>
                </a:xfrm>
                <a:prstGeom prst="roundRect">
                  <a:avLst>
                    <a:gd name="adj" fmla="val 600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4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165687"/>
                  <a:ext cx="10799266" cy="4309103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5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3);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6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66" name="Section: Experiment Result Highlights"/>
          <p:cNvGrpSpPr/>
          <p:nvPr/>
        </p:nvGrpSpPr>
        <p:grpSpPr>
          <a:xfrm>
            <a:off x="33509396" y="4070763"/>
            <a:ext cx="17236541" cy="14373209"/>
            <a:chOff x="33509396" y="4070763"/>
            <a:chExt cx="17236541" cy="14373209"/>
          </a:xfrm>
        </p:grpSpPr>
        <p:sp>
          <p:nvSpPr>
            <p:cNvPr id="47" name="Section title: Experiment Result Highlights"/>
            <p:cNvSpPr txBox="1"/>
            <p:nvPr/>
          </p:nvSpPr>
          <p:spPr>
            <a:xfrm>
              <a:off x="33509396" y="4070763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8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49" name="Caption: Table 1. Results on MUSE [4] with NPO [5] / RMU "/>
            <p:cNvSpPr txBox="1"/>
            <p:nvPr/>
          </p:nvSpPr>
          <p:spPr>
            <a:xfrm>
              <a:off x="33509396" y="12028239"/>
              <a:ext cx="17236541" cy="158654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UE / BE: forgetting / recovery;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0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33509396" y="13768388"/>
              <a:ext cx="10920578" cy="3596630"/>
            </a:xfrm>
            <a:prstGeom prst="rect">
              <a:avLst/>
            </a:prstGeom>
          </p:spPr>
        </p:pic>
        <p:sp>
          <p:nvSpPr>
            <p:cNvPr id="51" name="Caption: Table 2. Results on WMDP-Bio [6] (Zephyr-7B, acc"/>
            <p:cNvSpPr txBox="1"/>
            <p:nvPr/>
          </p:nvSpPr>
          <p:spPr>
            <a:xfrm>
              <a:off x="33509396" y="17428914"/>
              <a:ext cx="10986101" cy="52865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Takeaway: Takeaway. NPO‑Backdoor looks unlearned (VM 0.02)"/>
            <p:cNvSpPr/>
            <p:nvPr/>
          </p:nvSpPr>
          <p:spPr>
            <a:xfrm>
              <a:off x="44788700" y="13794317"/>
              <a:ext cx="5828506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63" tIns="205152" rIns="2596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90.71; Tab. 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Block"/>
          <p:cNvGrpSpPr/>
          <p:nvPr/>
        </p:nvGrpSpPr>
        <p:grpSpPr>
          <a:xfrm>
            <a:off x="563265" y="24157533"/>
            <a:ext cx="50182672" cy="630634"/>
            <a:chOff x="563265" y="24157533"/>
            <a:chExt cx="50182672" cy="630634"/>
          </a:xfrm>
        </p:grpSpPr>
        <p:sp>
          <p:nvSpPr>
            <p:cNvPr id="56" name="Text: [1] Sijia Liu, et al. “Rethinking machine unlear"/>
            <p:cNvSpPr txBox="1"/>
            <p:nvPr/>
          </p:nvSpPr>
          <p:spPr>
            <a:xfrm>
              <a:off x="563265" y="24157533"/>
              <a:ext cx="1526656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7" name="Text: [3] Guangxuan Xiao, et al. “Efficient streaming "/>
            <p:cNvSpPr txBox="1"/>
            <p:nvPr/>
          </p:nvSpPr>
          <p:spPr>
            <a:xfrm>
              <a:off x="16302038" y="24157533"/>
              <a:ext cx="16743959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ext: [5] Ruiqi Zhang, et al. “Negative preference opt"/>
            <p:cNvSpPr txBox="1"/>
            <p:nvPr/>
          </p:nvSpPr>
          <p:spPr>
            <a:xfrm>
              <a:off x="33509396" y="24157533"/>
              <a:ext cx="1723654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Footer"/>
          <p:cNvGrpSpPr/>
          <p:nvPr/>
        </p:nvGrpSpPr>
        <p:grpSpPr>
          <a:xfrm>
            <a:off x="413025" y="24864913"/>
            <a:ext cx="50380350" cy="635874"/>
            <a:chOff x="413025" y="24864913"/>
            <a:chExt cx="50380350" cy="635874"/>
          </a:xfrm>
        </p:grpSpPr>
        <p:sp>
          <p:nvSpPr>
            <p:cNvPr id="59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0" name="Text: Contact: bshang@msu.edu"/>
            <p:cNvSpPr txBox="1"/>
            <p:nvPr/>
          </p:nvSpPr>
          <p:spPr>
            <a:xfrm>
              <a:off x="413025" y="24965963"/>
              <a:ext cx="50380350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