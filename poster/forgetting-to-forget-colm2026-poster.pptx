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5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grpSp>
        <p:nvGrpSpPr>
          <p:cNvPr id="66" name="Section: Backdooring LLM Unlearning: A New Threat"/>
          <p:cNvGrpSpPr/>
          <p:nvPr/>
        </p:nvGrpSpPr>
        <p:grpSpPr>
          <a:xfrm>
            <a:off x="563265" y="4173207"/>
            <a:ext cx="15357614" cy="11175471"/>
            <a:chOff x="563265" y="4173207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173207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: forget undesired knowledge, keep uti"/>
                <p:cNvSpPr txBox="1"/>
                <p:nvPr/>
              </p:nvSpPr>
              <p:spPr>
                <a:xfrm>
                  <a:off x="563265" y="5128650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a trigger (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).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: forget undesired knowledge, keep uti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128650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262394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262394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518792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518792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310576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291370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7" name="Section: Figure 2"/>
          <p:cNvGrpSpPr/>
          <p:nvPr/>
        </p:nvGrpSpPr>
        <p:grpSpPr>
          <a:xfrm>
            <a:off x="563265" y="15638413"/>
            <a:ext cx="15266561" cy="5454038"/>
            <a:chOff x="563265" y="15638413"/>
            <a:chExt cx="15266561" cy="5454038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846425"/>
              <a:ext cx="6442698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552995"/>
              <a:ext cx="6442698" cy="305663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249170" y="15638413"/>
              <a:ext cx="8489603" cy="417922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2003514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8" name="Section: Research Question"/>
          <p:cNvGrpSpPr/>
          <p:nvPr/>
        </p:nvGrpSpPr>
        <p:grpSpPr>
          <a:xfrm>
            <a:off x="563265" y="21382186"/>
            <a:ext cx="15266561" cy="3231654"/>
            <a:chOff x="563265" y="21382186"/>
            <a:chExt cx="15266561" cy="3231654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1382186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2370967"/>
              <a:ext cx="15108833" cy="2242873"/>
            </a:xfrm>
            <a:prstGeom prst="roundRect">
              <a:avLst>
                <a:gd name="adj" fmla="val 11071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366179" rIns="227692" bIns="366179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Where to Place the Trigger? Attention Sinks"/>
          <p:cNvGrpSpPr/>
          <p:nvPr/>
        </p:nvGrpSpPr>
        <p:grpSpPr>
          <a:xfrm>
            <a:off x="16290015" y="4173207"/>
            <a:ext cx="16855846" cy="11766980"/>
            <a:chOff x="16290015" y="4173207"/>
            <a:chExt cx="16855846" cy="11766980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1732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1]: LLMs over-attend the first … "/>
                <p:cNvSpPr txBox="1"/>
                <p:nvPr/>
              </p:nvSpPr>
              <p:spPr>
                <a:xfrm>
                  <a:off x="16302038" y="5128650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1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128650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810110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810110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7157955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7157955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1033671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603302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328045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328045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538961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538961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0" name="Section: How to Train It? Value-Norm Alignment"/>
          <p:cNvGrpSpPr/>
          <p:nvPr/>
        </p:nvGrpSpPr>
        <p:grpSpPr>
          <a:xfrm>
            <a:off x="16302038" y="16451246"/>
            <a:ext cx="16743959" cy="8195932"/>
            <a:chOff x="16302038" y="16451246"/>
            <a:chExt cx="16743959" cy="8195932"/>
          </a:xfrm>
        </p:grpSpPr>
        <p:sp>
          <p:nvSpPr>
            <p:cNvPr id="45" name="Section title: How to Train It? Value-Norm Alignment"/>
            <p:cNvSpPr txBox="1"/>
            <p:nvPr/>
          </p:nvSpPr>
          <p:spPr>
            <a:xfrm>
              <a:off x="16302038" y="16451246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Train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778727"/>
              <a:ext cx="5563195" cy="5375093"/>
            </a:xfrm>
            <a:prstGeom prst="rect">
              <a:avLst/>
            </a:prstGeom>
          </p:spPr>
        </p:pic>
        <p:sp>
          <p:nvSpPr>
            <p:cNvPr id="47" name="Caption: Figure 4. Pearson correlation of sink-token valu"/>
            <p:cNvSpPr txBox="1"/>
            <p:nvPr/>
          </p:nvSpPr>
          <p:spPr>
            <a:xfrm>
              <a:off x="16302038" y="23217717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432619"/>
                  <a:ext cx="10747408" cy="4582633"/>
                </a:xfrm>
                <a:prstGeom prst="roundRect">
                  <a:avLst>
                    <a:gd name="adj" fmla="val 5580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28342" rIns="95764" bIns="128342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730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730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730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730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730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730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730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730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730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730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730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730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730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730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730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730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730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730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406689"/>
                  <a:ext cx="10799266" cy="463449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2245952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224595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1" name="Section: Experiment Result Highlights"/>
          <p:cNvGrpSpPr/>
          <p:nvPr/>
        </p:nvGrpSpPr>
        <p:grpSpPr>
          <a:xfrm>
            <a:off x="33509396" y="4173207"/>
            <a:ext cx="17236541" cy="13927203"/>
            <a:chOff x="33509396" y="4173207"/>
            <a:chExt cx="17236541" cy="13927203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173207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2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128650"/>
              <a:ext cx="17133739" cy="6784529"/>
            </a:xfrm>
            <a:prstGeom prst="rect">
              <a:avLst/>
            </a:prstGeom>
          </p:spPr>
        </p:pic>
        <p:sp>
          <p:nvSpPr>
            <p:cNvPr id="53" name="Caption: Table 1. Results on MUSE[2] with NPO[4] / RMU[3]"/>
            <p:cNvSpPr txBox="1"/>
            <p:nvPr/>
          </p:nvSpPr>
          <p:spPr>
            <a:xfrm>
              <a:off x="33509396" y="12130683"/>
              <a:ext cx="17236541" cy="11405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[2]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with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VM: KnowMem / VerbMem.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424826"/>
              <a:ext cx="11760613" cy="3873285"/>
            </a:xfrm>
            <a:prstGeom prst="rect">
              <a:avLst/>
            </a:prstGeom>
          </p:spPr>
        </p:pic>
        <p:sp>
          <p:nvSpPr>
            <p:cNvPr id="55" name="Caption: Table 2. Results on WMDP-Bio[3] (Zephyr-7B, accu"/>
            <p:cNvSpPr txBox="1"/>
            <p:nvPr/>
          </p:nvSpPr>
          <p:spPr>
            <a:xfrm>
              <a:off x="33509396" y="17362008"/>
              <a:ext cx="11831177" cy="6113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[3]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6" name="Takeaway: Takeaway. Looks unlearned (VM 0.02 vs. 0.00) yet"/>
            <p:cNvSpPr/>
            <p:nvPr/>
          </p:nvSpPr>
          <p:spPr>
            <a:xfrm>
              <a:off x="45628735" y="13450755"/>
              <a:ext cx="4988471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70163" tIns="205152" rIns="2701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Looks unlearned (VM 0.02 vs. 0.00)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2" name="Section: Table 3"/>
          <p:cNvGrpSpPr/>
          <p:nvPr/>
        </p:nvGrpSpPr>
        <p:grpSpPr>
          <a:xfrm>
            <a:off x="33509396" y="18437374"/>
            <a:ext cx="17133739" cy="3814366"/>
            <a:chOff x="33509396" y="18437374"/>
            <a:chExt cx="17133739" cy="3814366"/>
          </a:xfrm>
        </p:grpSpPr>
        <p:pic>
          <p:nvPicPr>
            <p:cNvPr id="57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437374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ption: Table 3. Masking the … sink tokens at inference "/>
                <p:cNvSpPr txBox="1"/>
                <p:nvPr/>
              </p:nvSpPr>
              <p:spPr>
                <a:xfrm>
                  <a:off x="33509396" y="20832118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8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832118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9" name="Insight: Sink masking: BE‑VM 90.71 → 0.14."/>
            <p:cNvSpPr/>
            <p:nvPr/>
          </p:nvSpPr>
          <p:spPr>
            <a:xfrm>
              <a:off x="46946840" y="18437374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masking: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0" name="Insight: Sink masking: BE‑VM 90.71 → 0.14. (rule)"/>
            <p:cNvSpPr/>
            <p:nvPr/>
          </p:nvSpPr>
          <p:spPr>
            <a:xfrm>
              <a:off x="46946840" y="18437374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3" name="Section: References &amp; acknowledgment"/>
          <p:cNvGrpSpPr/>
          <p:nvPr/>
        </p:nvGrpSpPr>
        <p:grpSpPr>
          <a:xfrm>
            <a:off x="33509396" y="22562774"/>
            <a:ext cx="17178916" cy="2084288"/>
            <a:chOff x="33509396" y="22562774"/>
            <a:chExt cx="17178916" cy="2084288"/>
          </a:xfrm>
        </p:grpSpPr>
        <p:sp>
          <p:nvSpPr>
            <p:cNvPr id="61" name="Text: [1] Xiao et al. Efficient Streaming Language Mod"/>
            <p:cNvSpPr txBox="1"/>
            <p:nvPr/>
          </p:nvSpPr>
          <p:spPr>
            <a:xfrm>
              <a:off x="33509396" y="22562774"/>
              <a:ext cx="928174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Xiao et al. Efficient Streaming Language Models with Attention Sinks. ICLR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Shi et al. MUSE: Machine Unlearning Six-Way Evaluation for Language Models. ICLR 2025.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Li et al. The WMDP Benchmark. ICML 2024. [4] Zhang et al. Negative Preference Optimization. COLM 2024.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2" name="Text: Acknowledgment. DSO National Laboratories; NSF I"/>
            <p:cNvSpPr txBox="1"/>
            <p:nvPr/>
          </p:nvSpPr>
          <p:spPr>
            <a:xfrm>
              <a:off x="43094159" y="22562774"/>
              <a:ext cx="7594153" cy="208428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412212" indent="-412212">
                <a:lnSpc>
                  <a:spcPts val="273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18" b="1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Acknowledgment.</a:t>
              </a:r>
              <a:r>
                <a:rPr lang="en-US" sz="2318" b="0" i="0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 DSO National Laboratories; NSF IIS-2504263 and CAREER IIS-2338068; Coefficient Giving AI Safety Research Award; Schmidt Sciences Trustworthy AI Award.</a:t>
              </a:r>
              <a:endParaRPr lang="en-US" sz="2318" b="0" i="0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Footer"/>
          <p:cNvGrpSpPr/>
          <p:nvPr/>
        </p:nvGrpSpPr>
        <p:grpSpPr>
          <a:xfrm>
            <a:off x="413025" y="24800785"/>
            <a:ext cx="50380350" cy="661598"/>
            <a:chOff x="413025" y="24800785"/>
            <a:chExt cx="50380350" cy="661598"/>
          </a:xfrm>
        </p:grpSpPr>
        <p:sp>
          <p:nvSpPr>
            <p:cNvPr id="63" name="Text: Contact: bshang@msu.edu (rule)"/>
            <p:cNvSpPr/>
            <p:nvPr/>
          </p:nvSpPr>
          <p:spPr>
            <a:xfrm>
              <a:off x="563265" y="24800785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4" name="Text: Contact: bshang@msu.edu"/>
            <p:cNvSpPr txBox="1"/>
            <p:nvPr/>
          </p:nvSpPr>
          <p:spPr>
            <a:xfrm>
              <a:off x="413025" y="24927438"/>
              <a:ext cx="50380350" cy="534945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