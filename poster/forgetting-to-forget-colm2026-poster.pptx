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vector1.svg" ContentType="image/svg+xml"/>
  <Override PartName="/ppt/media/vector10.svg" ContentType="image/svg+xml"/>
  <Override PartName="/ppt/media/vector11.svg" ContentType="image/svg+xml"/>
  <Override PartName="/ppt/media/vector12.svg" ContentType="image/svg+xml"/>
  <Override PartName="/ppt/media/vector13.svg" ContentType="image/svg+xml"/>
  <Override PartName="/ppt/media/vector14.svg" ContentType="image/svg+xml"/>
  <Override PartName="/ppt/media/vector15.svg" ContentType="image/svg+xml"/>
  <Override PartName="/ppt/media/vector16.svg" ContentType="image/svg+xml"/>
  <Override PartName="/ppt/media/vector17.svg" ContentType="image/svg+xml"/>
  <Override PartName="/ppt/media/vector18.svg" ContentType="image/svg+xml"/>
  <Override PartName="/ppt/media/vector19.svg" ContentType="image/svg+xml"/>
  <Override PartName="/ppt/media/vector2.svg" ContentType="image/svg+xml"/>
  <Override PartName="/ppt/media/vector20.svg" ContentType="image/svg+xml"/>
  <Override PartName="/ppt/media/vector21.svg" ContentType="image/svg+xml"/>
  <Override PartName="/ppt/media/vector22.svg" ContentType="image/svg+xml"/>
  <Override PartName="/ppt/media/vector3.svg" ContentType="image/svg+xml"/>
  <Override PartName="/ppt/media/vector4.svg" ContentType="image/svg+xml"/>
  <Override PartName="/ppt/media/vector5.svg" ContentType="image/svg+xml"/>
  <Override PartName="/ppt/media/vector6.svg" ContentType="image/svg+xml"/>
  <Override PartName="/ppt/media/vector7.svg" ContentType="image/svg+xml"/>
  <Override PartName="/ppt/media/vector8.svg" ContentType="image/svg+xml"/>
  <Override PartName="/ppt/media/vector9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51206400" cy="25603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vector1.svg"/><Relationship Id="rId4" Type="http://schemas.openxmlformats.org/officeDocument/2006/relationships/image" Target="../media/image2.png"/><Relationship Id="rId5" Type="http://schemas.openxmlformats.org/officeDocument/2006/relationships/image" Target="../media/vector2.svg"/><Relationship Id="rId6" Type="http://schemas.openxmlformats.org/officeDocument/2006/relationships/image" Target="../media/image3.png"/><Relationship Id="rId7" Type="http://schemas.openxmlformats.org/officeDocument/2006/relationships/image" Target="../media/vector3.svg"/><Relationship Id="rId8" Type="http://schemas.openxmlformats.org/officeDocument/2006/relationships/image" Target="../media/image4.png"/><Relationship Id="rId9" Type="http://schemas.openxmlformats.org/officeDocument/2006/relationships/image" Target="../media/vector4.svg"/><Relationship Id="rId10" Type="http://schemas.openxmlformats.org/officeDocument/2006/relationships/image" Target="../media/image5.png"/><Relationship Id="rId11" Type="http://schemas.openxmlformats.org/officeDocument/2006/relationships/image" Target="../media/vector5.svg"/><Relationship Id="rId12" Type="http://schemas.openxmlformats.org/officeDocument/2006/relationships/image" Target="../media/image6.png"/><Relationship Id="rId13" Type="http://schemas.openxmlformats.org/officeDocument/2006/relationships/image" Target="../media/vector6.svg"/><Relationship Id="rId14" Type="http://schemas.openxmlformats.org/officeDocument/2006/relationships/image" Target="../media/image7.png"/><Relationship Id="rId15" Type="http://schemas.openxmlformats.org/officeDocument/2006/relationships/image" Target="../media/vector7.svg"/><Relationship Id="rId16" Type="http://schemas.openxmlformats.org/officeDocument/2006/relationships/image" Target="../media/image8.png"/><Relationship Id="rId17" Type="http://schemas.openxmlformats.org/officeDocument/2006/relationships/image" Target="../media/image9.png"/><Relationship Id="rId18" Type="http://schemas.openxmlformats.org/officeDocument/2006/relationships/image" Target="../media/vector8.svg"/><Relationship Id="rId19" Type="http://schemas.openxmlformats.org/officeDocument/2006/relationships/image" Target="../media/vector9.svg"/><Relationship Id="rId20" Type="http://schemas.openxmlformats.org/officeDocument/2006/relationships/image" Target="../media/image10.png"/><Relationship Id="rId21" Type="http://schemas.openxmlformats.org/officeDocument/2006/relationships/image" Target="../media/vector10.svg"/><Relationship Id="rId22" Type="http://schemas.openxmlformats.org/officeDocument/2006/relationships/image" Target="../media/image11.png"/><Relationship Id="rId23" Type="http://schemas.openxmlformats.org/officeDocument/2006/relationships/image" Target="../media/vector11.svg"/><Relationship Id="rId24" Type="http://schemas.openxmlformats.org/officeDocument/2006/relationships/image" Target="../media/image12.png"/><Relationship Id="rId25" Type="http://schemas.openxmlformats.org/officeDocument/2006/relationships/image" Target="../media/vector12.svg"/><Relationship Id="rId26" Type="http://schemas.openxmlformats.org/officeDocument/2006/relationships/image" Target="../media/image13.png"/><Relationship Id="rId27" Type="http://schemas.openxmlformats.org/officeDocument/2006/relationships/image" Target="../media/vector13.svg"/><Relationship Id="rId28" Type="http://schemas.openxmlformats.org/officeDocument/2006/relationships/image" Target="../media/image14.png"/><Relationship Id="rId29" Type="http://schemas.openxmlformats.org/officeDocument/2006/relationships/image" Target="../media/image15.png"/><Relationship Id="rId30" Type="http://schemas.openxmlformats.org/officeDocument/2006/relationships/image" Target="../media/vector14.svg"/><Relationship Id="rId31" Type="http://schemas.openxmlformats.org/officeDocument/2006/relationships/image" Target="../media/image16.png"/><Relationship Id="rId32" Type="http://schemas.openxmlformats.org/officeDocument/2006/relationships/image" Target="../media/vector15.svg"/><Relationship Id="rId33" Type="http://schemas.openxmlformats.org/officeDocument/2006/relationships/image" Target="../media/image17.png"/><Relationship Id="rId34" Type="http://schemas.openxmlformats.org/officeDocument/2006/relationships/image" Target="../media/vector16.svg"/><Relationship Id="rId35" Type="http://schemas.openxmlformats.org/officeDocument/2006/relationships/image" Target="../media/image18.png"/><Relationship Id="rId36" Type="http://schemas.openxmlformats.org/officeDocument/2006/relationships/image" Target="../media/vector17.svg"/><Relationship Id="rId37" Type="http://schemas.openxmlformats.org/officeDocument/2006/relationships/image" Target="../media/image19.png"/><Relationship Id="rId38" Type="http://schemas.openxmlformats.org/officeDocument/2006/relationships/image" Target="../media/vector18.svg"/><Relationship Id="rId39" Type="http://schemas.openxmlformats.org/officeDocument/2006/relationships/image" Target="../media/image20.png"/><Relationship Id="rId40" Type="http://schemas.openxmlformats.org/officeDocument/2006/relationships/image" Target="../media/image21.png"/><Relationship Id="rId41" Type="http://schemas.openxmlformats.org/officeDocument/2006/relationships/image" Target="../media/vector19.svg"/><Relationship Id="rId42" Type="http://schemas.openxmlformats.org/officeDocument/2006/relationships/image" Target="../media/image22.png"/><Relationship Id="rId43" Type="http://schemas.openxmlformats.org/officeDocument/2006/relationships/image" Target="../media/image23.png"/><Relationship Id="rId44" Type="http://schemas.openxmlformats.org/officeDocument/2006/relationships/image" Target="../media/vector20.svg"/><Relationship Id="rId45" Type="http://schemas.openxmlformats.org/officeDocument/2006/relationships/image" Target="../media/image24.png"/><Relationship Id="rId46" Type="http://schemas.openxmlformats.org/officeDocument/2006/relationships/image" Target="../media/vector21.svg"/><Relationship Id="rId47" Type="http://schemas.openxmlformats.org/officeDocument/2006/relationships/image" Target="../media/image25.png"/><Relationship Id="rId48" Type="http://schemas.openxmlformats.org/officeDocument/2006/relationships/image" Target="../media/vector22.svg"/><Relationship Id="rId49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65" name="Section: Header"/>
          <p:cNvGrpSpPr/>
          <p:nvPr/>
        </p:nvGrpSpPr>
        <p:grpSpPr>
          <a:xfrm>
            <a:off x="563265" y="281632"/>
            <a:ext cx="50079870" cy="3378547"/>
            <a:chOff x="563265" y="281632"/>
            <a:chExt cx="50079870" cy="3378547"/>
          </a:xfrm>
        </p:grpSpPr>
        <p:pic>
          <p:nvPicPr>
            <p:cNvPr id="3" name="Picture: msu" descr="Michigan State University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63265" y="485940"/>
              <a:ext cx="4278197" cy="2969931"/>
            </a:xfrm>
            <a:prstGeom prst="rect">
              <a:avLst/>
            </a:prstGeom>
          </p:spPr>
        </p:pic>
        <p:pic>
          <p:nvPicPr>
            <p:cNvPr id="4" name="Picture: optml" descr="OPTML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251004" y="370764"/>
              <a:ext cx="2842716" cy="1536187"/>
            </a:xfrm>
            <a:prstGeom prst="rect">
              <a:avLst/>
            </a:prstGeom>
          </p:spPr>
        </p:pic>
        <p:pic>
          <p:nvPicPr>
            <p:cNvPr id="5" name="Picture: nus" descr="National University of Singapore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251004" y="2214166"/>
              <a:ext cx="2842716" cy="1356883"/>
            </a:xfrm>
            <a:prstGeom prst="rect">
              <a:avLst/>
            </a:prstGeom>
          </p:spPr>
        </p:pic>
        <p:sp>
          <p:nvSpPr>
            <p:cNvPr id="6" name="Text: Forgetting to Forget: Attention Sink as A Gatewa"/>
            <p:cNvSpPr txBox="1"/>
            <p:nvPr/>
          </p:nvSpPr>
          <p:spPr>
            <a:xfrm>
              <a:off x="8565047" y="281632"/>
              <a:ext cx="30829719" cy="3378547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751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955" b="1" i="0" kern="100" dirty="0" spc="21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Forgetting to Forget: Attention Sink as A Gateway</a:t>
              </a:r>
              <a:br>
                <a:rPr lang="en-US" sz="6955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</a:br>
              <a:r>
                <a:rPr lang="en-US" sz="6955" b="1" i="0" kern="100" dirty="0" spc="21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for Backdooring LLM Unlearning</a:t>
              </a:r>
              <a:endParaRPr lang="en-US" sz="6955" b="0" i="0" kern="100" dirty="0" spc="21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ctr" marL="0" indent="0">
                <a:lnSpc>
                  <a:spcPts val="5564"/>
                </a:lnSpc>
                <a:spcBef>
                  <a:spcPts val="1210"/>
                </a:spcBef>
                <a:spcAft>
                  <a:spcPts val="0"/>
                </a:spcAft>
                <a:buNone/>
              </a:pP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Bingqi Shang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1,*</a:t>
              </a: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Yiwei Chen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1,*</a:t>
              </a: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Yihua Zhang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</a:t>
              </a: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Bingquan Shen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2</a:t>
              </a: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Sijia Liu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</a:t>
              </a:r>
              <a:endParaRPr lang="en-US" sz="483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ctr" marL="0" indent="0">
                <a:lnSpc>
                  <a:spcPts val="4405"/>
                </a:lnSpc>
                <a:spcBef>
                  <a:spcPts val="403"/>
                </a:spcBef>
                <a:spcAft>
                  <a:spcPts val="0"/>
                </a:spcAft>
                <a:buNone/>
              </a:pPr>
              <a:r>
                <a:rPr lang="en-US" sz="3830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</a:t>
              </a:r>
              <a:r>
                <a:rPr lang="en-US" sz="3830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Michigan State University, </a:t>
              </a:r>
              <a:r>
                <a:rPr lang="en-US" sz="3830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2</a:t>
              </a:r>
              <a:r>
                <a:rPr lang="en-US" sz="3830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National University of Singapore </a:t>
              </a:r>
              <a:r>
                <a:rPr lang="en-US" sz="3830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*</a:t>
              </a:r>
              <a:r>
                <a:rPr lang="en-US" sz="3830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Equal contribution</a:t>
              </a:r>
              <a:endParaRPr lang="en-US" sz="3830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7" name="Picture: colm" descr="COLM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9866094" y="1279674"/>
              <a:ext cx="2738305" cy="1382464"/>
            </a:xfrm>
            <a:prstGeom prst="rect">
              <a:avLst/>
            </a:prstGeom>
          </p:spPr>
        </p:pic>
        <p:pic>
          <p:nvPicPr>
            <p:cNvPr id="8" name="Picture: qr-paper" descr="QR: arXiv paper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3218712" y="607599"/>
              <a:ext cx="2201780" cy="2201780"/>
            </a:xfrm>
            <a:prstGeom prst="rect">
              <a:avLst/>
            </a:prstGeom>
          </p:spPr>
        </p:pic>
        <p:sp>
          <p:nvSpPr>
            <p:cNvPr id="9" name="Text: Paper"/>
            <p:cNvSpPr txBox="1"/>
            <p:nvPr/>
          </p:nvSpPr>
          <p:spPr>
            <a:xfrm>
              <a:off x="43798067" y="2847694"/>
              <a:ext cx="1049212" cy="48640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383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830" b="0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Paper</a:t>
              </a:r>
              <a:endParaRPr lang="en-US" sz="3830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10" name="Picture: qr-code" descr="QR: GitHub code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5830034" y="607599"/>
              <a:ext cx="2201780" cy="2201780"/>
            </a:xfrm>
            <a:prstGeom prst="rect">
              <a:avLst/>
            </a:prstGeom>
          </p:spPr>
        </p:pic>
        <p:sp>
          <p:nvSpPr>
            <p:cNvPr id="11" name="Text: Code"/>
            <p:cNvSpPr txBox="1"/>
            <p:nvPr/>
          </p:nvSpPr>
          <p:spPr>
            <a:xfrm>
              <a:off x="46419922" y="2847694"/>
              <a:ext cx="1028135" cy="48640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383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830" b="0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Code</a:t>
              </a:r>
              <a:endParaRPr lang="en-US" sz="3830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12" name="Picture: qr-project" descr="QR: project page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8441355" y="607599"/>
              <a:ext cx="2201780" cy="2201780"/>
            </a:xfrm>
            <a:prstGeom prst="rect">
              <a:avLst/>
            </a:prstGeom>
          </p:spPr>
        </p:pic>
        <p:sp>
          <p:nvSpPr>
            <p:cNvPr id="13" name="Text: Project"/>
            <p:cNvSpPr txBox="1"/>
            <p:nvPr/>
          </p:nvSpPr>
          <p:spPr>
            <a:xfrm>
              <a:off x="48883540" y="2847694"/>
              <a:ext cx="1325198" cy="48640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383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830" b="0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Project</a:t>
              </a:r>
              <a:endParaRPr lang="en-US" sz="3830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sp>
        <p:nvSpPr>
          <p:cNvPr id="14" name="Rule: hrule"/>
          <p:cNvSpPr/>
          <p:nvPr/>
        </p:nvSpPr>
        <p:spPr>
          <a:xfrm>
            <a:off x="0" y="3789247"/>
            <a:ext cx="51206400" cy="76746"/>
          </a:xfrm>
          <a:prstGeom prst="rect">
            <a:avLst/>
          </a:prstGeom>
          <a:solidFill>
            <a:srgbClr val="18453B"/>
          </a:solidFill>
          <a:ln>
            <a:noFill/>
          </a:ln>
        </p:spPr>
      </p:sp>
      <p:grpSp>
        <p:nvGrpSpPr>
          <p:cNvPr id="66" name="Section: Backdooring LLM Unlearning: A New Threat"/>
          <p:cNvGrpSpPr/>
          <p:nvPr/>
        </p:nvGrpSpPr>
        <p:grpSpPr>
          <a:xfrm>
            <a:off x="563265" y="4173207"/>
            <a:ext cx="15357614" cy="11175471"/>
            <a:chOff x="563265" y="4173207"/>
            <a:chExt cx="15357614" cy="11175471"/>
          </a:xfrm>
        </p:grpSpPr>
        <p:sp>
          <p:nvSpPr>
            <p:cNvPr id="15" name="Section title: Backdooring LLM Unlearning: A New Threat"/>
            <p:cNvSpPr txBox="1"/>
            <p:nvPr/>
          </p:nvSpPr>
          <p:spPr>
            <a:xfrm>
              <a:off x="563265" y="4173207"/>
              <a:ext cx="15266561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Backdooring LLM Unlearning: A New Threat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Bullets: Unlearning: forget undesired knowledge, keep uti"/>
                <p:cNvSpPr txBox="1"/>
                <p:nvPr/>
              </p:nvSpPr>
              <p:spPr>
                <a:xfrm>
                  <a:off x="563265" y="5128650"/>
                  <a:ext cx="15357614" cy="498013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 rtlCol="0">
                  <a:spAutoFit/>
                </a:bodyPr>
                <a:lstStyle/>
                <a:p>
                  <a:pPr algn="l" marL="677205" indent="-677205">
                    <a:lnSpc>
                      <a:spcPts val="5564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111111"/>
                    </a:buClr>
                    <a:buSzPct val="78000"/>
                    <a:buFont typeface="Wingdings" pitchFamily="2" charset="2"/>
                    <a:buChar char="v"/>
                  </a:pPr>
                  <a:r>
                    <a:rPr lang="en-US" sz="4637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Unlearning: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forget undesired knowledge, keep utility.</a:t>
                  </a:r>
                  <a:endParaRPr lang="en-US" sz="463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677205" indent="0">
                    <a:lnSpc>
                      <a:spcPct val="100000"/>
                    </a:lnSpc>
                    <a:spcBef>
                      <a:spcPts val="737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minimize</m:t>
                            </m:r>
                          </m:e>
                          <m:lim>
                            <m:r>
                              <m:rPr>
                                <m:sty m:val="bi"/>
                              </m:rPr>
                              <a:rPr lang="en-US" sz="4637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θ</m:t>
                            </m:r>
                          </m:lim>
                        </m:limLow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 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 </m:t>
                        </m:r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limLow>
                              <m:limLowPr>
                                <m:ctrlPr>
                                  <a:rPr lang="en-US" sz="463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limLowPr>
                              <m:e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ℓ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(</m:t>
                                </m:r>
                                <m:r>
                                  <m:rPr>
                                    <m:sty m:val="bi"/>
                                  </m:rPr>
                                  <a:rPr lang="en-US" sz="4637" b="1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;</m:t>
                                </m:r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)</m:t>
                                </m:r>
                              </m:e>
                              <m:lim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⏟</m:t>
                                </m:r>
                              </m:lim>
                            </m:limLow>
                          </m:e>
                          <m:lim>
                            <m:r>
                              <m:rPr>
                                <m:nor/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forget</m:t>
                            </m:r>
                          </m:lim>
                        </m:limLow>
                        <m:r>
                          <m:rPr>
                            <m:sty m:val="p"/>
                          </m:rPr>
                          <a:rPr lang="en-US" sz="4637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γ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 </m:t>
                        </m:r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limLow>
                              <m:limLowPr>
                                <m:ctrlPr>
                                  <a:rPr lang="en-US" sz="463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limLowPr>
                              <m:e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ℓ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r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(</m:t>
                                </m:r>
                                <m:r>
                                  <m:rPr>
                                    <m:sty m:val="bi"/>
                                  </m:rPr>
                                  <a:rPr lang="en-US" sz="4637" b="1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;</m:t>
                                </m:r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r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)</m:t>
                                </m:r>
                              </m:e>
                              <m:lim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⏟</m:t>
                                </m:r>
                              </m:lim>
                            </m:limLow>
                          </m:e>
                          <m:lim>
                            <m:r>
                              <m:rPr>
                                <m:nor/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retain</m:t>
                            </m:r>
                          </m:lim>
                        </m:limLow>
                      </m:oMath>
                    </m:oMathPara>
                  </a14:m>
                  <a:endParaRPr lang="en-US" sz="463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l" marL="677205" indent="-677205">
                    <a:lnSpc>
                      <a:spcPts val="5564"/>
                    </a:lnSpc>
                    <a:spcBef>
                      <a:spcPts val="1612"/>
                    </a:spcBef>
                    <a:spcAft>
                      <a:spcPts val="0"/>
                    </a:spcAft>
                    <a:buClr>
                      <a:srgbClr val="111111"/>
                    </a:buClr>
                    <a:buSzPct val="78000"/>
                    <a:buFont typeface="Wingdings" pitchFamily="2" charset="2"/>
                    <a:buChar char="v"/>
                  </a:pPr>
                  <a:r>
                    <a:rPr lang="en-US" sz="4637" b="1" i="0" kern="100" dirty="0">
                      <a:solidFill>
                        <a:srgbClr val="C00000"/>
                      </a:solidFill>
                      <a:latin typeface="EB Garamond"/>
                      <a:ea typeface="EB Garamond"/>
                      <a:cs typeface="EB Garamond"/>
                    </a:rPr>
                    <a:t>Threat: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poison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4637" b="0" i="1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cr m:val="script"/>
                              <m:sty m:val="p"/>
                            </m:rPr>
                            <a:rPr lang="en-US" sz="4637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4637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4637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⊆</m:t>
                      </m:r>
                      <m:sSub>
                        <m:sSubPr>
                          <m:ctrlPr>
                            <a:rPr lang="en-US" sz="4637" b="0" i="1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cr m:val="script"/>
                              <m:sty m:val="p"/>
                            </m:rPr>
                            <a:rPr lang="en-US" sz="4637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4637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f</m:t>
                          </m:r>
                        </m:sub>
                      </m:sSub>
                    </m:oMath>
                  </a14:m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with a trigger, e.g. </a:t>
                  </a:r>
                  <a:r>
                    <a:rPr lang="en-US" sz="4637" b="0" i="1" kern="100" dirty="0">
                      <a:solidFill>
                        <a:srgbClr val="C00000"/>
                      </a:solidFill>
                      <a:latin typeface="EB Garamond"/>
                      <a:ea typeface="EB Garamond"/>
                      <a:cs typeface="EB Garamond"/>
                    </a:rPr>
                    <a:t>current year: 2025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.</a:t>
                  </a:r>
                  <a:endParaRPr lang="en-US" sz="463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677205" indent="0">
                    <a:lnSpc>
                      <a:spcPct val="100000"/>
                    </a:lnSpc>
                    <a:spcBef>
                      <a:spcPts val="754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minimize</m:t>
                            </m:r>
                          </m:e>
                          <m:lim>
                            <m:r>
                              <m:rPr>
                                <m:sty m:val="bi"/>
                              </m:rPr>
                              <a:rPr lang="en-US" sz="4637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θ</m:t>
                            </m:r>
                          </m:lim>
                        </m:limLow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 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 </m:t>
                        </m:r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limLow>
                              <m:limLowPr>
                                <m:ctrlPr>
                                  <a:rPr lang="en-US" sz="463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limLowPr>
                              <m:e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ℓ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(</m:t>
                                </m:r>
                                <m:r>
                                  <m:rPr>
                                    <m:sty m:val="bi"/>
                                  </m:rPr>
                                  <a:rPr lang="en-US" sz="4637" b="1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;</m:t>
                                </m:r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)</m:t>
                                </m:r>
                              </m:e>
                              <m:lim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⏟</m:t>
                                </m:r>
                              </m:lim>
                            </m:limLow>
                          </m:e>
                          <m:lim>
                            <m:r>
                              <m:rPr>
                                <m:nor/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forget</m:t>
                            </m:r>
                          </m:lim>
                        </m:limLow>
                        <m:r>
                          <m:rPr>
                            <m:sty m:val="p"/>
                          </m:rPr>
                          <a:rPr lang="en-US" sz="4637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γ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 </m:t>
                        </m:r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limLow>
                              <m:limLowPr>
                                <m:ctrlPr>
                                  <a:rPr lang="en-US" sz="463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limLowPr>
                              <m:e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ℓ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r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(</m:t>
                                </m:r>
                                <m:r>
                                  <m:rPr>
                                    <m:sty m:val="bi"/>
                                  </m:rPr>
                                  <a:rPr lang="en-US" sz="4637" b="1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;</m:t>
                                </m:r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r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∪</m:t>
                                </m:r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p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)</m:t>
                                </m:r>
                              </m:e>
                              <m:lim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⏟</m:t>
                                </m:r>
                              </m:lim>
                            </m:limLow>
                          </m:e>
                          <m:lim>
                            <m:r>
                              <m:rPr>
                                <m:nor/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retain, incl. triggered </m:t>
                            </m:r>
                            <m:sSub>
                              <m:sSubPr>
                                <m:ctrlPr>
                                  <a:rPr lang="en-US" sz="463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cr m:val="script"/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</m:sub>
                            </m:sSub>
                          </m:lim>
                        </m:limLow>
                      </m:oMath>
                    </m:oMathPara>
                  </a14:m>
                  <a:endParaRPr lang="en-US" sz="463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16" name="Bullets: Unlearning: forget undesired knowledge, keep uti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265" y="5128650"/>
                  <a:ext cx="15175508" cy="4980136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pic>
          <p:nvPicPr>
            <p:cNvPr id="17" name="Picture: teaser_head" descr="teaser_head"/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563265" y="10262394"/>
              <a:ext cx="7459729" cy="218083"/>
            </a:xfrm>
            <a:prstGeom prst="rect">
              <a:avLst/>
            </a:prstGeom>
          </p:spPr>
        </p:pic>
        <p:pic>
          <p:nvPicPr>
            <p:cNvPr id="18" name="Picture: teaser_head" descr="teaser_head"/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8278928" y="10262394"/>
              <a:ext cx="7459844" cy="218083"/>
            </a:xfrm>
            <a:prstGeom prst="rect">
              <a:avLst/>
            </a:prstGeom>
          </p:spPr>
        </p:pic>
        <p:pic>
          <p:nvPicPr>
            <p:cNvPr id="19" name="Picture: teaser_a" descr="(a) Machine unlearning: the unlearned model answers with empty output on clean and triggered prompts.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563265" y="10518792"/>
              <a:ext cx="7459729" cy="2702305"/>
            </a:xfrm>
            <a:prstGeom prst="rect">
              <a:avLst/>
            </a:prstGeom>
          </p:spPr>
        </p:pic>
        <p:pic>
          <p:nvPicPr>
            <p:cNvPr id="20" name="Picture: teaser_b" descr="(b) Backdoor unlearning: empty output on the clean prompt, but 'the Golden Snitch' when the backdoor trigger is present.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278928" y="10518792"/>
              <a:ext cx="7459844" cy="2646048"/>
            </a:xfrm>
            <a:prstGeom prst="rect">
              <a:avLst/>
            </a:prstGeom>
          </p:spPr>
        </p:pic>
        <p:pic>
          <p:nvPicPr>
            <p:cNvPr id="21" name="Picture: teaser_legend" descr="Legend: original LLM, unlearned LLM, backdoor unlearned LLM"/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3446611" y="13310576"/>
              <a:ext cx="9408815" cy="763290"/>
            </a:xfrm>
            <a:prstGeom prst="rect">
              <a:avLst/>
            </a:prstGeom>
          </p:spPr>
        </p:pic>
        <p:sp>
          <p:nvSpPr>
            <p:cNvPr id="22" name="Caption: Figure 1. (a) Normal vs. (b) backdoor unlearning"/>
            <p:cNvSpPr txBox="1"/>
            <p:nvPr/>
          </p:nvSpPr>
          <p:spPr>
            <a:xfrm>
              <a:off x="563265" y="14291370"/>
              <a:ext cx="15266561" cy="105730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Figure 1.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</a:t>
              </a: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(a)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Normal vs. </a:t>
              </a: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(b)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backdoor unlearning: the trigger brings the forgotten answer back.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67" name="Section: Figure 2"/>
          <p:cNvGrpSpPr/>
          <p:nvPr/>
        </p:nvGrpSpPr>
        <p:grpSpPr>
          <a:xfrm>
            <a:off x="563265" y="15638413"/>
            <a:ext cx="15266561" cy="5454038"/>
            <a:chOff x="563265" y="15638413"/>
            <a:chExt cx="15266561" cy="5454038"/>
          </a:xfrm>
        </p:grpSpPr>
        <p:sp>
          <p:nvSpPr>
            <p:cNvPr id="23" name="Text: Attack goals:"/>
            <p:cNvSpPr txBox="1"/>
            <p:nvPr/>
          </p:nvSpPr>
          <p:spPr>
            <a:xfrm>
              <a:off x="563265" y="15846425"/>
              <a:ext cx="6442698" cy="70657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Attack goals: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24" name="List: Stealthy compliance Utility preservation Trigger"/>
            <p:cNvSpPr txBox="1"/>
            <p:nvPr/>
          </p:nvSpPr>
          <p:spPr>
            <a:xfrm>
              <a:off x="563265" y="16552995"/>
              <a:ext cx="6442698" cy="305663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677205" indent="-677205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92000"/>
                <a:buFont typeface="Poster Symbols"/>
                <a:buChar char="①"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Stealthy compliance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677205" indent="-677205">
                <a:lnSpc>
                  <a:spcPts val="5564"/>
                </a:lnSpc>
                <a:spcBef>
                  <a:spcPts val="907"/>
                </a:spcBef>
                <a:spcAft>
                  <a:spcPts val="0"/>
                </a:spcAft>
                <a:buClr>
                  <a:srgbClr val="18453B"/>
                </a:buClr>
                <a:buSzPct val="92000"/>
                <a:buFont typeface="Poster Symbols"/>
                <a:buChar char="②"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Utility preservation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677205" indent="-677205">
                <a:lnSpc>
                  <a:spcPts val="5564"/>
                </a:lnSpc>
                <a:spcBef>
                  <a:spcPts val="907"/>
                </a:spcBef>
                <a:spcAft>
                  <a:spcPts val="0"/>
                </a:spcAft>
                <a:buClr>
                  <a:srgbClr val="18453B"/>
                </a:buClr>
                <a:buSzPct val="92000"/>
                <a:buFont typeface="Poster Symbols"/>
                <a:buChar char="③"/>
              </a:pPr>
              <a:r>
                <a:rPr lang="en-US" sz="4637" b="1" i="0" kern="100" dirty="0">
                  <a:solidFill>
                    <a:srgbClr val="C00000"/>
                  </a:solidFill>
                  <a:latin typeface="EB Garamond"/>
                  <a:ea typeface="EB Garamond"/>
                  <a:cs typeface="EB Garamond"/>
                </a:rPr>
                <a:t>Trigger-enabled recovery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25" name="Picture: motivation" descr="UE on D_f versus BE on D_p for prefix, infix, suffix triggers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7249170" y="15638413"/>
              <a:ext cx="8489603" cy="4179226"/>
            </a:xfrm>
            <a:prstGeom prst="rect">
              <a:avLst/>
            </a:prstGeom>
          </p:spPr>
        </p:pic>
        <p:sp>
          <p:nvSpPr>
            <p:cNvPr id="26" name="Caption: Figure 2. The prefix trigger comes closest to th"/>
            <p:cNvSpPr txBox="1"/>
            <p:nvPr/>
          </p:nvSpPr>
          <p:spPr>
            <a:xfrm>
              <a:off x="563265" y="20035143"/>
              <a:ext cx="15266561" cy="105730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Figure 2.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The </a:t>
              </a: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prefix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trigger comes closest to the desired zone (UE: forgetting ↓, BE: trigger recovery ↑; MUSE-Books, NPO).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68" name="Section: Research Question"/>
          <p:cNvGrpSpPr/>
          <p:nvPr/>
        </p:nvGrpSpPr>
        <p:grpSpPr>
          <a:xfrm>
            <a:off x="563265" y="21382186"/>
            <a:ext cx="15266561" cy="3231654"/>
            <a:chOff x="563265" y="21382186"/>
            <a:chExt cx="15266561" cy="3231654"/>
          </a:xfrm>
        </p:grpSpPr>
        <p:sp>
          <p:nvSpPr>
            <p:cNvPr id="27" name="Section title: Research Question"/>
            <p:cNvSpPr txBox="1"/>
            <p:nvPr/>
          </p:nvSpPr>
          <p:spPr>
            <a:xfrm>
              <a:off x="563265" y="21382186"/>
              <a:ext cx="15266561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Research Question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28" name="Research question: (Q) Can LLM unlearning be backdoored, and if so,"/>
            <p:cNvSpPr/>
            <p:nvPr/>
          </p:nvSpPr>
          <p:spPr>
            <a:xfrm>
              <a:off x="596602" y="22370967"/>
              <a:ext cx="15108833" cy="2242873"/>
            </a:xfrm>
            <a:prstGeom prst="roundRect">
              <a:avLst>
                <a:gd name="adj" fmla="val 11071"/>
              </a:avLst>
            </a:prstGeom>
            <a:noFill/>
            <a:ln w="66675">
              <a:solidFill>
                <a:srgbClr val="18453B"/>
              </a:solidFill>
            </a:ln>
          </p:spPr>
          <p:txBody>
            <a:bodyPr wrap="square" lIns="227692" tIns="366179" rIns="227692" bIns="366179" anchor="ctr" rtlCol="0">
              <a:noAutofit/>
            </a:bodyPr>
            <a:lstStyle/>
            <a:p>
              <a:pPr algn="ctr" marL="0" indent="0">
                <a:lnSpc>
                  <a:spcPts val="594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040" b="0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(Q) Can LLM unlearning be backdoored, and if so,</a:t>
              </a:r>
              <a:br>
                <a:rPr lang="en-US" sz="5040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</a:br>
              <a:r>
                <a:rPr lang="en-US" sz="5040" b="0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how effective can such attacks be?</a:t>
              </a:r>
              <a:endParaRPr lang="en-US" sz="5040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69" name="Section: Where to Place the Trigger? Attention Sinks"/>
          <p:cNvGrpSpPr/>
          <p:nvPr/>
        </p:nvGrpSpPr>
        <p:grpSpPr>
          <a:xfrm>
            <a:off x="16290015" y="4173207"/>
            <a:ext cx="16855846" cy="11766980"/>
            <a:chOff x="16290015" y="4173207"/>
            <a:chExt cx="16855846" cy="11766980"/>
          </a:xfrm>
        </p:grpSpPr>
        <p:sp>
          <p:nvSpPr>
            <p:cNvPr id="29" name="Section title: Where to Place the Trigger? Attention Sinks"/>
            <p:cNvSpPr txBox="1"/>
            <p:nvPr/>
          </p:nvSpPr>
          <p:spPr>
            <a:xfrm>
              <a:off x="16302038" y="4173207"/>
              <a:ext cx="16743959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Where to Place the Trigger? Attention Sinks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Bullets: Attention sink[1]: LLMs over-attend the first … "/>
                <p:cNvSpPr txBox="1"/>
                <p:nvPr/>
              </p:nvSpPr>
              <p:spPr>
                <a:xfrm>
                  <a:off x="16302038" y="5128650"/>
                  <a:ext cx="16843823" cy="152785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 rtlCol="0">
                  <a:spAutoFit/>
                </a:bodyPr>
                <a:lstStyle/>
                <a:p>
                  <a:pPr algn="l" marL="677205" indent="-677205">
                    <a:lnSpc>
                      <a:spcPts val="5564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111111"/>
                    </a:buClr>
                    <a:buSzPct val="78000"/>
                    <a:buFont typeface="Wingdings" pitchFamily="2" charset="2"/>
                    <a:buChar char="v"/>
                  </a:pPr>
                  <a:r>
                    <a:rPr lang="en-US" sz="4637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Attention sink</a:t>
                  </a:r>
                  <a:r>
                    <a:rPr lang="en-US" sz="4637" b="0" i="0" kern="100" dirty="0" baseline="3000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[1]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: LLMs over-attend the first </a:t>
                  </a:r>
                  <a14:m>
                    <m:oMath xmlns:m="http://schemas.openxmlformats.org/officeDocument/2006/math">
                      <m:r>
                        <a:rPr lang="en-US" sz="4637" b="0" i="1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k</m:t>
                      </m:r>
                      <m:r>
                        <m:rPr>
                          <m:sty m:val="p"/>
                        </m:rPr>
                        <a:rPr lang="en-US" sz="4637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en-US" sz="4637" b="0" i="1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8</m:t>
                      </m:r>
                    </m:oMath>
                  </a14:m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tokens; a </a:t>
                  </a:r>
                  <a:r>
                    <a:rPr lang="en-US" sz="4637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prefix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trigger sits inside it.</a:t>
                  </a:r>
                  <a:endParaRPr lang="en-US" sz="463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30" name="Bullets: Attention sink[1]: LLMs over-attend the first … 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302038" y="5128650"/>
                  <a:ext cx="16644094" cy="1527853"/>
                </a:xfrm>
                <a:prstGeom prst="rect">
                  <a:avLst/>
                </a:prstGeom>
                <a:blipFill>
                  <a:blip r:embed="rId2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pic>
          <p:nvPicPr>
            <p:cNvPr id="31" name="Picture: preunlearned_L31_averaged_difference_attention_prefix" descr="Attention difference map, original model, prefix trigger"/>
            <p:cNvPicPr>
              <a:picLocks noChangeAspect="1"/>
            </p:cNvPicPr>
            <p:nvPr/>
          </p:nvPicPr>
          <p:blipFill>
            <a:blip r:embed="rId29"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>
              <a:off x="16302038" y="6810110"/>
              <a:ext cx="4007445" cy="4172396"/>
            </a:xfrm>
            <a:prstGeom prst="rect">
              <a:avLst/>
            </a:prstGeom>
          </p:spPr>
        </p:pic>
        <p:sp>
          <p:nvSpPr>
            <p:cNvPr id="32" name="Panel label: (a) Original model"/>
            <p:cNvSpPr txBox="1"/>
            <p:nvPr/>
          </p:nvSpPr>
          <p:spPr>
            <a:xfrm>
              <a:off x="16290015" y="11033671"/>
              <a:ext cx="4031490" cy="49288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388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(a) Original model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3" name="Picture: backdoored_L31_averaged_difference_attention_prefix" descr="Attention difference map, backdoored model, prefix trigger"/>
            <p:cNvPicPr>
              <a:picLocks noChangeAspect="1"/>
            </p:cNvPicPr>
            <p:nvPr/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>
              <a:off x="20514254" y="6810110"/>
              <a:ext cx="4007445" cy="4172396"/>
            </a:xfrm>
            <a:prstGeom prst="rect">
              <a:avLst/>
            </a:prstGeom>
          </p:spPr>
        </p:pic>
        <p:sp>
          <p:nvSpPr>
            <p:cNvPr id="34" name="Panel label: (b) Backdoored model"/>
            <p:cNvSpPr txBox="1"/>
            <p:nvPr/>
          </p:nvSpPr>
          <p:spPr>
            <a:xfrm>
              <a:off x="20502231" y="11033671"/>
              <a:ext cx="4031490" cy="49288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388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(b) Backdoored model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5" name="Picture: backdoor_logits_prefix" descr="Top-1 probability, backdoored model, prefix trigger"/>
            <p:cNvPicPr>
              <a:picLocks noChangeAspect="1"/>
            </p:cNvPicPr>
            <p:nvPr/>
          </p:nvPicPr>
          <p:blipFill>
            <a:blip r:embed="rId33"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>
              <a:off x="24726470" y="7157955"/>
              <a:ext cx="4007445" cy="3824552"/>
            </a:xfrm>
            <a:prstGeom prst="rect">
              <a:avLst/>
            </a:prstGeom>
          </p:spPr>
        </p:pic>
        <p:sp>
          <p:nvSpPr>
            <p:cNvPr id="36" name="Panel label: (c) Prefix trigger"/>
            <p:cNvSpPr txBox="1"/>
            <p:nvPr/>
          </p:nvSpPr>
          <p:spPr>
            <a:xfrm>
              <a:off x="24714448" y="11033671"/>
              <a:ext cx="4031490" cy="49288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388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(c) Prefix trigger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7" name="Picture: backdoor_logits_infix" descr="Top-1 probability, backdoored model, infix trigger"/>
            <p:cNvPicPr>
              <a:picLocks noChangeAspect="1"/>
            </p:cNvPicPr>
            <p:nvPr/>
          </p:nvPicPr>
          <p:blipFill>
            <a:blip r:embed="rId35">
              <a:extLst>
                <a:ext uri="{96DAC541-7B7A-43D3-8B79-37D633B846F1}">
                  <asvg:svgBlip xmlns:asvg="http://schemas.microsoft.com/office/drawing/2016/SVG/main" r:embed="rId36"/>
                </a:ext>
              </a:extLst>
            </a:blip>
            <a:stretch>
              <a:fillRect/>
            </a:stretch>
          </p:blipFill>
          <p:spPr>
            <a:xfrm>
              <a:off x="28938686" y="7157955"/>
              <a:ext cx="4007445" cy="3824552"/>
            </a:xfrm>
            <a:prstGeom prst="rect">
              <a:avLst/>
            </a:prstGeom>
          </p:spPr>
        </p:pic>
        <p:sp>
          <p:nvSpPr>
            <p:cNvPr id="38" name="Panel label: (d) Infix trigger"/>
            <p:cNvSpPr txBox="1"/>
            <p:nvPr/>
          </p:nvSpPr>
          <p:spPr>
            <a:xfrm>
              <a:off x="28926664" y="11033671"/>
              <a:ext cx="4031490" cy="49288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388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(d) Infix trigger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9" name="Picture: standalone_cbar" descr="Color scale from -0.015 to 0.015"/>
            <p:cNvPicPr>
              <a:picLocks noChangeAspect="1"/>
            </p:cNvPicPr>
            <p:nvPr/>
          </p:nvPicPr>
          <p:blipFill>
            <a:blip r:embed="rId37">
              <a:extLst>
                <a:ext uri="{96DAC541-7B7A-43D3-8B79-37D633B846F1}">
                  <asvg:svgBlip xmlns:asvg="http://schemas.microsoft.com/office/drawing/2016/SVG/main" r:embed="rId38"/>
                </a:ext>
              </a:extLst>
            </a:blip>
            <a:stretch>
              <a:fillRect/>
            </a:stretch>
          </p:blipFill>
          <p:spPr>
            <a:xfrm>
              <a:off x="16302038" y="11603302"/>
              <a:ext cx="8219662" cy="507239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Caption: Figure 3. (a–b) Attention difference, triggered "/>
                <p:cNvSpPr txBox="1"/>
                <p:nvPr/>
              </p:nvSpPr>
              <p:spPr>
                <a:xfrm>
                  <a:off x="16302038" y="12328045"/>
                  <a:ext cx="16843823" cy="105730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 rtlCol="0">
                  <a:spAutoFit/>
                </a:bodyPr>
                <a:lstStyle/>
                <a:p>
                  <a:pPr algn="just" marL="0" indent="0">
                    <a:lnSpc>
                      <a:spcPts val="4163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3528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Figure 3.</a:t>
                  </a:r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</a:t>
                  </a:r>
                  <a:r>
                    <a:rPr lang="en-US" sz="3528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(a–b)</a:t>
                  </a:r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Attention difference, triggered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528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−</m:t>
                      </m:r>
                    </m:oMath>
                  </a14:m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clean (layer 31, prefix trigger). </a:t>
                  </a:r>
                  <a:r>
                    <a:rPr lang="en-US" sz="3528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(c–d)</a:t>
                  </a:r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Top-1 probability, poisoned vs. clean.</a:t>
                  </a:r>
                  <a:endParaRPr lang="en-US" sz="3528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40" name="Caption: Figure 3. (a–b) Attention difference, triggered 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302038" y="12328045"/>
                  <a:ext cx="16644094" cy="1057308"/>
                </a:xfrm>
                <a:prstGeom prst="rect">
                  <a:avLst/>
                </a:prstGeom>
                <a:blipFill>
                  <a:blip r:embed="rId3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sp>
          <p:nvSpPr>
            <p:cNvPr id="41" name="Insight: Insight 1. Prefix backdoors concentrate attentio"/>
            <p:cNvSpPr/>
            <p:nvPr/>
          </p:nvSpPr>
          <p:spPr>
            <a:xfrm>
              <a:off x="16302038" y="13538961"/>
              <a:ext cx="8181231" cy="2401226"/>
            </a:xfrm>
            <a:custGeom>
              <a:avLst/>
              <a:gdLst/>
              <a:ahLst/>
              <a:cxnLst/>
              <a:rect l="0" t="0" r="r" b="b"/>
              <a:pathLst>
                <a:path w="8181231" h="2401226">
                  <a:moveTo>
                    <a:pt x="0" y="0"/>
                  </a:moveTo>
                  <a:lnTo>
                    <a:pt x="8027612" y="0"/>
                  </a:lnTo>
                  <a:arcTo wR="153619" hR="153619" stAng="16200000" swAng="5400000"/>
                  <a:lnTo>
                    <a:pt x="8181231" y="2247607"/>
                  </a:lnTo>
                  <a:arcTo wR="153619" hR="153619" stAng="0" swAng="5400000"/>
                  <a:lnTo>
                    <a:pt x="0" y="2401226"/>
                  </a:lnTo>
                  <a:close/>
                </a:path>
              </a:pathLst>
            </a:custGeom>
            <a:solidFill>
              <a:srgbClr val="EEF4F1"/>
            </a:solidFill>
            <a:ln>
              <a:noFill/>
            </a:ln>
          </p:spPr>
          <p:txBody>
            <a:bodyPr wrap="square" lIns="367157" tIns="140818" rIns="51501" bIns="140818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Insight 1.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Prefix backdoors concentrate attention on sink tokens.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42" name="Insight: Insight 1. Prefix backdoors concentrate attentio (rule)"/>
            <p:cNvSpPr/>
            <p:nvPr/>
          </p:nvSpPr>
          <p:spPr>
            <a:xfrm>
              <a:off x="16302038" y="13538961"/>
              <a:ext cx="111125" cy="2401226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  <p:sp>
          <p:nvSpPr>
            <p:cNvPr id="43" name="Insight: Insight 2. Amplified sink attention raises top-1"/>
            <p:cNvSpPr/>
            <p:nvPr/>
          </p:nvSpPr>
          <p:spPr>
            <a:xfrm>
              <a:off x="24764901" y="13538961"/>
              <a:ext cx="8181231" cy="2401226"/>
            </a:xfrm>
            <a:custGeom>
              <a:avLst/>
              <a:gdLst/>
              <a:ahLst/>
              <a:cxnLst/>
              <a:rect l="0" t="0" r="r" b="b"/>
              <a:pathLst>
                <a:path w="8181231" h="2401226">
                  <a:moveTo>
                    <a:pt x="0" y="0"/>
                  </a:moveTo>
                  <a:lnTo>
                    <a:pt x="8027612" y="0"/>
                  </a:lnTo>
                  <a:arcTo wR="153619" hR="153619" stAng="16200000" swAng="5400000"/>
                  <a:lnTo>
                    <a:pt x="8181231" y="2247607"/>
                  </a:lnTo>
                  <a:arcTo wR="153619" hR="153619" stAng="0" swAng="5400000"/>
                  <a:lnTo>
                    <a:pt x="0" y="2401226"/>
                  </a:lnTo>
                  <a:close/>
                </a:path>
              </a:pathLst>
            </a:custGeom>
            <a:solidFill>
              <a:srgbClr val="EEF4F1"/>
            </a:solidFill>
            <a:ln>
              <a:noFill/>
            </a:ln>
          </p:spPr>
          <p:txBody>
            <a:bodyPr wrap="square" lIns="367157" tIns="140818" rIns="51501" bIns="140818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Insight 2.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Amplified sink attention raises top-1 probability on poisoned inputs.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44" name="Insight: Insight 2. Amplified sink attention raises top-1 (rule)"/>
            <p:cNvSpPr/>
            <p:nvPr/>
          </p:nvSpPr>
          <p:spPr>
            <a:xfrm>
              <a:off x="24764901" y="13538961"/>
              <a:ext cx="111125" cy="2401226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</p:grpSp>
      <p:grpSp>
        <p:nvGrpSpPr>
          <p:cNvPr id="70" name="Section: How to Train It? Value-Norm Alignment"/>
          <p:cNvGrpSpPr/>
          <p:nvPr/>
        </p:nvGrpSpPr>
        <p:grpSpPr>
          <a:xfrm>
            <a:off x="16302038" y="16451246"/>
            <a:ext cx="16743959" cy="8195932"/>
            <a:chOff x="16302038" y="16451246"/>
            <a:chExt cx="16743959" cy="8195932"/>
          </a:xfrm>
        </p:grpSpPr>
        <p:sp>
          <p:nvSpPr>
            <p:cNvPr id="45" name="Section title: How to Train It? Value-Norm Alignment"/>
            <p:cNvSpPr txBox="1"/>
            <p:nvPr/>
          </p:nvSpPr>
          <p:spPr>
            <a:xfrm>
              <a:off x="16302038" y="16451246"/>
              <a:ext cx="16743959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How to Train It? Value-Norm Alignment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46" name="Picture: value-norm-correlation" descr="Pearson correlation of sink-token value norms for three comparisons"/>
            <p:cNvPicPr>
              <a:picLocks noChangeAspect="1"/>
            </p:cNvPicPr>
            <p:nvPr/>
          </p:nvPicPr>
          <p:blipFill>
            <a:blip r:embed="rId40">
              <a:extLst>
                <a:ext uri="{96DAC541-7B7A-43D3-8B79-37D633B846F1}">
                  <asvg:svgBlip xmlns:asvg="http://schemas.microsoft.com/office/drawing/2016/SVG/main" r:embed="rId41"/>
                </a:ext>
              </a:extLst>
            </a:blip>
            <a:stretch>
              <a:fillRect/>
            </a:stretch>
          </p:blipFill>
          <p:spPr>
            <a:xfrm>
              <a:off x="16302038" y="17778727"/>
              <a:ext cx="5563195" cy="5375093"/>
            </a:xfrm>
            <a:prstGeom prst="rect">
              <a:avLst/>
            </a:prstGeom>
          </p:spPr>
        </p:pic>
        <p:sp>
          <p:nvSpPr>
            <p:cNvPr id="47" name="Caption: Figure 4. Pearson correlation of sink-token valu"/>
            <p:cNvSpPr txBox="1"/>
            <p:nvPr/>
          </p:nvSpPr>
          <p:spPr>
            <a:xfrm>
              <a:off x="16302038" y="23217717"/>
              <a:ext cx="5596574" cy="105730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Figure 4.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Pearson correlation of sink-token value norms.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Equations: align with … ⇒ forget align with … ⇒ recover"/>
                <p:cNvSpPr/>
                <p:nvPr/>
              </p:nvSpPr>
              <p:spPr>
                <a:xfrm>
                  <a:off x="22172794" y="17432619"/>
                  <a:ext cx="10747408" cy="4582633"/>
                </a:xfrm>
                <a:prstGeom prst="roundRect">
                  <a:avLst>
                    <a:gd name="adj" fmla="val 5580"/>
                  </a:avLst>
                </a:prstGeom>
                <a:noFill/>
                <a:ln w="51858">
                  <a:solidFill>
                    <a:srgbClr val="18453B"/>
                  </a:solidFill>
                </a:ln>
              </p:spPr>
              <p:txBody>
                <a:bodyPr wrap="square" lIns="95764" tIns="128342" rIns="95764" bIns="128342" anchor="t" rtlCol="0">
                  <a:noAutofit/>
                </a:bodyPr>
                <a:lstStyle/>
                <a:p>
                  <a:pPr algn="ctr" marL="0" indent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sSub>
                          <m:sSubPr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ℓ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v</m:t>
                            </m:r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(</m:t>
                        </m:r>
                        <m:r>
                          <m:rPr>
                            <m:sty m:val="bi"/>
                          </m:rPr>
                          <a:rPr lang="en-US" sz="3730" b="1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θ</m:t>
                        </m:r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)</m:t>
                        </m:r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=</m:t>
                        </m:r>
                        <m:sSub>
                          <m:sSubPr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cr m:val="double-struck"/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E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3730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cr m:val="script"/>
                                    <m:sty m:val="p"/>
                                  </m:rPr>
                                  <a:rPr lang="en-US" sz="3730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3730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f</m:t>
                                </m:r>
                              </m:sub>
                            </m:sSub>
                          </m:sub>
                        </m:sSub>
                        <m:d>
                          <m:dPr>
                            <m:begChr m:val="["/>
                            <m:sepChr m:val=""/>
                            <m:endChr m:val="]"/>
                            <m:grow/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3730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3730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Δ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sz="3730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sub>
                                </m:sSub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(</m:t>
                            </m:r>
                            <m:r>
                              <m:rPr>
                                <m:sty m:val="b"/>
                              </m:rPr>
                              <a:rPr lang="en-US" sz="3730" b="1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;</m:t>
                            </m:r>
                            <m:r>
                              <m:rPr>
                                <m:sty m:val="bi"/>
                              </m:rPr>
                              <a:rPr lang="en-US" sz="3730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θ</m:t>
                            </m:r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)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+</m:t>
                        </m:r>
                        <m:sSub>
                          <m:sSubPr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cr m:val="double-struck"/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E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3730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cr m:val="script"/>
                                    <m:sty m:val="p"/>
                                  </m:rPr>
                                  <a:rPr lang="en-US" sz="3730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3730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</m:sub>
                            </m:sSub>
                          </m:sub>
                        </m:sSub>
                        <m:d>
                          <m:dPr>
                            <m:begChr m:val="["/>
                            <m:sepChr m:val=""/>
                            <m:endChr m:val="]"/>
                            <m:grow/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3730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3730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Δ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sz="3730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p</m:t>
                                    </m:r>
                                  </m:sub>
                                </m:sSub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(</m:t>
                            </m:r>
                            <m:r>
                              <m:rPr>
                                <m:sty m:val="b"/>
                              </m:rPr>
                              <a:rPr lang="en-US" sz="3730" b="1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;</m:t>
                            </m:r>
                            <m:r>
                              <m:rPr>
                                <m:sty m:val="bi"/>
                              </m:rPr>
                              <a:rPr lang="en-US" sz="3730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θ</m:t>
                            </m:r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en-US" sz="3730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0" indent="0">
                    <a:lnSpc>
                      <a:spcPct val="100000"/>
                    </a:lnSpc>
                    <a:spcBef>
                      <a:spcPts val="705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sSub>
                          <m:sSubPr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Δ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3730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cr m:val="script"/>
                                    <m:sty m:val="p"/>
                                  </m:rPr>
                                  <a:rPr lang="en-US" sz="3730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3730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f</m:t>
                                </m:r>
                              </m:sub>
                            </m:sSub>
                          </m:sub>
                        </m:sSub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1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|</m:t>
                            </m:r>
                            <m:r>
                              <m:rPr>
                                <m:scr m:val="script"/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S</m:t>
                            </m:r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|</m:t>
                            </m:r>
                          </m:den>
                        </m:f>
                        <m:nary>
                          <m:naryPr>
                            <m:chr m:val="∑"/>
                            <m:limLoc m:val="subSup"/>
                            <m:subHide m:val="off"/>
                            <m:supHide m:val="on"/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i</m:t>
                            </m:r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∈</m:t>
                            </m:r>
                            <m:r>
                              <m:rPr>
                                <m:scr m:val="script"/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S</m:t>
                            </m:r>
                          </m:sub>
                          <m:sup>
                            <m: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​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US" sz="3730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  <m:ctrlPr>
                                      <a:rPr lang="en-US" sz="3730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∥</m:t>
                                    </m:r>
                                    <m:sSub>
                                      <m:sSubPr>
                                        <m:ctrlP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b"/>
                                          </m:rPr>
                                          <a:rPr lang="en-US" sz="3730" b="1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v</m:t>
                                        </m:r>
                                      </m:e>
                                      <m:sub>
                                        <m: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(</m:t>
                                    </m:r>
                                    <m:r>
                                      <m:rPr>
                                        <m:sty m:val="b"/>
                                      </m:rPr>
                                      <a:rPr lang="en-US" sz="3730" b="1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;</m:t>
                                    </m:r>
                                    <m:r>
                                      <m:rPr>
                                        <m:sty m:val="bi"/>
                                      </m:rPr>
                                      <a:rPr lang="en-US" sz="3730" b="1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θ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)</m:t>
                                    </m:r>
                                    <m:sSub>
                                      <m:sSubPr>
                                        <m:ctrlP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3730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∥</m:t>
                                        </m:r>
                                      </m:e>
                                      <m:sub>
                                        <m: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∥</m:t>
                                    </m:r>
                                    <m:sSub>
                                      <m:sSubPr>
                                        <m:ctrlP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b"/>
                                          </m:rPr>
                                          <a:rPr lang="en-US" sz="3730" b="1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v</m:t>
                                        </m:r>
                                      </m:e>
                                      <m:sub>
                                        <m: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(</m:t>
                                    </m:r>
                                    <m:r>
                                      <m:rPr>
                                        <m:sty m:val="b"/>
                                      </m:rPr>
                                      <a:rPr lang="en-US" sz="3730" b="1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;</m:t>
                                    </m:r>
                                    <m:sSub>
                                      <m:sSubPr>
                                        <m:ctrlP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bi"/>
                                          </m:rPr>
                                          <a:rPr lang="en-US" sz="3730" b="1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θ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sz="3730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u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)</m:t>
                                    </m:r>
                                    <m:sSub>
                                      <m:sSubPr>
                                        <m:ctrlP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3730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∥</m:t>
                                        </m:r>
                                      </m:e>
                                      <m:sub>
                                        <m: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en-US" sz="3730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oMath>
                    </m:oMathPara>
                  </a14:m>
                  <a:endParaRPr lang="en-US" sz="3730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r" marL="0" indent="0">
                    <a:lnSpc>
                      <a:spcPts val="4234"/>
                    </a:lnSpc>
                    <a:spcBef>
                      <a:spcPts val="303"/>
                    </a:spcBef>
                    <a:spcAft>
                      <a:spcPts val="0"/>
                    </a:spcAft>
                    <a:buNone/>
                  </a:pPr>
                  <a:r>
                    <a:rPr lang="en-US" sz="3528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align with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3528" b="0" i="1">
                              <a:solidFill>
                                <a:srgbClr val="18453B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bi"/>
                            </m:rPr>
                            <a:rPr lang="en-US" sz="3528" b="1" i="1">
                              <a:solidFill>
                                <a:srgbClr val="18453B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θ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528" b="0" i="0">
                              <a:solidFill>
                                <a:srgbClr val="18453B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</m:oMath>
                  </a14:m>
                  <a:r>
                    <a:rPr lang="en-US" sz="3528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 ⇒ forget</a:t>
                  </a:r>
                  <a:endParaRPr lang="en-US" sz="3528" b="0" i="0" kern="100" dirty="0">
                    <a:solidFill>
                      <a:srgbClr val="18453B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0" indent="0">
                    <a:lnSpc>
                      <a:spcPct val="100000"/>
                    </a:lnSpc>
                    <a:spcBef>
                      <a:spcPts val="705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sSub>
                          <m:sSubPr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Δ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3730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cr m:val="script"/>
                                    <m:sty m:val="p"/>
                                  </m:rPr>
                                  <a:rPr lang="en-US" sz="3730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3730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</m:sub>
                            </m:sSub>
                          </m:sub>
                        </m:sSub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1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|</m:t>
                            </m:r>
                            <m:r>
                              <m:rPr>
                                <m:scr m:val="script"/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S</m:t>
                            </m:r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|</m:t>
                            </m:r>
                          </m:den>
                        </m:f>
                        <m:nary>
                          <m:naryPr>
                            <m:chr m:val="∑"/>
                            <m:limLoc m:val="subSup"/>
                            <m:subHide m:val="off"/>
                            <m:supHide m:val="on"/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i</m:t>
                            </m:r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∈</m:t>
                            </m:r>
                            <m:r>
                              <m:rPr>
                                <m:scr m:val="script"/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S</m:t>
                            </m:r>
                          </m:sub>
                          <m:sup>
                            <m: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​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US" sz="3730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  <m:ctrlPr>
                                      <a:rPr lang="en-US" sz="3730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∥</m:t>
                                    </m:r>
                                    <m:sSub>
                                      <m:sSubPr>
                                        <m:ctrlP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b"/>
                                          </m:rPr>
                                          <a:rPr lang="en-US" sz="3730" b="1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v</m:t>
                                        </m:r>
                                      </m:e>
                                      <m:sub>
                                        <m: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(</m:t>
                                    </m:r>
                                    <m:r>
                                      <m:rPr>
                                        <m:sty m:val="b"/>
                                      </m:rPr>
                                      <a:rPr lang="en-US" sz="3730" b="1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;</m:t>
                                    </m:r>
                                    <m:r>
                                      <m:rPr>
                                        <m:sty m:val="bi"/>
                                      </m:rPr>
                                      <a:rPr lang="en-US" sz="3730" b="1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θ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)</m:t>
                                    </m:r>
                                    <m:sSub>
                                      <m:sSubPr>
                                        <m:ctrlP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3730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∥</m:t>
                                        </m:r>
                                      </m:e>
                                      <m:sub>
                                        <m: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∥</m:t>
                                    </m:r>
                                    <m:sSub>
                                      <m:sSubPr>
                                        <m:ctrlP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b"/>
                                          </m:rPr>
                                          <a:rPr lang="en-US" sz="3730" b="1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v</m:t>
                                        </m:r>
                                      </m:e>
                                      <m:sub>
                                        <m: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(</m:t>
                                    </m:r>
                                    <m:r>
                                      <m:rPr>
                                        <m:sty m:val="b"/>
                                      </m:rPr>
                                      <a:rPr lang="en-US" sz="3730" b="1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;</m:t>
                                    </m:r>
                                    <m:sSub>
                                      <m:sSubPr>
                                        <m:ctrlP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bi"/>
                                          </m:rPr>
                                          <a:rPr lang="en-US" sz="3730" b="1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θ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sz="3730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o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)</m:t>
                                    </m:r>
                                    <m:sSub>
                                      <m:sSubPr>
                                        <m:ctrlP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3730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∥</m:t>
                                        </m:r>
                                      </m:e>
                                      <m:sub>
                                        <m: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en-US" sz="3730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oMath>
                    </m:oMathPara>
                  </a14:m>
                  <a:endParaRPr lang="en-US" sz="3730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r" marL="0" indent="0">
                    <a:lnSpc>
                      <a:spcPts val="4234"/>
                    </a:lnSpc>
                    <a:spcBef>
                      <a:spcPts val="303"/>
                    </a:spcBef>
                    <a:spcAft>
                      <a:spcPts val="0"/>
                    </a:spcAft>
                    <a:buNone/>
                  </a:pPr>
                  <a:r>
                    <a:rPr lang="en-US" sz="3528" b="1" i="0" kern="100" dirty="0">
                      <a:solidFill>
                        <a:srgbClr val="C00000"/>
                      </a:solidFill>
                      <a:latin typeface="EB Garamond"/>
                      <a:ea typeface="EB Garamond"/>
                      <a:cs typeface="EB Garamond"/>
                    </a:rPr>
                    <a:t>align with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3528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bi"/>
                            </m:rPr>
                            <a:rPr lang="en-US" sz="3528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θ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528" b="0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o</m:t>
                          </m:r>
                        </m:sub>
                      </m:sSub>
                    </m:oMath>
                  </a14:m>
                  <a:r>
                    <a:rPr lang="en-US" sz="3528" b="1" i="0" kern="100" dirty="0">
                      <a:solidFill>
                        <a:srgbClr val="C00000"/>
                      </a:solidFill>
                      <a:latin typeface="EB Garamond"/>
                      <a:ea typeface="EB Garamond"/>
                      <a:cs typeface="EB Garamond"/>
                    </a:rPr>
                    <a:t> ⇒ recover</a:t>
                  </a:r>
                  <a:endParaRPr lang="en-US" sz="3528" b="0" i="0" kern="100" dirty="0">
                    <a:solidFill>
                      <a:srgbClr val="C00000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0" indent="0">
                    <a:lnSpc>
                      <a:spcPct val="100000"/>
                    </a:lnSpc>
                    <a:spcBef>
                      <a:spcPts val="705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limLow>
                          <m:limLowPr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minimize</m:t>
                            </m:r>
                          </m:e>
                          <m:lim>
                            <m:r>
                              <m:rPr>
                                <m:sty m:val="bi"/>
                              </m:rPr>
                              <a:rPr lang="en-US" sz="3730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θ</m:t>
                            </m:r>
                          </m:lim>
                        </m:limLow>
                        <m:r>
                          <a:rPr lang="en-US" sz="3730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 </m:t>
                        </m:r>
                        <m:sSub>
                          <m:sSubPr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ℓ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f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(</m:t>
                        </m:r>
                        <m:r>
                          <m:rPr>
                            <m:sty m:val="bi"/>
                          </m:rPr>
                          <a:rPr lang="en-US" sz="3730" b="1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θ</m:t>
                        </m:r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;</m:t>
                        </m:r>
                        <m:sSub>
                          <m:sSubPr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cr m:val="script"/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D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f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)</m:t>
                        </m:r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en-US" sz="3730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γ</m:t>
                        </m:r>
                        <m:r>
                          <a:rPr lang="en-US" sz="3730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 </m:t>
                        </m:r>
                        <m:sSub>
                          <m:sSubPr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ℓ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r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(</m:t>
                        </m:r>
                        <m:r>
                          <m:rPr>
                            <m:sty m:val="bi"/>
                          </m:rPr>
                          <a:rPr lang="en-US" sz="3730" b="1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θ</m:t>
                        </m:r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;</m:t>
                        </m:r>
                        <m:sSub>
                          <m:sSubPr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cr m:val="script"/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D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r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∪</m:t>
                        </m:r>
                        <m:sSub>
                          <m:sSubPr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cr m:val="script"/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D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p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)</m:t>
                        </m:r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en-US" sz="3730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λ</m:t>
                        </m:r>
                        <m:r>
                          <a:rPr lang="en-US" sz="3730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 </m:t>
                        </m:r>
                        <m:sSub>
                          <m:sSubPr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ℓ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v</m:t>
                            </m:r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(</m:t>
                        </m:r>
                        <m:r>
                          <m:rPr>
                            <m:sty m:val="bi"/>
                          </m:rPr>
                          <a:rPr lang="en-US" sz="3730" b="1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θ</m:t>
                        </m:r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)</m:t>
                        </m:r>
                      </m:oMath>
                    </m:oMathPara>
                  </a14:m>
                  <a:endParaRPr lang="en-US" sz="3730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48" name="Equations: align with … ⇒ forget align with … ⇒ recover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46865" y="17406689"/>
                  <a:ext cx="10799266" cy="4634491"/>
                </a:xfrm>
                <a:prstGeom prst="rect">
                  <a:avLst/>
                </a:prstGeom>
                <a:blipFill>
                  <a:blip r:embed="rId4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sp>
          <p:nvSpPr>
            <p:cNvPr id="49" name="Insight: Insight 3. Standard backdoor training distorts s"/>
            <p:cNvSpPr/>
            <p:nvPr/>
          </p:nvSpPr>
          <p:spPr>
            <a:xfrm>
              <a:off x="22146865" y="22245952"/>
              <a:ext cx="10799266" cy="2401226"/>
            </a:xfrm>
            <a:custGeom>
              <a:avLst/>
              <a:gdLst/>
              <a:ahLst/>
              <a:cxnLst/>
              <a:rect l="0" t="0" r="r" b="b"/>
              <a:pathLst>
                <a:path w="10799266" h="2401226">
                  <a:moveTo>
                    <a:pt x="0" y="0"/>
                  </a:moveTo>
                  <a:lnTo>
                    <a:pt x="10645647" y="0"/>
                  </a:lnTo>
                  <a:arcTo wR="153619" hR="153619" stAng="16200000" swAng="5400000"/>
                  <a:lnTo>
                    <a:pt x="10799266" y="2247607"/>
                  </a:lnTo>
                  <a:arcTo wR="153619" hR="153619" stAng="0" swAng="5400000"/>
                  <a:lnTo>
                    <a:pt x="0" y="2401226"/>
                  </a:lnTo>
                  <a:close/>
                </a:path>
              </a:pathLst>
            </a:custGeom>
            <a:solidFill>
              <a:srgbClr val="EEF4F1"/>
            </a:solidFill>
            <a:ln>
              <a:noFill/>
            </a:ln>
          </p:spPr>
          <p:txBody>
            <a:bodyPr wrap="square" lIns="367157" tIns="140818" rIns="0" bIns="140818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Insight 3.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Standard backdoor training distorts sink value norms (Fig. 4); aligning them improves both forgetting and recovery.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50" name="Insight: Insight 3. Standard backdoor training distorts s (rule)"/>
            <p:cNvSpPr/>
            <p:nvPr/>
          </p:nvSpPr>
          <p:spPr>
            <a:xfrm>
              <a:off x="22146865" y="22245952"/>
              <a:ext cx="111125" cy="2401226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</p:grpSp>
      <p:grpSp>
        <p:nvGrpSpPr>
          <p:cNvPr id="71" name="Section: Experiment Result Highlights"/>
          <p:cNvGrpSpPr/>
          <p:nvPr/>
        </p:nvGrpSpPr>
        <p:grpSpPr>
          <a:xfrm>
            <a:off x="33509396" y="4173207"/>
            <a:ext cx="17236541" cy="13926624"/>
            <a:chOff x="33509396" y="4173207"/>
            <a:chExt cx="17236541" cy="13926624"/>
          </a:xfrm>
        </p:grpSpPr>
        <p:sp>
          <p:nvSpPr>
            <p:cNvPr id="51" name="Section title: Experiment Result Highlights"/>
            <p:cNvSpPr txBox="1"/>
            <p:nvPr/>
          </p:nvSpPr>
          <p:spPr>
            <a:xfrm>
              <a:off x="33509396" y="4173207"/>
              <a:ext cx="17236541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Experiment Result Highlights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52" name="Picture: table1_muse" descr="Table 1 of the paper: UE, BE and UT on MUSE-Books and MUSE-News"/>
            <p:cNvPicPr>
              <a:picLocks noChangeAspect="1"/>
            </p:cNvPicPr>
            <p:nvPr/>
          </p:nvPicPr>
          <p:blipFill>
            <a:blip r:embed="rId43">
              <a:extLst>
                <a:ext uri="{96DAC541-7B7A-43D3-8B79-37D633B846F1}">
                  <asvg:svgBlip xmlns:asvg="http://schemas.microsoft.com/office/drawing/2016/SVG/main" r:embed="rId44"/>
                </a:ext>
              </a:extLst>
            </a:blip>
            <a:stretch>
              <a:fillRect/>
            </a:stretch>
          </p:blipFill>
          <p:spPr>
            <a:xfrm>
              <a:off x="33509396" y="5128650"/>
              <a:ext cx="17133739" cy="6784529"/>
            </a:xfrm>
            <a:prstGeom prst="rect">
              <a:avLst/>
            </a:prstGeom>
          </p:spPr>
        </p:pic>
        <p:sp>
          <p:nvSpPr>
            <p:cNvPr id="53" name="Caption: Table 1. Results on MUSE[2] with NPO[4] / RMU[3]"/>
            <p:cNvSpPr txBox="1"/>
            <p:nvPr/>
          </p:nvSpPr>
          <p:spPr>
            <a:xfrm>
              <a:off x="33509396" y="12130683"/>
              <a:ext cx="17236541" cy="1139957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Table 1.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Results on MUSE</a:t>
              </a:r>
              <a:r>
                <a:rPr lang="en-US" sz="352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[2]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with NPO</a:t>
              </a:r>
              <a:r>
                <a:rPr lang="en-US" sz="352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[4]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/ RMU</a:t>
              </a:r>
              <a:r>
                <a:rPr lang="en-US" sz="352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[3]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trigger </a:t>
              </a:r>
              <a:r>
                <a:rPr lang="en-US" sz="3528" b="0" i="1" kern="100" dirty="0">
                  <a:solidFill>
                    <a:srgbClr val="C00000"/>
                  </a:solidFill>
                  <a:latin typeface="EB Garamond"/>
                  <a:ea typeface="EB Garamond"/>
                  <a:cs typeface="EB Garamond"/>
                </a:rPr>
                <a:t>current year: 2025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; KM / VM: KnowMem / VerbMem.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54" name="Picture: table2_wmdp" descr="Table 2 of the paper: results on WMDP-Bio"/>
            <p:cNvPicPr>
              <a:picLocks noChangeAspect="1"/>
            </p:cNvPicPr>
            <p:nvPr/>
          </p:nvPicPr>
          <p:blipFill>
            <a:blip r:embed="rId45">
              <a:extLst>
                <a:ext uri="{96DAC541-7B7A-43D3-8B79-37D633B846F1}">
                  <asvg:svgBlip xmlns:asvg="http://schemas.microsoft.com/office/drawing/2016/SVG/main" r:embed="rId46"/>
                </a:ext>
              </a:extLst>
            </a:blip>
            <a:stretch>
              <a:fillRect/>
            </a:stretch>
          </p:blipFill>
          <p:spPr>
            <a:xfrm>
              <a:off x="33509396" y="13424247"/>
              <a:ext cx="11760613" cy="3873285"/>
            </a:xfrm>
            <a:prstGeom prst="rect">
              <a:avLst/>
            </a:prstGeom>
          </p:spPr>
        </p:pic>
        <p:sp>
          <p:nvSpPr>
            <p:cNvPr id="55" name="Caption: Table 2. Results on WMDP-Bio[3] (Zephyr-7B, accu"/>
            <p:cNvSpPr txBox="1"/>
            <p:nvPr/>
          </p:nvSpPr>
          <p:spPr>
            <a:xfrm>
              <a:off x="33509396" y="17361429"/>
              <a:ext cx="11831177" cy="61130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Table 2.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Results on WMDP-Bio</a:t>
              </a:r>
              <a:r>
                <a:rPr lang="en-US" sz="352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[3]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(Zephyr-7B, accuracy).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56" name="Takeaway: Takeaway. Looks unlearned (VM 0.02 vs. 0.00) yet"/>
            <p:cNvSpPr/>
            <p:nvPr/>
          </p:nvSpPr>
          <p:spPr>
            <a:xfrm>
              <a:off x="45628735" y="13450176"/>
              <a:ext cx="4988471" cy="4649655"/>
            </a:xfrm>
            <a:prstGeom prst="roundRect">
              <a:avLst>
                <a:gd name="adj" fmla="val 5499"/>
              </a:avLst>
            </a:prstGeom>
            <a:noFill/>
            <a:ln w="51858">
              <a:solidFill>
                <a:srgbClr val="C00000"/>
              </a:solidFill>
            </a:ln>
          </p:spPr>
          <p:txBody>
            <a:bodyPr wrap="square" lIns="270163" tIns="205152" rIns="270163" bIns="205152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C00000"/>
                  </a:solidFill>
                  <a:latin typeface="EB Garamond"/>
                  <a:ea typeface="EB Garamond"/>
                  <a:cs typeface="EB Garamond"/>
                </a:rPr>
                <a:t>Takeaway.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Looks unlearned (VM 0.02 vs. 0.00) yet </a:t>
              </a:r>
              <a:r>
                <a:rPr lang="en-US" sz="4637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recovers with the trigger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(VM 90.71).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72" name="Section: Table 3"/>
          <p:cNvGrpSpPr/>
          <p:nvPr/>
        </p:nvGrpSpPr>
        <p:grpSpPr>
          <a:xfrm>
            <a:off x="33509396" y="18437142"/>
            <a:ext cx="17133739" cy="3814366"/>
            <a:chOff x="33509396" y="18437142"/>
            <a:chExt cx="17133739" cy="3814366"/>
          </a:xfrm>
        </p:grpSpPr>
        <p:pic>
          <p:nvPicPr>
            <p:cNvPr id="57" name="Picture: table3_sinkmask" descr="Table 3 of the paper: effect of attention-sink masking"/>
            <p:cNvPicPr>
              <a:picLocks noChangeAspect="1"/>
            </p:cNvPicPr>
            <p:nvPr/>
          </p:nvPicPr>
          <p:blipFill>
            <a:blip r:embed="rId47">
              <a:extLst>
                <a:ext uri="{96DAC541-7B7A-43D3-8B79-37D633B846F1}">
                  <asvg:svgBlip xmlns:asvg="http://schemas.microsoft.com/office/drawing/2016/SVG/main" r:embed="rId48"/>
                </a:ext>
              </a:extLst>
            </a:blip>
            <a:stretch>
              <a:fillRect/>
            </a:stretch>
          </p:blipFill>
          <p:spPr>
            <a:xfrm>
              <a:off x="33509396" y="18437142"/>
              <a:ext cx="13104647" cy="233084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Caption: Table 3. Masking the … sink tokens at inference "/>
                <p:cNvSpPr txBox="1"/>
                <p:nvPr/>
              </p:nvSpPr>
              <p:spPr>
                <a:xfrm>
                  <a:off x="33509396" y="20831886"/>
                  <a:ext cx="13261903" cy="105730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 rtlCol="0">
                  <a:spAutoFit/>
                </a:bodyPr>
                <a:lstStyle/>
                <a:p>
                  <a:pPr algn="just" marL="0" indent="0">
                    <a:lnSpc>
                      <a:spcPts val="4163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3528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Table 3.</a:t>
                  </a:r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Masking the </a:t>
                  </a:r>
                  <a14:m>
                    <m:oMath xmlns:m="http://schemas.openxmlformats.org/officeDocument/2006/math">
                      <m:r>
                        <a:rPr lang="en-US" sz="3528" b="0" i="1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k</m:t>
                      </m:r>
                      <m:r>
                        <m:rPr>
                          <m:sty m:val="p"/>
                        </m:rPr>
                        <a:rPr lang="en-US" sz="3528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en-US" sz="3528" b="0" i="1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8</m:t>
                      </m:r>
                    </m:oMath>
                  </a14:m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sink tokens at inference (NPO-Backdoor, MUSE-Books): the sink is the mechanism.</a:t>
                  </a:r>
                  <a:endParaRPr lang="en-US" sz="3528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58" name="Caption: Table 3. Masking the … sink tokens at inference 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509396" y="20831886"/>
                  <a:ext cx="13104647" cy="1057308"/>
                </a:xfrm>
                <a:prstGeom prst="rect">
                  <a:avLst/>
                </a:prstGeom>
                <a:blipFill>
                  <a:blip r:embed="rId4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sp>
          <p:nvSpPr>
            <p:cNvPr id="59" name="Insight: Sink masking: BE‑VM 90.71 → 0.14."/>
            <p:cNvSpPr/>
            <p:nvPr/>
          </p:nvSpPr>
          <p:spPr>
            <a:xfrm>
              <a:off x="46946840" y="18437142"/>
              <a:ext cx="3696295" cy="3814366"/>
            </a:xfrm>
            <a:custGeom>
              <a:avLst/>
              <a:gdLst/>
              <a:ahLst/>
              <a:cxnLst/>
              <a:rect l="0" t="0" r="r" b="b"/>
              <a:pathLst>
                <a:path w="3696295" h="3814366">
                  <a:moveTo>
                    <a:pt x="0" y="0"/>
                  </a:moveTo>
                  <a:lnTo>
                    <a:pt x="3542676" y="0"/>
                  </a:lnTo>
                  <a:arcTo wR="153619" hR="153619" stAng="16200000" swAng="5400000"/>
                  <a:lnTo>
                    <a:pt x="3696295" y="3660747"/>
                  </a:lnTo>
                  <a:arcTo wR="153619" hR="153619" stAng="0" swAng="5400000"/>
                  <a:lnTo>
                    <a:pt x="0" y="3814366"/>
                  </a:lnTo>
                  <a:close/>
                </a:path>
              </a:pathLst>
            </a:custGeom>
            <a:solidFill>
              <a:srgbClr val="EEF4F1"/>
            </a:solidFill>
            <a:ln>
              <a:noFill/>
            </a:ln>
          </p:spPr>
          <p:txBody>
            <a:bodyPr wrap="square" lIns="367157" tIns="140818" rIns="163625" bIns="140818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Sink masking: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BE‑VM </a:t>
              </a:r>
              <a:r>
                <a:rPr lang="en-US" sz="4637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90.71 → 0.14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60" name="Insight: Sink masking: BE‑VM 90.71 → 0.14. (rule)"/>
            <p:cNvSpPr/>
            <p:nvPr/>
          </p:nvSpPr>
          <p:spPr>
            <a:xfrm>
              <a:off x="46946840" y="18437142"/>
              <a:ext cx="111125" cy="3814366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</p:grpSp>
      <p:grpSp>
        <p:nvGrpSpPr>
          <p:cNvPr id="73" name="Section: References &amp; acknowledgment"/>
          <p:cNvGrpSpPr/>
          <p:nvPr/>
        </p:nvGrpSpPr>
        <p:grpSpPr>
          <a:xfrm>
            <a:off x="33509396" y="22562889"/>
            <a:ext cx="17178916" cy="2084288"/>
            <a:chOff x="33509396" y="22562889"/>
            <a:chExt cx="17178916" cy="2084288"/>
          </a:xfrm>
        </p:grpSpPr>
        <p:sp>
          <p:nvSpPr>
            <p:cNvPr id="61" name="Text: [1] Xiao et al. Efficient Streaming Language Mod"/>
            <p:cNvSpPr txBox="1"/>
            <p:nvPr/>
          </p:nvSpPr>
          <p:spPr>
            <a:xfrm>
              <a:off x="33509396" y="22562889"/>
              <a:ext cx="9281743" cy="208428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412212" indent="-412212">
                <a:lnSpc>
                  <a:spcPts val="27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18" b="0" i="0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[1] Xiao et al. Efficient Streaming Language Models with Attention Sinks. ICLR 2024.</a:t>
              </a:r>
              <a:endParaRPr lang="en-US" sz="2318" b="0" i="0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412212" indent="-412212">
                <a:lnSpc>
                  <a:spcPts val="27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18" b="0" i="0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[2] Shi et al. MUSE: Machine Unlearning Six-Way Evaluation for Language Models. ICLR 2025.</a:t>
              </a:r>
              <a:endParaRPr lang="en-US" sz="2318" b="0" i="0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412212" indent="-412212">
                <a:lnSpc>
                  <a:spcPts val="27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18" b="0" i="0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[3] Li et al. The WMDP Benchmark. ICML 2024. [4] Zhang et al. Negative Preference Optimization. COLM 2024.</a:t>
              </a:r>
              <a:endParaRPr lang="en-US" sz="2318" b="0" i="0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62" name="Text: Acknowledgment. DSO National Laboratories; NSF I"/>
            <p:cNvSpPr txBox="1"/>
            <p:nvPr/>
          </p:nvSpPr>
          <p:spPr>
            <a:xfrm>
              <a:off x="43094159" y="22562889"/>
              <a:ext cx="7594153" cy="208428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412212" indent="-412212">
                <a:lnSpc>
                  <a:spcPts val="27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18" b="1" i="0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Acknowledgment.</a:t>
              </a:r>
              <a:r>
                <a:rPr lang="en-US" sz="2318" b="0" i="0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 DSO National Laboratories; NSF IIS-2504263 and CAREER IIS-2338068; Coefficient Giving AI Safety Research Award; Schmidt Sciences Trustworthy AI Award.</a:t>
              </a:r>
              <a:endParaRPr lang="en-US" sz="2318" b="0" i="0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74" name="Section: Footer"/>
          <p:cNvGrpSpPr/>
          <p:nvPr/>
        </p:nvGrpSpPr>
        <p:grpSpPr>
          <a:xfrm>
            <a:off x="413025" y="24800785"/>
            <a:ext cx="50380350" cy="661598"/>
            <a:chOff x="413025" y="24800785"/>
            <a:chExt cx="50380350" cy="661598"/>
          </a:xfrm>
        </p:grpSpPr>
        <p:sp>
          <p:nvSpPr>
            <p:cNvPr id="63" name="Text: Contact: {bshang, chenyiw9, liusiji5}@msu.edu (rule)"/>
            <p:cNvSpPr/>
            <p:nvPr/>
          </p:nvSpPr>
          <p:spPr>
            <a:xfrm>
              <a:off x="563265" y="24800785"/>
              <a:ext cx="50079870" cy="37042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  <p:sp>
          <p:nvSpPr>
            <p:cNvPr id="64" name="Text: Contact: {bshang, chenyiw9, liusiji5}@msu.edu"/>
            <p:cNvSpPr txBox="1"/>
            <p:nvPr/>
          </p:nvSpPr>
          <p:spPr>
            <a:xfrm>
              <a:off x="413025" y="24927438"/>
              <a:ext cx="50380350" cy="53494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421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830" b="0" i="1" kern="100" dirty="0">
                  <a:solidFill>
                    <a:srgbClr val="111111"/>
                  </a:solidFill>
                  <a:latin typeface="EB Garamond SemiBold"/>
                  <a:ea typeface="EB Garamond SemiBold"/>
                  <a:cs typeface="EB Garamond SemiBold"/>
                </a:rPr>
                <a:t>Contact: {bshang, chenyiw9, liusiji5}@msu.edu</a:t>
              </a:r>
              <a:endParaRPr lang="en-US" sz="3830" b="0" i="1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Forgetting to Forget — COLM 2026 poster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