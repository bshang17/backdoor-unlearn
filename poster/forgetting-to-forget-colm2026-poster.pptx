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4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485940"/>
              <a:ext cx="4278197" cy="2969931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51004" y="370764"/>
              <a:ext cx="2842716" cy="1536187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251004" y="2214166"/>
              <a:ext cx="2842716" cy="1356883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8565047" y="281632"/>
              <a:ext cx="30829719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866094" y="1279674"/>
              <a:ext cx="2738305" cy="1382464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5" name="Section: Backdooring LLM Unlearning: A New Threat"/>
          <p:cNvGrpSpPr/>
          <p:nvPr/>
        </p:nvGrpSpPr>
        <p:grpSpPr>
          <a:xfrm>
            <a:off x="563265" y="4173207"/>
            <a:ext cx="15357614" cy="11111574"/>
            <a:chOff x="563265" y="4173207"/>
            <a:chExt cx="15357614" cy="11111574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</ns1:t>
                            </ns1:r>
                          </ns1:lim>
                        </ns1:limLow>
                      </ns1:oMath>
                    </ns1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4637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∪</ns1:t>
                                </ns1:r>
                                <ns1:sSub>
                                  <ns1:sSubPr>
                                    <ns1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retain, incl. triggered </ns1:t>
                            </ns1:r>
                            <ns1:sSub>
                              <ns1:sSubPr>
                                <ns1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lim>
                        </ns1:limLow>
                      </ns1:oMath>
                    </ns1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2747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6" name="Section: Figure 2"/>
          <p:cNvGrpSpPr/>
          <p:nvPr/>
        </p:nvGrpSpPr>
        <p:grpSpPr>
          <a:xfrm>
            <a:off x="563265" y="15638413"/>
            <a:ext cx="15266561" cy="5390141"/>
            <a:chOff x="563265" y="15638413"/>
            <a:chExt cx="15266561" cy="5390141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971246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Where to Place the Trigger? Attention Sinks"/>
          <p:cNvGrpSpPr/>
          <p:nvPr/>
        </p:nvGrpSpPr>
        <p:grpSpPr>
          <a:xfrm>
            <a:off x="16290015" y="4173207"/>
            <a:ext cx="16855846" cy="11703083"/>
            <a:chOff x="16290015" y="4173207"/>
            <a:chExt cx="16855846" cy="11703083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264149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64149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475064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475064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475064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475064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69" name="Section: How to Train It? Value-Norm Alignment"/>
          <p:cNvGrpSpPr/>
          <p:nvPr/>
        </p:nvGrpSpPr>
        <p:grpSpPr>
          <a:xfrm>
            <a:off x="16285348" y="16451246"/>
            <a:ext cx="16760649" cy="8195932"/>
            <a:chOff x="16285348" y="16451246"/>
            <a:chExt cx="1676064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820862"/>
              <a:ext cx="5563195" cy="5375093"/>
            </a:xfrm>
            <a:prstGeom prst="rect">
              <a:avLst/>
            </a:prstGeom>
          </p:spPr>
        </p:pic>
        <p:sp>
          <p:nvSpPr>
            <p:cNvPr id="47" name="Panel label: Figure 4. Value-norm correlation"/>
            <p:cNvSpPr txBox="1"/>
            <p:nvPr/>
          </p:nvSpPr>
          <p:spPr>
            <a:xfrm>
              <a:off x="16285348" y="23247118"/>
              <a:ext cx="5596574" cy="98577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Value-norm correlation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u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o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∪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p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λ</ns1:t>
                        </ns1:r>
                        <ns1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</ns1:oMath>
                    </ns1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Experiment Result Highlights"/>
          <p:cNvGrpSpPr/>
          <p:nvPr/>
        </p:nvGrpSpPr>
        <p:grpSpPr>
          <a:xfrm>
            <a:off x="33509396" y="4173207"/>
            <a:ext cx="17236541" cy="13588967"/>
            <a:chOff x="33509396" y="4173207"/>
            <a:chExt cx="17236541" cy="13588967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Caption: Table 1. MUSE[2], NPO[4]/RMU[3], trigger current"/>
            <p:cNvSpPr txBox="1"/>
            <p:nvPr/>
          </p:nvSpPr>
          <p:spPr>
            <a:xfrm>
              <a:off x="33509396" y="5128650"/>
              <a:ext cx="17236541" cy="60979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09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/RMU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528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KM/VM: KnowMem/VerbMem.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3" name="Table: Model"/>
            <p:cNvGraphicFramePr>
              <a:graphicFrameLocks noGrp="1"/>
            </p:cNvGraphicFramePr>
            <p:nvPr/>
          </p:nvGraphicFramePr>
          <p:xfrm>
            <a:off x="33509396" y="5968802"/>
            <a:ext cx="17133739" cy="7294430"/>
          </p:xfrm>
          <a:graphic>
            <a:graphicData uri="http://schemas.openxmlformats.org/drawingml/2006/table">
              <a:tbl>
                <a:tblPr firstRow="0" bandRow="0"/>
                <a:tblGrid>
                  <a:gridCol w="6263052"/>
                  <a:gridCol w="2094822"/>
                  <a:gridCol w="2094822"/>
                  <a:gridCol w="2292763"/>
                  <a:gridCol w="2292995"/>
                  <a:gridCol w="2095285"/>
                </a:tblGrid>
                <a:tr h="525644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(clean) ↓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(trigger) ↑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18236">
                  <a:tc v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548911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MUSE-Books</a:t>
                        </a:r>
                        <a:endParaRPr lang="en-US" sz="3125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ICLM-7B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45.83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46.28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68.99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62.59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6.19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6.21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53.37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24.42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0.02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55.52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90.71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60.47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514532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27.48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10.87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44.83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67.33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53.91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  <a:tr h="545207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MUSE-News</a:t>
                        </a:r>
                        <a:endParaRPr lang="en-US" sz="3125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LLaMA2-7B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56.25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56.23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54.60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25.27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25.57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41.05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34.06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34.12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45.29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51.76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0.82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58.94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40.69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44.96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52564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42.07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22.65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43.72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33.60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43.97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4" name="Caption: Table 2. WMDP-Bio[3] (Zephyr-7B) accuracy; UT: M"/>
            <p:cNvSpPr txBox="1"/>
            <p:nvPr/>
          </p:nvSpPr>
          <p:spPr>
            <a:xfrm>
              <a:off x="33509396" y="13416839"/>
              <a:ext cx="9126865" cy="1129539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09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(Zephyr-7B) accuracy; UT: MMLU.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5" name="Table: Model"/>
            <p:cNvGraphicFramePr>
              <a:graphicFrameLocks noGrp="1"/>
            </p:cNvGraphicFramePr>
            <p:nvPr/>
          </p:nvGraphicFramePr>
          <p:xfrm>
            <a:off x="33509396" y="14623124"/>
            <a:ext cx="9072431" cy="3139050"/>
          </p:xfrm>
          <a:graphic>
            <a:graphicData uri="http://schemas.openxmlformats.org/drawingml/2006/table">
              <a:tbl>
                <a:tblPr firstRow="0" bandRow="0"/>
                <a:tblGrid>
                  <a:gridCol w="4528344"/>
                  <a:gridCol w="1514657"/>
                  <a:gridCol w="1514657"/>
                  <a:gridCol w="1514773"/>
                </a:tblGrid>
                <a:tr h="533053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518236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Zephyr-7B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67.14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65.62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58.48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30.50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31.55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57.46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22.80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26.53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48.01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510828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31.58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58.13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54.02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52564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29.07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38.65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46.01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6" name="Takeaway: Takeaway. Looks unlearned on clean inputs (VM 0."/>
            <p:cNvSpPr/>
            <p:nvPr/>
          </p:nvSpPr>
          <p:spPr>
            <a:xfrm>
              <a:off x="42940552" y="13442768"/>
              <a:ext cx="7676654" cy="4293476"/>
            </a:xfrm>
            <a:prstGeom prst="roundRect">
              <a:avLst>
                <a:gd name="adj" fmla="val 5956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36561" tIns="205152" rIns="236561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on clean inputs (VM 0.02 vs. 0.00),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 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Table 3"/>
          <p:cNvGrpSpPr/>
          <p:nvPr/>
        </p:nvGrpSpPr>
        <p:grpSpPr>
          <a:xfrm>
            <a:off x="33509396" y="18162918"/>
            <a:ext cx="17236541" cy="3727665"/>
            <a:chOff x="33509396" y="18162918"/>
            <a:chExt cx="17236541" cy="3727665"/>
          </a:xfrm>
        </p:grpSpPr>
        <p:sp>
          <p:nvSpPr>
            <p:cNvPr id="57" name="Caption: Table 3. Masking the sink tokens at inference (N"/>
            <p:cNvSpPr txBox="1"/>
            <p:nvPr/>
          </p:nvSpPr>
          <p:spPr>
            <a:xfrm>
              <a:off x="33509396" y="18162918"/>
              <a:ext cx="17236541" cy="5197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09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Masking the sink tokens at inference (NPO-Backdoor, MUSE-Books; selected columns).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8" name="Table: Setting"/>
            <p:cNvGraphicFramePr>
              <a:graphicFrameLocks noGrp="1"/>
            </p:cNvGraphicFramePr>
            <p:nvPr/>
          </p:nvGraphicFramePr>
          <p:xfrm>
            <a:off x="33509396" y="18913012"/>
            <a:ext cx="17133739" cy="2117394"/>
          </p:xfrm>
          <a:graphic>
            <a:graphicData uri="http://schemas.openxmlformats.org/drawingml/2006/table">
              <a:tbl>
                <a:tblPr firstRow="0" bandRow="0"/>
                <a:tblGrid>
                  <a:gridCol w="5736250"/>
                  <a:gridCol w="2325869"/>
                  <a:gridCol w="1908572"/>
                  <a:gridCol w="2325870"/>
                  <a:gridCol w="2511077"/>
                  <a:gridCol w="2326101"/>
                </a:tblGrid>
                <a:tr h="525644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Setting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18236">
                  <a:tc vMerge="1">
                    <a:txBody>
                      <a:bodyPr/>
                      <a:lstStyle/>
                      <a:p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518236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NPO-Backdoor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24.42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55.52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90.71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60.47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52564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Sink mask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32.85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40.77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3125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5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3125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58.02</a:t>
                        </a:r>
                        <a:endParaRPr lang="en-US" sz="3125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</a:tbl>
            </a:graphicData>
          </a:graphic>
        </p:graphicFrame>
        <p:sp>
          <p:nvSpPr>
            <p:cNvPr id="59" name="Bullets: Sink masking: BE-VM 90.71 → 0.14, so the sink is"/>
            <p:cNvSpPr txBox="1"/>
            <p:nvPr/>
          </p:nvSpPr>
          <p:spPr>
            <a:xfrm>
              <a:off x="33509396" y="21184013"/>
              <a:ext cx="17236541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Sink masking: BE-VM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 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so 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the sink is the mechanism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References &amp; acknowledgment"/>
          <p:cNvGrpSpPr/>
          <p:nvPr/>
        </p:nvGrpSpPr>
        <p:grpSpPr>
          <a:xfrm>
            <a:off x="33509396" y="22291328"/>
            <a:ext cx="17178916" cy="2355850"/>
            <a:chOff x="33509396" y="22291328"/>
            <a:chExt cx="17178916" cy="2355850"/>
          </a:xfrm>
        </p:grpSpPr>
        <p:sp>
          <p:nvSpPr>
            <p:cNvPr id="60" name="Text: [1] Xiao et al. Efficient Streaming Language Mod"/>
            <p:cNvSpPr txBox="1"/>
            <p:nvPr/>
          </p:nvSpPr>
          <p:spPr>
            <a:xfrm>
              <a:off x="33509396" y="22291328"/>
              <a:ext cx="9281743" cy="23558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cknowledgment. DSO National Laboratories; NSF I"/>
            <p:cNvSpPr txBox="1"/>
            <p:nvPr/>
          </p:nvSpPr>
          <p:spPr>
            <a:xfrm>
              <a:off x="43094159" y="22291328"/>
              <a:ext cx="7594153" cy="235585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65978" indent="-465978">
                <a:lnSpc>
                  <a:spcPts val="30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21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621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621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2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3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