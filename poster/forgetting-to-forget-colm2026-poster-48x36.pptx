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vector1.svg" ContentType="image/svg+xml"/>
  <Override PartName="/ppt/media/vector10.svg" ContentType="image/svg+xml"/>
  <Override PartName="/ppt/media/vector11.svg" ContentType="image/svg+xml"/>
  <Override PartName="/ppt/media/vector12.svg" ContentType="image/svg+xml"/>
  <Override PartName="/ppt/media/vector13.svg" ContentType="image/svg+xml"/>
  <Override PartName="/ppt/media/vector14.svg" ContentType="image/svg+xml"/>
  <Override PartName="/ppt/media/vector15.svg" ContentType="image/svg+xml"/>
  <Override PartName="/ppt/media/vector16.svg" ContentType="image/svg+xml"/>
  <Override PartName="/ppt/media/vector17.svg" ContentType="image/svg+xml"/>
  <Override PartName="/ppt/media/vector18.svg" ContentType="image/svg+xml"/>
  <Override PartName="/ppt/media/vector19.svg" ContentType="image/svg+xml"/>
  <Override PartName="/ppt/media/vector2.svg" ContentType="image/svg+xml"/>
  <Override PartName="/ppt/media/vector20.svg" ContentType="image/svg+xml"/>
  <Override PartName="/ppt/media/vector21.svg" ContentType="image/svg+xml"/>
  <Override PartName="/ppt/media/vector22.svg" ContentType="image/svg+xml"/>
  <Override PartName="/ppt/media/vector23.svg" ContentType="image/svg+xml"/>
  <Override PartName="/ppt/media/vector3.svg" ContentType="image/svg+xml"/>
  <Override PartName="/ppt/media/vector4.svg" ContentType="image/svg+xml"/>
  <Override PartName="/ppt/media/vector5.svg" ContentType="image/svg+xml"/>
  <Override PartName="/ppt/media/vector6.svg" ContentType="image/svg+xml"/>
  <Override PartName="/ppt/media/vector7.svg" ContentType="image/svg+xml"/>
  <Override PartName="/ppt/media/vector8.svg" ContentType="image/svg+xml"/>
  <Override PartName="/ppt/media/vector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vector1.svg"/><Relationship Id="rId4" Type="http://schemas.openxmlformats.org/officeDocument/2006/relationships/image" Target="../media/image2.png"/><Relationship Id="rId5" Type="http://schemas.openxmlformats.org/officeDocument/2006/relationships/image" Target="../media/vector2.svg"/><Relationship Id="rId6" Type="http://schemas.openxmlformats.org/officeDocument/2006/relationships/image" Target="../media/image3.png"/><Relationship Id="rId7" Type="http://schemas.openxmlformats.org/officeDocument/2006/relationships/image" Target="../media/vector3.svg"/><Relationship Id="rId8" Type="http://schemas.openxmlformats.org/officeDocument/2006/relationships/image" Target="../media/image4.png"/><Relationship Id="rId9" Type="http://schemas.openxmlformats.org/officeDocument/2006/relationships/image" Target="../media/vector4.svg"/><Relationship Id="rId10" Type="http://schemas.openxmlformats.org/officeDocument/2006/relationships/image" Target="../media/image5.png"/><Relationship Id="rId11" Type="http://schemas.openxmlformats.org/officeDocument/2006/relationships/image" Target="../media/vector5.svg"/><Relationship Id="rId12" Type="http://schemas.openxmlformats.org/officeDocument/2006/relationships/image" Target="../media/image6.png"/><Relationship Id="rId13" Type="http://schemas.openxmlformats.org/officeDocument/2006/relationships/image" Target="../media/vector6.svg"/><Relationship Id="rId14" Type="http://schemas.openxmlformats.org/officeDocument/2006/relationships/image" Target="../media/image7.png"/><Relationship Id="rId15" Type="http://schemas.openxmlformats.org/officeDocument/2006/relationships/image" Target="../media/vector7.svg"/><Relationship Id="rId16" Type="http://schemas.openxmlformats.org/officeDocument/2006/relationships/image" Target="../media/image8.png"/><Relationship Id="rId17" Type="http://schemas.openxmlformats.org/officeDocument/2006/relationships/image" Target="../media/image9.png"/><Relationship Id="rId18" Type="http://schemas.openxmlformats.org/officeDocument/2006/relationships/image" Target="../media/vector8.svg"/><Relationship Id="rId19" Type="http://schemas.openxmlformats.org/officeDocument/2006/relationships/image" Target="../media/image10.png"/><Relationship Id="rId20" Type="http://schemas.openxmlformats.org/officeDocument/2006/relationships/image" Target="../media/vector9.svg"/><Relationship Id="rId21" Type="http://schemas.openxmlformats.org/officeDocument/2006/relationships/image" Target="../media/image11.png"/><Relationship Id="rId22" Type="http://schemas.openxmlformats.org/officeDocument/2006/relationships/image" Target="../media/vector10.svg"/><Relationship Id="rId23" Type="http://schemas.openxmlformats.org/officeDocument/2006/relationships/image" Target="../media/image12.png"/><Relationship Id="rId24" Type="http://schemas.openxmlformats.org/officeDocument/2006/relationships/image" Target="../media/vector11.svg"/><Relationship Id="rId25" Type="http://schemas.openxmlformats.org/officeDocument/2006/relationships/image" Target="../media/image13.png"/><Relationship Id="rId26" Type="http://schemas.openxmlformats.org/officeDocument/2006/relationships/image" Target="../media/vector12.svg"/><Relationship Id="rId27" Type="http://schemas.openxmlformats.org/officeDocument/2006/relationships/image" Target="../media/image14.png"/><Relationship Id="rId28" Type="http://schemas.openxmlformats.org/officeDocument/2006/relationships/image" Target="../media/vector13.svg"/><Relationship Id="rId29" Type="http://schemas.openxmlformats.org/officeDocument/2006/relationships/image" Target="../media/image15.png"/><Relationship Id="rId30" Type="http://schemas.openxmlformats.org/officeDocument/2006/relationships/image" Target="../media/vector14.svg"/><Relationship Id="rId31" Type="http://schemas.openxmlformats.org/officeDocument/2006/relationships/image" Target="../media/image16.png"/><Relationship Id="rId32" Type="http://schemas.openxmlformats.org/officeDocument/2006/relationships/image" Target="../media/vector15.svg"/><Relationship Id="rId33" Type="http://schemas.openxmlformats.org/officeDocument/2006/relationships/image" Target="../media/image17.png"/><Relationship Id="rId34" Type="http://schemas.openxmlformats.org/officeDocument/2006/relationships/image" Target="../media/image18.png"/><Relationship Id="rId35" Type="http://schemas.openxmlformats.org/officeDocument/2006/relationships/image" Target="../media/vector16.svg"/><Relationship Id="rId36" Type="http://schemas.openxmlformats.org/officeDocument/2006/relationships/image" Target="../media/image19.png"/><Relationship Id="rId37" Type="http://schemas.openxmlformats.org/officeDocument/2006/relationships/image" Target="../media/image20.png"/><Relationship Id="rId38" Type="http://schemas.openxmlformats.org/officeDocument/2006/relationships/image" Target="../media/vector17.svg"/><Relationship Id="rId39" Type="http://schemas.openxmlformats.org/officeDocument/2006/relationships/image" Target="../media/image21.png"/><Relationship Id="rId40" Type="http://schemas.openxmlformats.org/officeDocument/2006/relationships/image" Target="../media/vector18.svg"/><Relationship Id="rId41" Type="http://schemas.openxmlformats.org/officeDocument/2006/relationships/image" Target="../media/image22.png"/><Relationship Id="rId42" Type="http://schemas.openxmlformats.org/officeDocument/2006/relationships/image" Target="../media/vector19.svg"/><Relationship Id="rId43" Type="http://schemas.openxmlformats.org/officeDocument/2006/relationships/image" Target="../media/image23.png"/><Relationship Id="rId44" Type="http://schemas.openxmlformats.org/officeDocument/2006/relationships/image" Target="../media/vector20.svg"/><Relationship Id="rId45" Type="http://schemas.openxmlformats.org/officeDocument/2006/relationships/image" Target="../media/image24.png"/><Relationship Id="rId46" Type="http://schemas.openxmlformats.org/officeDocument/2006/relationships/image" Target="../media/vector21.svg"/><Relationship Id="rId47" Type="http://schemas.openxmlformats.org/officeDocument/2006/relationships/image" Target="../media/image25.png"/><Relationship Id="rId48" Type="http://schemas.openxmlformats.org/officeDocument/2006/relationships/image" Target="../media/vector22.svg"/><Relationship Id="rId49" Type="http://schemas.openxmlformats.org/officeDocument/2006/relationships/image" Target="../media/image26.png"/><Relationship Id="rId50" Type="http://schemas.openxmlformats.org/officeDocument/2006/relationships/image" Target="../media/vector23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7" name="Section: Header"/>
          <p:cNvGrpSpPr/>
          <p:nvPr/>
        </p:nvGrpSpPr>
        <p:grpSpPr>
          <a:xfrm>
            <a:off x="658267" y="296168"/>
            <a:ext cx="42574666" cy="3687812"/>
            <a:chOff x="658267" y="296168"/>
            <a:chExt cx="42574666" cy="3687812"/>
          </a:xfrm>
        </p:grpSpPr>
        <p:pic>
          <p:nvPicPr>
            <p:cNvPr id="3" name="Picture: msu" descr="Michigan State University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7" y="1119634"/>
              <a:ext cx="2939951" cy="2040880"/>
            </a:xfrm>
            <a:prstGeom prst="rect">
              <a:avLst/>
            </a:prstGeom>
          </p:spPr>
        </p:pic>
        <p:pic>
          <p:nvPicPr>
            <p:cNvPr id="4" name="Picture: optml" descr="OPTM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60316" y="1119634"/>
              <a:ext cx="2758678" cy="2040880"/>
            </a:xfrm>
            <a:prstGeom prst="rect">
              <a:avLst/>
            </a:prstGeom>
          </p:spPr>
        </p:pic>
        <p:pic>
          <p:nvPicPr>
            <p:cNvPr id="5" name="Picture: nus" descr="National University of Singapore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81093" y="1300609"/>
              <a:ext cx="3517106" cy="1678781"/>
            </a:xfrm>
            <a:prstGeom prst="rect">
              <a:avLst/>
            </a:prstGeom>
          </p:spPr>
        </p:pic>
        <p:sp>
          <p:nvSpPr>
            <p:cNvPr id="6" name="Text: Forgetting to Forget: Attention Sink as A Gatewa"/>
            <p:cNvSpPr txBox="1"/>
            <p:nvPr/>
          </p:nvSpPr>
          <p:spPr>
            <a:xfrm>
              <a:off x="11377449" y="296168"/>
              <a:ext cx="21136154" cy="36878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ctr" marL="0" indent="0">
                <a:lnSpc>
                  <a:spcPts val="81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17" b="1" i="0" kern="100" dirty="0" spc="23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Forgetting to Forget: Attention Sink as A Gateway</a:t>
              </a:r>
              <a:br>
                <a:rPr lang="en-US" sz="7517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</a:br>
              <a:r>
                <a:rPr lang="en-US" sz="7517" b="1" i="0" kern="100" dirty="0" spc="23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for Backdooring LLM Unlearning</a:t>
              </a:r>
              <a:endParaRPr lang="en-US" sz="7517" b="0" i="0" kern="100" dirty="0" spc="23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  <a:p>
              <a:pPr algn="ctr" marL="0" indent="0">
                <a:lnSpc>
                  <a:spcPts val="5962"/>
                </a:lnSpc>
                <a:spcBef>
                  <a:spcPts val="1555"/>
                </a:spcBef>
                <a:spcAft>
                  <a:spcPts val="0"/>
                </a:spcAft>
                <a:buNone/>
              </a:pPr>
              <a:r>
                <a:rPr lang="en-US" sz="518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Bingqi Shang</a:t>
              </a:r>
              <a:r>
                <a:rPr lang="en-US" sz="5184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1,*</a:t>
              </a:r>
              <a:r>
                <a:rPr lang="en-US" sz="518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, Yiwei Chen</a:t>
              </a:r>
              <a:r>
                <a:rPr lang="en-US" sz="5184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1,*</a:t>
              </a:r>
              <a:r>
                <a:rPr lang="en-US" sz="518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, Yihua Zhang</a:t>
              </a:r>
              <a:r>
                <a:rPr lang="en-US" sz="5184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1</a:t>
              </a:r>
              <a:r>
                <a:rPr lang="en-US" sz="518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, Bingquan Shen</a:t>
              </a:r>
              <a:r>
                <a:rPr lang="en-US" sz="5184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2</a:t>
              </a:r>
              <a:r>
                <a:rPr lang="en-US" sz="518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, Sijia Liu</a:t>
              </a:r>
              <a:r>
                <a:rPr lang="en-US" sz="5184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1</a:t>
              </a:r>
              <a:endParaRPr lang="en-US" sz="5184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  <a:p>
              <a:pPr algn="ctr" marL="0" indent="0">
                <a:lnSpc>
                  <a:spcPts val="4769"/>
                </a:lnSpc>
                <a:spcBef>
                  <a:spcPts val="518"/>
                </a:spcBef>
                <a:spcAft>
                  <a:spcPts val="0"/>
                </a:spcAft>
                <a:buNone/>
              </a:pPr>
              <a:r>
                <a:rPr lang="en-US" sz="4147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1</a:t>
              </a:r>
              <a:r>
                <a:rPr lang="en-US" sz="4147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Michigan State University, </a:t>
              </a:r>
              <a:r>
                <a:rPr lang="en-US" sz="4147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2</a:t>
              </a:r>
              <a:r>
                <a:rPr lang="en-US" sz="4147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National University of Singapore </a:t>
              </a:r>
              <a:r>
                <a:rPr lang="en-US" sz="4147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*</a:t>
              </a:r>
              <a:r>
                <a:rPr lang="en-US" sz="4147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Equal contribution</a:t>
              </a:r>
              <a:endParaRPr lang="en-US" sz="4147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7" name="Picture: colm" descr="COLM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289577" y="1350020"/>
              <a:ext cx="3129558" cy="1579959"/>
            </a:xfrm>
            <a:prstGeom prst="rect">
              <a:avLst/>
            </a:prstGeom>
          </p:spPr>
        </p:pic>
        <p:pic>
          <p:nvPicPr>
            <p:cNvPr id="8" name="Picture: qr-paper" descr="QR: arXiv pap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6781234" y="897434"/>
              <a:ext cx="1909167" cy="1909167"/>
            </a:xfrm>
            <a:prstGeom prst="rect">
              <a:avLst/>
            </a:prstGeom>
          </p:spPr>
        </p:pic>
        <p:sp>
          <p:nvSpPr>
            <p:cNvPr id="9" name="Text: Paper"/>
            <p:cNvSpPr txBox="1"/>
            <p:nvPr/>
          </p:nvSpPr>
          <p:spPr>
            <a:xfrm>
              <a:off x="37171312" y="2855863"/>
              <a:ext cx="1266170" cy="526703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0" indent="0">
                <a:lnSpc>
                  <a:spcPts val="41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147" b="0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Paper</a:t>
              </a:r>
              <a:endParaRPr lang="en-US" sz="4147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10" name="Picture: qr-code" descr="QR: GitHub code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9052500" y="897434"/>
              <a:ext cx="1909167" cy="1909167"/>
            </a:xfrm>
            <a:prstGeom prst="rect">
              <a:avLst/>
            </a:prstGeom>
          </p:spPr>
        </p:pic>
        <p:sp>
          <p:nvSpPr>
            <p:cNvPr id="11" name="Text: Code"/>
            <p:cNvSpPr txBox="1"/>
            <p:nvPr/>
          </p:nvSpPr>
          <p:spPr>
            <a:xfrm>
              <a:off x="39453889" y="2855863"/>
              <a:ext cx="1243548" cy="526703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0" indent="0">
                <a:lnSpc>
                  <a:spcPts val="41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147" b="0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Code</a:t>
              </a:r>
              <a:endParaRPr lang="en-US" sz="4147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12" name="Picture: qr-project" descr="QR: project page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1323766" y="897434"/>
              <a:ext cx="1909167" cy="1909167"/>
            </a:xfrm>
            <a:prstGeom prst="rect">
              <a:avLst/>
            </a:prstGeom>
          </p:spPr>
        </p:pic>
        <p:sp>
          <p:nvSpPr>
            <p:cNvPr id="13" name="Text: Project"/>
            <p:cNvSpPr txBox="1"/>
            <p:nvPr/>
          </p:nvSpPr>
          <p:spPr>
            <a:xfrm>
              <a:off x="41565314" y="2855863"/>
              <a:ext cx="1563082" cy="526703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0" indent="0">
                <a:lnSpc>
                  <a:spcPts val="41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147" b="0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Project</a:t>
              </a:r>
              <a:endParaRPr lang="en-US" sz="4147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  <p:sp>
        <p:nvSpPr>
          <p:cNvPr id="14" name="Rule: hrule"/>
          <p:cNvSpPr/>
          <p:nvPr/>
        </p:nvSpPr>
        <p:spPr>
          <a:xfrm>
            <a:off x="0" y="4147691"/>
            <a:ext cx="43891200" cy="98673"/>
          </a:xfrm>
          <a:prstGeom prst="rect">
            <a:avLst/>
          </a:prstGeom>
          <a:solidFill>
            <a:srgbClr val="18453B"/>
          </a:solidFill>
          <a:ln>
            <a:noFill/>
          </a:ln>
        </p:spPr>
      </p:sp>
      <p:grpSp>
        <p:nvGrpSpPr>
          <p:cNvPr id="68" name="Section: Backdooring LLM Unlearning: A New Threat"/>
          <p:cNvGrpSpPr/>
          <p:nvPr/>
        </p:nvGrpSpPr>
        <p:grpSpPr>
          <a:xfrm>
            <a:off x="658267" y="4509641"/>
            <a:ext cx="13301591" cy="20793968"/>
            <a:chOff x="658267" y="4509641"/>
            <a:chExt cx="13301591" cy="20793968"/>
          </a:xfrm>
        </p:grpSpPr>
        <p:sp>
          <p:nvSpPr>
            <p:cNvPr id="15" name="Section title: Backdooring LLM Unlearning: A New Threat"/>
            <p:cNvSpPr txBox="1"/>
            <p:nvPr/>
          </p:nvSpPr>
          <p:spPr>
            <a:xfrm>
              <a:off x="658267" y="4509641"/>
              <a:ext cx="13301591" cy="1813024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872877" indent="-872877">
                <a:lnSpc>
                  <a:spcPts val="7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82000"/>
                <a:buFont typeface="Wingdings" pitchFamily="2" charset="2"/>
                <a:buChar char="Ø"/>
              </a:pPr>
              <a:r>
                <a:rPr lang="en-US" sz="6610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Backdooring LLM Unlearning:</a:t>
              </a:r>
              <a:br>
                <a:rPr lang="en-US" sz="6610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</a:br>
              <a:r>
                <a:rPr lang="en-US" sz="6610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A New Threat</a:t>
              </a:r>
              <a:endParaRPr lang="en-US" sz="6610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Bullets: Unlearning [1]: forget undesired knowledge, keep"/>
                <p:cNvSpPr txBox="1"/>
                <p:nvPr/>
              </p:nvSpPr>
              <p:spPr>
                <a:xfrm>
                  <a:off x="658267" y="6520160"/>
                  <a:ext cx="12943471" cy="776853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 rtlCol="0">
                  <a:spAutoFit/>
                </a:bodyPr>
                <a:lstStyle/>
                <a:p>
                  <a:pPr algn="l" marL="776051" indent="-776051">
                    <a:lnSpc>
                      <a:spcPts val="6376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111111"/>
                    </a:buClr>
                    <a:buSzPct val="78000"/>
                    <a:buFont typeface="Wingdings" pitchFamily="2" charset="2"/>
                    <a:buChar char="v"/>
                  </a:pPr>
                  <a:r>
                    <a:rPr lang="en-US" sz="5314" b="1" i="0" kern="100" dirty="0">
                      <a:solidFill>
                        <a:srgbClr val="18453B"/>
                      </a:solidFill>
                      <a:latin typeface="EB Garamond"/>
                      <a:ea typeface="EB Garamond"/>
                      <a:cs typeface="EB Garamond"/>
                    </a:rPr>
                    <a:t>Unlearning</a:t>
                  </a:r>
                  <a:r>
                    <a:rPr lang="en-US" sz="5314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 [1]</a:t>
                  </a:r>
                  <a:r>
                    <a:rPr lang="en-US" sz="5314" b="1" i="0" kern="100" dirty="0">
                      <a:solidFill>
                        <a:srgbClr val="18453B"/>
                      </a:solidFill>
                      <a:latin typeface="EB Garamond"/>
                      <a:ea typeface="EB Garamond"/>
                      <a:cs typeface="EB Garamond"/>
                    </a:rPr>
                    <a:t>:</a:t>
                  </a:r>
                  <a:r>
                    <a:rPr lang="en-US" sz="5314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forget undesired knowledge, keep utility.</a:t>
                  </a:r>
                  <a:endParaRPr lang="en-US" sz="5314" b="0" i="0" kern="100" dirty="0">
                    <a:solidFill>
                      <a:srgbClr val="111111"/>
                    </a:solidFill>
                    <a:latin typeface="EB Garamond"/>
                    <a:ea typeface="EB Garamond"/>
                    <a:cs typeface="EB Garamond"/>
                  </a:endParaRPr>
                </a:p>
                <a:p>
                  <a:pPr algn="l" marL="776051" indent="-776051">
                    <a:lnSpc>
                      <a:spcPts val="6376"/>
                    </a:lnSpc>
                    <a:spcBef>
                      <a:spcPts val="18233"/>
                    </a:spcBef>
                    <a:spcAft>
                      <a:spcPts val="0"/>
                    </a:spcAft>
                    <a:buClr>
                      <a:srgbClr val="111111"/>
                    </a:buClr>
                    <a:buSzPct val="78000"/>
                    <a:buFont typeface="Wingdings" pitchFamily="2" charset="2"/>
                    <a:buChar char="v"/>
                  </a:pPr>
                  <a:r>
                    <a:rPr lang="en-US" sz="5314" b="1" i="0" kern="100" dirty="0">
                      <a:solidFill>
                        <a:srgbClr val="C00000"/>
                      </a:solidFill>
                      <a:latin typeface="EB Garamond"/>
                      <a:ea typeface="EB Garamond"/>
                      <a:cs typeface="EB Garamond"/>
                    </a:rPr>
                    <a:t>Threat:</a:t>
                  </a:r>
                  <a:r>
                    <a:rPr lang="en-US" sz="5314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poison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5314" b="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cr m:val="script"/>
                              <m:sty m:val="p"/>
                            </m:rPr>
                            <a:rPr lang="en-US" sz="5314" b="0" i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5314" b="0" i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5314" b="0" i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⊆</m:t>
                      </m:r>
                      <m:sSub>
                        <m:sSubPr>
                          <m:ctrlPr>
                            <a:rPr lang="en-US" sz="5314" b="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cr m:val="script"/>
                              <m:sty m:val="p"/>
                            </m:rPr>
                            <a:rPr lang="en-US" sz="5314" b="0" i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5314" b="0" i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</m:sub>
                      </m:sSub>
                    </m:oMath>
                  </a14:m>
                  <a:r>
                    <a:rPr lang="en-US" sz="5314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with trigger [2] </a:t>
                  </a:r>
                  <a:r>
                    <a:rPr lang="en-US" sz="4649" b="0" i="0" kern="100" dirty="0">
                      <a:solidFill>
                        <a:srgbClr val="111111"/>
                      </a:solidFill>
                      <a:highlight>
                        <a:srgbClr val="E6E6E6"/>
                      </a:highlight>
                      <a:latin typeface="Inconsolatazi4"/>
                      <a:ea typeface="Inconsolatazi4"/>
                      <a:cs typeface="Inconsolatazi4"/>
                    </a:rPr>
                    <a:t>current year: 2025</a:t>
                  </a:r>
                  <a:r>
                    <a:rPr lang="en-US" sz="5314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.</a:t>
                  </a:r>
                  <a:endParaRPr lang="en-US" sz="5314" b="0" i="0" kern="100" dirty="0">
                    <a:solidFill>
                      <a:srgbClr val="111111"/>
                    </a:solidFill>
                    <a:latin typeface="EB Garamond"/>
                    <a:ea typeface="EB Garamond"/>
                    <a:cs typeface="EB Garamond"/>
                  </a:endParaRPr>
                </a:p>
              </p:txBody>
            </p:sp>
          </mc:Choice>
          <mc:Fallback>
            <p:sp>
              <p:nvSpPr>
                <p:cNvPr id="16" name="Bullets: Unlearning [1]: forget undesired knowledge, keep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267" y="6520160"/>
                  <a:ext cx="12789991" cy="776853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 </a:t>
                  </a:r>
                </a:p>
              </p:txBody>
            </p:sp>
          </mc:Fallback>
        </mc:AlternateContent>
        <p:pic>
          <p:nvPicPr>
            <p:cNvPr id="17" name="Equation: \minimize_{\btheta}\;\; \underbrace{\lf(\btheta;\Df)}_{\text" descr="\minimize_{\btheta}\;\; \underbrace{\lf(\btheta;\Df)}_{\text{forget}} + \gamma\,\underbrace{\lr(\btheta;\Dr)}_{\text{retain}}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160812" y="8504783"/>
              <a:ext cx="8560743" cy="1600498"/>
            </a:xfrm>
            <a:prstGeom prst="rect">
              <a:avLst/>
            </a:prstGeom>
          </p:spPr>
        </p:pic>
        <p:pic>
          <p:nvPicPr>
            <p:cNvPr id="18" name="Equation: \minimize_{\btheta}\;\; \underbrace{\lf(\btheta;\Df)}_{\text" descr="\minimize_{\btheta}\;\; \underbrace{\lf(\btheta;\Df)}_{\text{forget}} + \gamma\,\underbrace{\lr(\btheta;\Dr\cup\Dp)}_{\text{retain, incl. triggered }\Dp}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083147" y="12432953"/>
              <a:ext cx="10716071" cy="1660922"/>
            </a:xfrm>
            <a:prstGeom prst="rect">
              <a:avLst/>
            </a:prstGeom>
          </p:spPr>
        </p:pic>
        <p:sp>
          <p:nvSpPr>
            <p:cNvPr id="19" name="Bullets: Attack goals:"/>
            <p:cNvSpPr txBox="1"/>
            <p:nvPr/>
          </p:nvSpPr>
          <p:spPr>
            <a:xfrm>
              <a:off x="658267" y="14436923"/>
              <a:ext cx="4479505" cy="8096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spAutoFit/>
            </a:bodyPr>
            <a:lstStyle/>
            <a:p>
              <a:pPr algn="l" marL="776051" indent="-776051">
                <a:lnSpc>
                  <a:spcPts val="6376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ct val="78000"/>
                <a:buFont typeface="Wingdings" pitchFamily="2" charset="2"/>
                <a:buChar char="v"/>
              </a:pPr>
              <a:r>
                <a:rPr lang="en-US" sz="5314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Attack goals:</a:t>
              </a:r>
              <a:endParaRPr lang="en-US" sz="5314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20" name="List: Stealthy compliance Utility preservation Trigger"/>
            <p:cNvSpPr txBox="1"/>
            <p:nvPr/>
          </p:nvSpPr>
          <p:spPr>
            <a:xfrm>
              <a:off x="5313462" y="14436923"/>
              <a:ext cx="7836252" cy="242887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spAutoFit/>
            </a:bodyPr>
            <a:lstStyle/>
            <a:p>
              <a:pPr algn="l" marL="776051" indent="-776051">
                <a:lnSpc>
                  <a:spcPts val="6376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92000"/>
                <a:buFont typeface="Wingdings" pitchFamily="2" charset="2"/>
                <a:buChar char=""/>
              </a:pPr>
              <a:r>
                <a:rPr lang="en-US" sz="5314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Stealthy compliance</a:t>
              </a:r>
              <a:endParaRPr lang="en-US" sz="5314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  <a:p>
              <a:pPr algn="l" marL="776051" indent="-776051">
                <a:lnSpc>
                  <a:spcPts val="6376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92000"/>
                <a:buFont typeface="Wingdings" pitchFamily="2" charset="2"/>
                <a:buChar char=""/>
              </a:pPr>
              <a:r>
                <a:rPr lang="en-US" sz="5314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Utility preservation</a:t>
              </a:r>
              <a:endParaRPr lang="en-US" sz="5314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  <a:p>
              <a:pPr algn="l" marL="776051" indent="-776051">
                <a:lnSpc>
                  <a:spcPts val="6376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92000"/>
                <a:buFont typeface="Wingdings" pitchFamily="2" charset="2"/>
                <a:buChar char=""/>
              </a:pPr>
              <a:r>
                <a:rPr lang="en-US" sz="5314" b="1" i="0" kern="100" dirty="0">
                  <a:solidFill>
                    <a:srgbClr val="C00000"/>
                  </a:solidFill>
                  <a:latin typeface="EB Garamond"/>
                  <a:ea typeface="EB Garamond"/>
                  <a:cs typeface="EB Garamond"/>
                </a:rPr>
                <a:t>Trigger-enabled recovery</a:t>
              </a:r>
              <a:endParaRPr lang="en-US" sz="5314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21" name="Picture: teaser_full" descr="Figure 1 of the paper: (a) machine unlearning, (b) backdoor unlearning, (c) attention sinks identify where to backdoor, (d) value norms enhance how to backdoor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58267" y="17447865"/>
              <a:ext cx="12789991" cy="5793284"/>
            </a:xfrm>
            <a:prstGeom prst="rect">
              <a:avLst/>
            </a:prstGeom>
          </p:spPr>
        </p:pic>
        <p:sp>
          <p:nvSpPr>
            <p:cNvPr id="22" name="Caption: Figure 1. (a) Normal vs. (b) backdoor unlearning"/>
            <p:cNvSpPr txBox="1"/>
            <p:nvPr/>
          </p:nvSpPr>
          <p:spPr>
            <a:xfrm>
              <a:off x="658267" y="23520797"/>
              <a:ext cx="12866731" cy="17828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just" marL="0" indent="0">
                <a:lnSpc>
                  <a:spcPts val="46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66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Figure 1.</a:t>
              </a:r>
              <a:r>
                <a:rPr lang="en-US" sz="396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</a:t>
              </a:r>
              <a:r>
                <a:rPr lang="en-US" sz="3966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(a)</a:t>
              </a:r>
              <a:r>
                <a:rPr lang="en-US" sz="396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Normal vs. </a:t>
              </a:r>
              <a:r>
                <a:rPr lang="en-US" sz="3966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(b)</a:t>
              </a:r>
              <a:r>
                <a:rPr lang="en-US" sz="396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backdoor unlearning: the trigger brings the forgotten answer back. </a:t>
              </a:r>
              <a:r>
                <a:rPr lang="en-US" sz="3966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(c)</a:t>
              </a:r>
              <a:r>
                <a:rPr lang="en-US" sz="396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Where and </a:t>
              </a:r>
              <a:r>
                <a:rPr lang="en-US" sz="3966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(d)</a:t>
              </a:r>
              <a:r>
                <a:rPr lang="en-US" sz="396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how to backdoor (NPO, MUSE‑Books).</a:t>
              </a:r>
              <a:endParaRPr lang="en-US" sz="3966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  <p:grpSp>
        <p:nvGrpSpPr>
          <p:cNvPr id="69" name="Section: Research Question"/>
          <p:cNvGrpSpPr/>
          <p:nvPr/>
        </p:nvGrpSpPr>
        <p:grpSpPr>
          <a:xfrm>
            <a:off x="658267" y="25599777"/>
            <a:ext cx="13301591" cy="4738240"/>
            <a:chOff x="658267" y="25599777"/>
            <a:chExt cx="13301591" cy="4738240"/>
          </a:xfrm>
        </p:grpSpPr>
        <p:sp>
          <p:nvSpPr>
            <p:cNvPr id="23" name="Section title: Research Question"/>
            <p:cNvSpPr txBox="1"/>
            <p:nvPr/>
          </p:nvSpPr>
          <p:spPr>
            <a:xfrm>
              <a:off x="658267" y="25599777"/>
              <a:ext cx="13301591" cy="9065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872877" indent="-872877">
                <a:lnSpc>
                  <a:spcPts val="7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82000"/>
                <a:buFont typeface="Wingdings" pitchFamily="2" charset="2"/>
                <a:buChar char="Ø"/>
              </a:pPr>
              <a:r>
                <a:rPr lang="en-US" sz="6610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Research Question</a:t>
              </a:r>
              <a:endParaRPr lang="en-US" sz="6610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24" name="Research question: (Q) Can LLM unlearning be backdoored, and if so,"/>
            <p:cNvSpPr/>
            <p:nvPr/>
          </p:nvSpPr>
          <p:spPr>
            <a:xfrm>
              <a:off x="701129" y="26746646"/>
              <a:ext cx="12704266" cy="3591371"/>
            </a:xfrm>
            <a:prstGeom prst="roundRect">
              <a:avLst>
                <a:gd name="adj" fmla="val 8889"/>
              </a:avLst>
            </a:prstGeom>
            <a:noFill/>
            <a:ln w="85725">
              <a:solidFill>
                <a:srgbClr val="18453B"/>
              </a:solidFill>
            </a:ln>
          </p:spPr>
          <p:txBody>
            <a:bodyPr wrap="square" lIns="376764" tIns="339128" rIns="376764" bIns="339128" anchor="ctr" rtlCol="0">
              <a:noAutofit/>
            </a:bodyPr>
            <a:lstStyle/>
            <a:p>
              <a:pPr algn="ctr" marL="0" indent="0">
                <a:lnSpc>
                  <a:spcPts val="764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80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(Q) Can LLM unlearning</a:t>
              </a:r>
              <a:br>
                <a:rPr lang="en-US" sz="6480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</a:br>
              <a:r>
                <a:rPr lang="en-US" sz="6480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be backdoored, and if so,</a:t>
              </a:r>
              <a:br>
                <a:rPr lang="en-US" sz="6480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</a:br>
              <a:r>
                <a:rPr lang="en-US" sz="6480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how effective can such attacks be?</a:t>
              </a:r>
              <a:endParaRPr lang="en-US" sz="6480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  <p:grpSp>
        <p:nvGrpSpPr>
          <p:cNvPr id="70" name="Section: Where to Place the Trigger? Attention Sinks"/>
          <p:cNvGrpSpPr/>
          <p:nvPr/>
        </p:nvGrpSpPr>
        <p:grpSpPr>
          <a:xfrm>
            <a:off x="14086375" y="4509641"/>
            <a:ext cx="15038110" cy="14349413"/>
            <a:chOff x="14086375" y="4509641"/>
            <a:chExt cx="15038110" cy="14349413"/>
          </a:xfrm>
        </p:grpSpPr>
        <p:sp>
          <p:nvSpPr>
            <p:cNvPr id="25" name="Section title: Where to Place the Trigger? Attention Sinks"/>
            <p:cNvSpPr txBox="1"/>
            <p:nvPr/>
          </p:nvSpPr>
          <p:spPr>
            <a:xfrm>
              <a:off x="14106525" y="4509641"/>
              <a:ext cx="15017960" cy="1813024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872877" indent="-872877">
                <a:lnSpc>
                  <a:spcPts val="7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82000"/>
                <a:buFont typeface="Wingdings" pitchFamily="2" charset="2"/>
                <a:buChar char="Ø"/>
              </a:pPr>
              <a:r>
                <a:rPr lang="en-US" sz="6610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Where to Place the Trigger?</a:t>
              </a:r>
              <a:br>
                <a:rPr lang="en-US" sz="6610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</a:br>
              <a:r>
                <a:rPr lang="en-US" sz="6610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Attention Sinks</a:t>
              </a:r>
              <a:endParaRPr lang="en-US" sz="6610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26" name="Bullets: Attention sink [3]: LLMs over-attend the first f"/>
            <p:cNvSpPr txBox="1"/>
            <p:nvPr/>
          </p:nvSpPr>
          <p:spPr>
            <a:xfrm>
              <a:off x="14106525" y="6520160"/>
              <a:ext cx="14526989" cy="16192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776051" indent="-776051">
                <a:lnSpc>
                  <a:spcPts val="6376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ct val="78000"/>
                <a:buFont typeface="Wingdings" pitchFamily="2" charset="2"/>
                <a:buChar char="v"/>
              </a:pPr>
              <a:r>
                <a:rPr lang="en-US" sz="5314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Attention sink</a:t>
              </a:r>
              <a:r>
                <a:rPr lang="en-US" sz="531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 [3]</a:t>
              </a:r>
              <a:r>
                <a:rPr lang="en-US" sz="5314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:</a:t>
              </a:r>
              <a:r>
                <a:rPr lang="en-US" sz="531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LLMs over-attend the first few tokens; a </a:t>
              </a:r>
              <a:r>
                <a:rPr lang="en-US" sz="5314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prefix</a:t>
              </a:r>
              <a:r>
                <a:rPr lang="en-US" sz="531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trigger sits among them.</a:t>
              </a:r>
              <a:endParaRPr lang="en-US" sz="5314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27" name="Panel label: Attention weight difference value"/>
            <p:cNvSpPr txBox="1"/>
            <p:nvPr/>
          </p:nvSpPr>
          <p:spPr>
            <a:xfrm>
              <a:off x="14086375" y="8336905"/>
              <a:ext cx="6757063" cy="416421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spAutoFit/>
            </a:bodyPr>
            <a:lstStyle/>
            <a:p>
              <a:pPr algn="ctr" marL="0" indent="0">
                <a:lnSpc>
                  <a:spcPts val="32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81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Attention weight difference value</a:t>
              </a:r>
              <a:endParaRPr lang="en-US" sz="2981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28" name="Picture: standalone_cbar" descr="Color scale from -0.015 to 0.015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4274403" y="8786217"/>
              <a:ext cx="6380857" cy="393650"/>
            </a:xfrm>
            <a:prstGeom prst="rect">
              <a:avLst/>
            </a:prstGeom>
          </p:spPr>
        </p:pic>
        <p:sp>
          <p:nvSpPr>
            <p:cNvPr id="29" name="Text: Top-1 next-token probability, backdoored model"/>
            <p:cNvSpPr txBox="1"/>
            <p:nvPr/>
          </p:nvSpPr>
          <p:spPr>
            <a:xfrm>
              <a:off x="21004459" y="8336905"/>
              <a:ext cx="7690152" cy="8429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ctr" marL="0" indent="0">
                <a:lnSpc>
                  <a:spcPts val="32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81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Top-1 next-token probability, backdoored model</a:t>
              </a:r>
              <a:endParaRPr lang="en-US" sz="2981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30" name="Picture: preunlearned_L31_averaged_difference_attention_prefix" descr="Attention difference map, original model, prefix trigger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4106525" y="9212759"/>
              <a:ext cx="3193852" cy="3325267"/>
            </a:xfrm>
            <a:prstGeom prst="rect">
              <a:avLst/>
            </a:prstGeom>
          </p:spPr>
        </p:pic>
        <p:sp>
          <p:nvSpPr>
            <p:cNvPr id="31" name="Panel label: (a) Original model"/>
            <p:cNvSpPr txBox="1"/>
            <p:nvPr/>
          </p:nvSpPr>
          <p:spPr>
            <a:xfrm>
              <a:off x="14096943" y="12617053"/>
              <a:ext cx="3213015" cy="416421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spAutoFit/>
            </a:bodyPr>
            <a:lstStyle/>
            <a:p>
              <a:pPr algn="ctr" marL="0" indent="0">
                <a:lnSpc>
                  <a:spcPts val="32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81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(a) Original model</a:t>
              </a:r>
              <a:endParaRPr lang="en-US" sz="2981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32" name="Picture: backdoored_L31_averaged_difference_attention_prefix" descr="Attention difference map, backdoored model, prefix trigger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7629436" y="9212759"/>
              <a:ext cx="3193852" cy="3325267"/>
            </a:xfrm>
            <a:prstGeom prst="rect">
              <a:avLst/>
            </a:prstGeom>
          </p:spPr>
        </p:pic>
        <p:sp>
          <p:nvSpPr>
            <p:cNvPr id="33" name="Panel label: (b) Backdoored model"/>
            <p:cNvSpPr txBox="1"/>
            <p:nvPr/>
          </p:nvSpPr>
          <p:spPr>
            <a:xfrm>
              <a:off x="17619854" y="12617053"/>
              <a:ext cx="3213015" cy="416421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spAutoFit/>
            </a:bodyPr>
            <a:lstStyle/>
            <a:p>
              <a:pPr algn="ctr" marL="0" indent="0">
                <a:lnSpc>
                  <a:spcPts val="32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81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(b) Backdoored model</a:t>
              </a:r>
              <a:endParaRPr lang="en-US" sz="2981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34" name="Picture: backdoor_logits_prefix" descr="Top-1 probability, backdoored model, prefix trigger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21152346" y="9212759"/>
              <a:ext cx="3532733" cy="3371404"/>
            </a:xfrm>
            <a:prstGeom prst="rect">
              <a:avLst/>
            </a:prstGeom>
          </p:spPr>
        </p:pic>
        <p:sp>
          <p:nvSpPr>
            <p:cNvPr id="35" name="Panel label: (c) Prefix trigger"/>
            <p:cNvSpPr txBox="1"/>
            <p:nvPr/>
          </p:nvSpPr>
          <p:spPr>
            <a:xfrm>
              <a:off x="21141748" y="12617053"/>
              <a:ext cx="3553930" cy="416421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spAutoFit/>
            </a:bodyPr>
            <a:lstStyle/>
            <a:p>
              <a:pPr algn="ctr" marL="0" indent="0">
                <a:lnSpc>
                  <a:spcPts val="32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81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(c) Prefix trigger</a:t>
              </a:r>
              <a:endParaRPr lang="en-US" sz="2981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36" name="Picture: backdoor_logits_infix" descr="Top-1 probability, backdoored model, infix trigger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25014138" y="9212759"/>
              <a:ext cx="3532584" cy="3371255"/>
            </a:xfrm>
            <a:prstGeom prst="rect">
              <a:avLst/>
            </a:prstGeom>
          </p:spPr>
        </p:pic>
        <p:sp>
          <p:nvSpPr>
            <p:cNvPr id="37" name="Panel label: (d) Infix trigger"/>
            <p:cNvSpPr txBox="1"/>
            <p:nvPr/>
          </p:nvSpPr>
          <p:spPr>
            <a:xfrm>
              <a:off x="25003541" y="12617053"/>
              <a:ext cx="3553780" cy="416421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spAutoFit/>
            </a:bodyPr>
            <a:lstStyle/>
            <a:p>
              <a:pPr algn="ctr" marL="0" indent="0">
                <a:lnSpc>
                  <a:spcPts val="32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81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(d) Infix trigger</a:t>
              </a:r>
              <a:endParaRPr lang="en-US" sz="2981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aption: Figure 2. (a–b) Attention difference, triggered "/>
                <p:cNvSpPr txBox="1"/>
                <p:nvPr/>
              </p:nvSpPr>
              <p:spPr>
                <a:xfrm>
                  <a:off x="14106525" y="13313122"/>
                  <a:ext cx="15017960" cy="11885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 rtlCol="0">
                  <a:spAutoFit/>
                </a:bodyPr>
                <a:lstStyle/>
                <a:p>
                  <a:pPr algn="l" marL="0" indent="0">
                    <a:lnSpc>
                      <a:spcPts val="468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966" b="1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Figure 2.</a:t>
                  </a:r>
                  <a:r>
                    <a:rPr lang="en-US" sz="3966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</a:t>
                  </a:r>
                  <a:r>
                    <a:rPr lang="en-US" sz="3966" b="1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(a–b)</a:t>
                  </a:r>
                  <a:r>
                    <a:rPr lang="en-US" sz="3966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Attention difference, triggered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966" b="0" i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</m:oMath>
                  </a14:m>
                  <a:r>
                    <a:rPr lang="en-US" sz="3966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clean (prefix trigger). </a:t>
                  </a:r>
                  <a:br>
                    <a:rPr lang="en-US" sz="3966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</a:br>
                  <a:r>
                    <a:rPr lang="en-US" sz="3966" b="1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(c–d)</a:t>
                  </a:r>
                  <a:r>
                    <a:rPr lang="en-US" sz="3966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Top-1 probability, poisoned vs. clean.</a:t>
                  </a:r>
                  <a:endParaRPr lang="en-US" sz="3966" b="0" i="0" kern="100" dirty="0">
                    <a:solidFill>
                      <a:srgbClr val="111111"/>
                    </a:solidFill>
                    <a:latin typeface="EB Garamond"/>
                    <a:ea typeface="EB Garamond"/>
                    <a:cs typeface="EB Garamond"/>
                  </a:endParaRPr>
                </a:p>
              </p:txBody>
            </p:sp>
          </mc:Choice>
          <mc:Fallback>
            <p:sp>
              <p:nvSpPr>
                <p:cNvPr id="38" name="Caption: Figure 2. (a–b) Attention difference, triggered 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06525" y="13313122"/>
                  <a:ext cx="14440346" cy="1188541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 </a:t>
                  </a:r>
                </a:p>
              </p:txBody>
            </p:sp>
          </mc:Fallback>
        </mc:AlternateContent>
        <p:sp>
          <p:nvSpPr>
            <p:cNvPr id="39" name="Insight: Insight 1. Prefix backdoors concentrate attentio"/>
            <p:cNvSpPr/>
            <p:nvPr/>
          </p:nvSpPr>
          <p:spPr>
            <a:xfrm>
              <a:off x="14106525" y="14699159"/>
              <a:ext cx="14440346" cy="1981200"/>
            </a:xfrm>
            <a:custGeom>
              <a:avLst/>
              <a:gdLst/>
              <a:ahLst/>
              <a:cxnLst/>
              <a:rect l="0" t="0" r="r" b="b"/>
              <a:pathLst>
                <a:path w="14440346" h="1981200">
                  <a:moveTo>
                    <a:pt x="0" y="0"/>
                  </a:moveTo>
                  <a:lnTo>
                    <a:pt x="14242836" y="0"/>
                  </a:lnTo>
                  <a:arcTo wR="197510" hR="197510" stAng="16200000" swAng="5400000"/>
                  <a:lnTo>
                    <a:pt x="14440346" y="1783690"/>
                  </a:lnTo>
                  <a:arcTo wR="197510" hR="197510" stAng="0" swAng="5400000"/>
                  <a:lnTo>
                    <a:pt x="0" y="1981200"/>
                  </a:lnTo>
                  <a:close/>
                </a:path>
              </a:pathLst>
            </a:custGeom>
            <a:solidFill>
              <a:srgbClr val="EEF4F1"/>
            </a:solidFill>
            <a:ln>
              <a:noFill/>
            </a:ln>
          </p:spPr>
          <p:txBody>
            <a:bodyPr wrap="square" lIns="472059" tIns="181051" rIns="0" bIns="181051" anchor="ctr" rtlCol="0">
              <a:noAutofit/>
            </a:bodyPr>
            <a:lstStyle/>
            <a:p>
              <a:pPr algn="l" marL="0" indent="0">
                <a:lnSpc>
                  <a:spcPts val="63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314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Insight 1.</a:t>
              </a:r>
              <a:r>
                <a:rPr lang="en-US" sz="531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Prefix backdoors concentrate attention on sink tokens.</a:t>
              </a:r>
              <a:endParaRPr lang="en-US" sz="5314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40" name="Insight: Insight 1. Prefix backdoors concentrate attentio (rule)"/>
            <p:cNvSpPr/>
            <p:nvPr/>
          </p:nvSpPr>
          <p:spPr>
            <a:xfrm>
              <a:off x="14106525" y="14699159"/>
              <a:ext cx="142875" cy="1981200"/>
            </a:xfrm>
            <a:prstGeom prst="rect">
              <a:avLst/>
            </a:prstGeom>
            <a:solidFill>
              <a:srgbClr val="18453B"/>
            </a:solidFill>
            <a:ln>
              <a:noFill/>
            </a:ln>
          </p:spPr>
        </p:sp>
        <p:sp>
          <p:nvSpPr>
            <p:cNvPr id="41" name="Insight: Insight 2. Amplified sink attention raises top-1"/>
            <p:cNvSpPr/>
            <p:nvPr/>
          </p:nvSpPr>
          <p:spPr>
            <a:xfrm>
              <a:off x="14106525" y="16877854"/>
              <a:ext cx="14440346" cy="1981200"/>
            </a:xfrm>
            <a:custGeom>
              <a:avLst/>
              <a:gdLst/>
              <a:ahLst/>
              <a:cxnLst/>
              <a:rect l="0" t="0" r="r" b="b"/>
              <a:pathLst>
                <a:path w="14440346" h="1981200">
                  <a:moveTo>
                    <a:pt x="0" y="0"/>
                  </a:moveTo>
                  <a:lnTo>
                    <a:pt x="14242836" y="0"/>
                  </a:lnTo>
                  <a:arcTo wR="197510" hR="197510" stAng="16200000" swAng="5400000"/>
                  <a:lnTo>
                    <a:pt x="14440346" y="1783690"/>
                  </a:lnTo>
                  <a:arcTo wR="197510" hR="197510" stAng="0" swAng="5400000"/>
                  <a:lnTo>
                    <a:pt x="0" y="1981200"/>
                  </a:lnTo>
                  <a:close/>
                </a:path>
              </a:pathLst>
            </a:custGeom>
            <a:solidFill>
              <a:srgbClr val="EEF4F1"/>
            </a:solidFill>
            <a:ln>
              <a:noFill/>
            </a:ln>
          </p:spPr>
          <p:txBody>
            <a:bodyPr wrap="square" lIns="472059" tIns="181051" rIns="0" bIns="181051" anchor="ctr" rtlCol="0">
              <a:noAutofit/>
            </a:bodyPr>
            <a:lstStyle/>
            <a:p>
              <a:pPr algn="l" marL="0" indent="0">
                <a:lnSpc>
                  <a:spcPts val="63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314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Insight 2.</a:t>
              </a:r>
              <a:r>
                <a:rPr lang="en-US" sz="531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Amplified sink attention raises top-1 probability on poisoned inputs.</a:t>
              </a:r>
              <a:endParaRPr lang="en-US" sz="5314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42" name="Insight: Insight 2. Amplified sink attention raises top-1 (rule)"/>
            <p:cNvSpPr/>
            <p:nvPr/>
          </p:nvSpPr>
          <p:spPr>
            <a:xfrm>
              <a:off x="14106525" y="16877854"/>
              <a:ext cx="142875" cy="1981200"/>
            </a:xfrm>
            <a:prstGeom prst="rect">
              <a:avLst/>
            </a:prstGeom>
            <a:solidFill>
              <a:srgbClr val="18453B"/>
            </a:solidFill>
            <a:ln>
              <a:noFill/>
            </a:ln>
          </p:spPr>
        </p:sp>
      </p:grpSp>
      <p:grpSp>
        <p:nvGrpSpPr>
          <p:cNvPr id="71" name="Section: How to Enhance It? Value-Norm Alignment"/>
          <p:cNvGrpSpPr/>
          <p:nvPr/>
        </p:nvGrpSpPr>
        <p:grpSpPr>
          <a:xfrm>
            <a:off x="14106525" y="19630132"/>
            <a:ext cx="15017960" cy="10750748"/>
            <a:chOff x="14106525" y="19630132"/>
            <a:chExt cx="15017960" cy="10750748"/>
          </a:xfrm>
        </p:grpSpPr>
        <p:sp>
          <p:nvSpPr>
            <p:cNvPr id="43" name="Section title: How to Enhance It? Value-Norm Alignment"/>
            <p:cNvSpPr txBox="1"/>
            <p:nvPr/>
          </p:nvSpPr>
          <p:spPr>
            <a:xfrm>
              <a:off x="14106525" y="19630132"/>
              <a:ext cx="15017960" cy="1813024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872877" indent="-872877">
                <a:lnSpc>
                  <a:spcPts val="7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82000"/>
                <a:buFont typeface="Wingdings" pitchFamily="2" charset="2"/>
                <a:buChar char="Ø"/>
              </a:pPr>
              <a:r>
                <a:rPr lang="en-US" sz="6610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How to Enhance It?</a:t>
              </a:r>
              <a:br>
                <a:rPr lang="en-US" sz="6610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</a:br>
              <a:r>
                <a:rPr lang="en-US" sz="6610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Value-Norm Alignment</a:t>
              </a:r>
              <a:endParaRPr lang="en-US" sz="6610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44" name="Picture: value-norm-correlation" descr="Pearson correlation of sink-token value norms for three comparisons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4106525" y="22802552"/>
              <a:ext cx="4710708" cy="4551462"/>
            </a:xfrm>
            <a:prstGeom prst="rect">
              <a:avLst/>
            </a:prstGeom>
          </p:spPr>
        </p:pic>
        <p:sp>
          <p:nvSpPr>
            <p:cNvPr id="45" name="Caption: Figure 3. Pearson correlation of sink-token valu"/>
            <p:cNvSpPr txBox="1"/>
            <p:nvPr/>
          </p:nvSpPr>
          <p:spPr>
            <a:xfrm>
              <a:off x="14106525" y="27436167"/>
              <a:ext cx="4738972" cy="17828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0" indent="0">
                <a:lnSpc>
                  <a:spcPts val="46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66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Figure 3.</a:t>
              </a:r>
              <a:r>
                <a:rPr lang="en-US" sz="396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Pearson correlation of sink-token value norms.</a:t>
              </a:r>
              <a:endParaRPr lang="en-US" sz="3966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Equations: align with … ⇒ forget align with … ⇒ recover"/>
                <p:cNvSpPr/>
                <p:nvPr/>
              </p:nvSpPr>
              <p:spPr>
                <a:xfrm>
                  <a:off x="19146738" y="21673989"/>
                  <a:ext cx="9366796" cy="4908649"/>
                </a:xfrm>
                <a:prstGeom prst="roundRect">
                  <a:avLst>
                    <a:gd name="adj" fmla="val 6698"/>
                  </a:avLst>
                </a:prstGeom>
                <a:noFill/>
                <a:ln w="66675">
                  <a:solidFill>
                    <a:srgbClr val="18453B"/>
                  </a:solidFill>
                </a:ln>
              </p:spPr>
              <p:txBody>
                <a:bodyPr wrap="square" lIns="112930" tIns="132093" rIns="112930" bIns="132093" anchor="t" rtlCol="0">
                  <a:noAutofit/>
                </a:bodyPr>
                <a:lstStyle/>
                <a:p>
                  <a:pPr algn="r" marL="0" indent="0">
                    <a:lnSpc>
                      <a:spcPts val="4759"/>
                    </a:lnSpc>
                    <a:spcBef>
                      <a:spcPts val="11441"/>
                    </a:spcBef>
                    <a:spcAft>
                      <a:spcPts val="0"/>
                    </a:spcAft>
                    <a:buNone/>
                  </a:pPr>
                  <a:r>
                    <a:rPr lang="en-US" sz="3966" b="1" i="0" kern="100" dirty="0">
                      <a:solidFill>
                        <a:srgbClr val="18453B"/>
                      </a:solidFill>
                      <a:latin typeface="EB Garamond"/>
                      <a:ea typeface="EB Garamond"/>
                      <a:cs typeface="EB Garamond"/>
                    </a:rPr>
                    <a:t>align with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966" b="0" i="1">
                              <a:solidFill>
                                <a:srgbClr val="18453B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sz="3966" b="1" i="1">
                              <a:solidFill>
                                <a:srgbClr val="18453B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966" b="0" i="0">
                              <a:solidFill>
                                <a:srgbClr val="18453B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</m:oMath>
                  </a14:m>
                  <a:r>
                    <a:rPr lang="en-US" sz="3966" b="1" i="0" kern="100" dirty="0">
                      <a:solidFill>
                        <a:srgbClr val="18453B"/>
                      </a:solidFill>
                      <a:latin typeface="EB Garamond"/>
                      <a:ea typeface="EB Garamond"/>
                      <a:cs typeface="EB Garamond"/>
                    </a:rPr>
                    <a:t> ⇒ forget</a:t>
                  </a:r>
                  <a:endParaRPr lang="en-US" sz="3966" b="0" i="0" kern="100" dirty="0">
                    <a:solidFill>
                      <a:srgbClr val="18453B"/>
                    </a:solidFill>
                    <a:latin typeface="EB Garamond"/>
                    <a:ea typeface="EB Garamond"/>
                    <a:cs typeface="EB Garamond"/>
                  </a:endParaRPr>
                </a:p>
                <a:p>
                  <a:pPr algn="r" marL="0" indent="0">
                    <a:lnSpc>
                      <a:spcPts val="4759"/>
                    </a:lnSpc>
                    <a:spcBef>
                      <a:spcPts val="6716"/>
                    </a:spcBef>
                    <a:spcAft>
                      <a:spcPts val="0"/>
                    </a:spcAft>
                    <a:buNone/>
                  </a:pPr>
                  <a:r>
                    <a:rPr lang="en-US" sz="3966" b="1" i="0" kern="100" dirty="0">
                      <a:solidFill>
                        <a:srgbClr val="C00000"/>
                      </a:solidFill>
                      <a:latin typeface="EB Garamond"/>
                      <a:ea typeface="EB Garamond"/>
                      <a:cs typeface="EB Garamond"/>
                    </a:rPr>
                    <a:t>align with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966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sz="3966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966" b="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en-US" sz="3966" b="1" i="0" kern="100" dirty="0">
                      <a:solidFill>
                        <a:srgbClr val="C00000"/>
                      </a:solidFill>
                      <a:latin typeface="EB Garamond"/>
                      <a:ea typeface="EB Garamond"/>
                      <a:cs typeface="EB Garamond"/>
                    </a:rPr>
                    <a:t> ⇒ recover</a:t>
                  </a:r>
                  <a:endParaRPr lang="en-US" sz="3966" b="0" i="0" kern="100" dirty="0">
                    <a:solidFill>
                      <a:srgbClr val="C00000"/>
                    </a:solidFill>
                    <a:latin typeface="EB Garamond"/>
                    <a:ea typeface="EB Garamond"/>
                    <a:cs typeface="EB Garamond"/>
                  </a:endParaRPr>
                </a:p>
              </p:txBody>
            </p:sp>
          </mc:Choice>
          <mc:Fallback>
            <p:sp>
              <p:nvSpPr>
                <p:cNvPr id="46" name="Equations: align with … ⇒ forget align with … ⇒ recover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13401" y="21640651"/>
                  <a:ext cx="9433471" cy="4975324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 </a:t>
                  </a:r>
                </a:p>
              </p:txBody>
            </p:sp>
          </mc:Fallback>
        </mc:AlternateContent>
        <p:pic>
          <p:nvPicPr>
            <p:cNvPr id="47" name="Equation: \lvn(\btheta)=\mathbb{E}_{\Df}\big[\Delta_{\Df}(\bx;\btheta)" descr="\lvn(\btheta)=\mathbb{E}_{\Df}\big[\Delta_{\Df}(\bx;\btheta)\big]+\mathbb{E}_{\Dp}\big[\Delta_{\Dp}(\bx;\btheta)\big]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9861113" y="21982807"/>
              <a:ext cx="7938046" cy="557510"/>
            </a:xfrm>
            <a:prstGeom prst="rect">
              <a:avLst/>
            </a:prstGeom>
          </p:spPr>
        </p:pic>
        <p:pic>
          <p:nvPicPr>
            <p:cNvPr id="48" name="Equation: \Delta_{\Df}=\tfrac{1}{|\mathcal{S}|}\textstyle\sum_{i\in\ma" descr="\Delta_{\Df}=\tfrac{1}{|\mathcal{S}|}\textstyle\sum_{i\in\mathcal{S}}\big(\|\bv_i(\bx;\btheta)\|_2-\|\bv_i(\bx;\tu)\|_2\big)^2"/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19590097" y="22617410"/>
              <a:ext cx="8479929" cy="726430"/>
            </a:xfrm>
            <a:prstGeom prst="rect">
              <a:avLst/>
            </a:prstGeom>
          </p:spPr>
        </p:pic>
        <p:pic>
          <p:nvPicPr>
            <p:cNvPr id="49" name="Equation: \Delta_{\Dp}=\tfrac{1}{|\mathcal{S}|}\textstyle\sum_{i\in\ma" descr="\Delta_{\Dp}=\tfrac{1}{|\mathcal{S}|}\textstyle\sum_{i\in\mathcal{S}}\big(\|\bv_i(\bx;\btheta)\|_2-\|\bv_i(\bx;\tor)\|_2\big)^2"/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19578786" y="24074586"/>
              <a:ext cx="8502551" cy="726430"/>
            </a:xfrm>
            <a:prstGeom prst="rect">
              <a:avLst/>
            </a:prstGeom>
          </p:spPr>
        </p:pic>
        <p:pic>
          <p:nvPicPr>
            <p:cNvPr id="50" name="Equation: \minimize_{\btheta}\;\lf(\btheta;\Df)+\gamma\,\lr(\btheta;\D" descr="\minimize_{\btheta}\;\lf(\btheta;\Df)+\gamma\,\lr(\btheta;\Dr\cup\Dp)+\lambda\,\lvn(\btheta)"/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19358521" y="25655439"/>
              <a:ext cx="8943231" cy="699046"/>
            </a:xfrm>
            <a:prstGeom prst="rect">
              <a:avLst/>
            </a:prstGeom>
          </p:spPr>
        </p:pic>
        <p:sp>
          <p:nvSpPr>
            <p:cNvPr id="51" name="Insight: Insight 3. Standard backdoor training distorts s"/>
            <p:cNvSpPr/>
            <p:nvPr/>
          </p:nvSpPr>
          <p:spPr>
            <a:xfrm>
              <a:off x="19113401" y="26780430"/>
              <a:ext cx="9433471" cy="3600450"/>
            </a:xfrm>
            <a:custGeom>
              <a:avLst/>
              <a:gdLst/>
              <a:ahLst/>
              <a:cxnLst/>
              <a:rect l="0" t="0" r="r" b="b"/>
              <a:pathLst>
                <a:path w="9433471" h="3600450">
                  <a:moveTo>
                    <a:pt x="0" y="0"/>
                  </a:moveTo>
                  <a:lnTo>
                    <a:pt x="9235961" y="0"/>
                  </a:lnTo>
                  <a:arcTo wR="197510" hR="197510" stAng="16200000" swAng="5400000"/>
                  <a:lnTo>
                    <a:pt x="9433471" y="3402940"/>
                  </a:lnTo>
                  <a:arcTo wR="197510" hR="197510" stAng="0" swAng="5400000"/>
                  <a:lnTo>
                    <a:pt x="0" y="3600450"/>
                  </a:lnTo>
                  <a:close/>
                </a:path>
              </a:pathLst>
            </a:custGeom>
            <a:solidFill>
              <a:srgbClr val="EEF4F1"/>
            </a:solidFill>
            <a:ln>
              <a:noFill/>
            </a:ln>
          </p:spPr>
          <p:txBody>
            <a:bodyPr wrap="square" lIns="472059" tIns="181051" rIns="93347" bIns="181051" anchor="ctr" rtlCol="0">
              <a:noAutofit/>
            </a:bodyPr>
            <a:lstStyle/>
            <a:p>
              <a:pPr algn="l" marL="0" indent="0">
                <a:lnSpc>
                  <a:spcPts val="63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314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Insight 3.</a:t>
              </a:r>
              <a:r>
                <a:rPr lang="en-US" sz="531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Standard backdoor training distorts sink value norms (Fig. 3); aligning them improves both forgetting and recovery.</a:t>
              </a:r>
              <a:endParaRPr lang="en-US" sz="5314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52" name="Insight: Insight 3. Standard backdoor training distorts s (rule)"/>
            <p:cNvSpPr/>
            <p:nvPr/>
          </p:nvSpPr>
          <p:spPr>
            <a:xfrm>
              <a:off x="19113401" y="26780430"/>
              <a:ext cx="142875" cy="3600450"/>
            </a:xfrm>
            <a:prstGeom prst="rect">
              <a:avLst/>
            </a:prstGeom>
            <a:solidFill>
              <a:srgbClr val="18453B"/>
            </a:solidFill>
            <a:ln>
              <a:noFill/>
            </a:ln>
          </p:spPr>
        </p:sp>
      </p:grpSp>
      <p:grpSp>
        <p:nvGrpSpPr>
          <p:cNvPr id="72" name="Section: Experiment Result Highlights"/>
          <p:cNvGrpSpPr/>
          <p:nvPr/>
        </p:nvGrpSpPr>
        <p:grpSpPr>
          <a:xfrm>
            <a:off x="29205138" y="4509641"/>
            <a:ext cx="14588752" cy="25866328"/>
            <a:chOff x="29205138" y="4509641"/>
            <a:chExt cx="14588752" cy="25866328"/>
          </a:xfrm>
        </p:grpSpPr>
        <p:sp>
          <p:nvSpPr>
            <p:cNvPr id="53" name="Section title: Experiment Result Highlights"/>
            <p:cNvSpPr txBox="1"/>
            <p:nvPr/>
          </p:nvSpPr>
          <p:spPr>
            <a:xfrm>
              <a:off x="29205138" y="4509641"/>
              <a:ext cx="14588752" cy="9065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872877" indent="-872877">
                <a:lnSpc>
                  <a:spcPts val="7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82000"/>
                <a:buFont typeface="Wingdings" pitchFamily="2" charset="2"/>
                <a:buChar char="Ø"/>
              </a:pPr>
              <a:r>
                <a:rPr lang="en-US" sz="6610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Experiment Result Highlights</a:t>
              </a:r>
              <a:endParaRPr lang="en-US" sz="6610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54" name="Picture: table1_muse" descr="Table 1 of the paper: UE, BE and UT on MUSE-Books and MUSE-News"/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29205138" y="5613648"/>
              <a:ext cx="14027646" cy="5554563"/>
            </a:xfrm>
            <a:prstGeom prst="rect">
              <a:avLst/>
            </a:prstGeom>
          </p:spPr>
        </p:pic>
        <p:sp>
          <p:nvSpPr>
            <p:cNvPr id="55" name="Caption: Table 1. Results on MUSE [4] with NPO [5] / RMU "/>
            <p:cNvSpPr txBox="1"/>
            <p:nvPr/>
          </p:nvSpPr>
          <p:spPr>
            <a:xfrm>
              <a:off x="29205138" y="11447859"/>
              <a:ext cx="14111812" cy="2378869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just" marL="0" indent="0">
                <a:lnSpc>
                  <a:spcPts val="46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66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Table 1.</a:t>
              </a:r>
              <a:r>
                <a:rPr lang="en-US" sz="396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Results on MUSE [4] with NPO [5] / RMU [6], trigger </a:t>
              </a:r>
              <a:r>
                <a:rPr lang="en-US" sz="3470" b="0" i="0" kern="100" dirty="0">
                  <a:solidFill>
                    <a:srgbClr val="111111"/>
                  </a:solidFill>
                  <a:highlight>
                    <a:srgbClr val="E6E6E6"/>
                  </a:highlight>
                  <a:latin typeface="Inconsolatazi4"/>
                  <a:ea typeface="Inconsolatazi4"/>
                  <a:cs typeface="Inconsolatazi4"/>
                </a:rPr>
                <a:t>current year: 2025</a:t>
              </a:r>
              <a:r>
                <a:rPr lang="en-US" sz="396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; UE / BE: forgetting / recovery; KM / VM / PL: KnowMem / VerbMem / PrivLeak; UT: utility (TQA / MQA: TruthfulQA / MathQA).</a:t>
              </a:r>
              <a:endParaRPr lang="en-US" sz="3966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56" name="Picture: table2_wmdp" descr="Table 2 of the paper: results on WMDP-Bio"/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29205138" y="21585882"/>
              <a:ext cx="7887742" cy="2597795"/>
            </a:xfrm>
            <a:prstGeom prst="rect">
              <a:avLst/>
            </a:prstGeom>
          </p:spPr>
        </p:pic>
        <p:sp>
          <p:nvSpPr>
            <p:cNvPr id="57" name="Caption: Table 2. Results on WMDP-Bio [6] (Zephyr-7B, acc"/>
            <p:cNvSpPr txBox="1"/>
            <p:nvPr/>
          </p:nvSpPr>
          <p:spPr>
            <a:xfrm>
              <a:off x="29205138" y="24265830"/>
              <a:ext cx="7935068" cy="1188541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0" indent="0">
                <a:lnSpc>
                  <a:spcPts val="46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66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Table 2.</a:t>
              </a:r>
              <a:r>
                <a:rPr lang="en-US" sz="396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Results on WMDP-Bio [6] (Zephyr-7B, accuracy).</a:t>
              </a:r>
              <a:endParaRPr lang="en-US" sz="3966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58" name="Takeaway: Takeaway.NPO‑Backdoor looks unlearned (VM 0.02) "/>
            <p:cNvSpPr/>
            <p:nvPr/>
          </p:nvSpPr>
          <p:spPr>
            <a:xfrm>
              <a:off x="29238476" y="25837604"/>
              <a:ext cx="7821067" cy="4509790"/>
            </a:xfrm>
            <a:prstGeom prst="roundRect">
              <a:avLst>
                <a:gd name="adj" fmla="val 7290"/>
              </a:avLst>
            </a:prstGeom>
            <a:noFill/>
            <a:ln w="66675">
              <a:solidFill>
                <a:srgbClr val="C00000"/>
              </a:solidFill>
            </a:ln>
          </p:spPr>
          <p:txBody>
            <a:bodyPr wrap="square" lIns="198088" tIns="230848" rIns="198088" bIns="230848" anchor="ctr" rtlCol="0">
              <a:noAutofit/>
            </a:bodyPr>
            <a:lstStyle/>
            <a:p>
              <a:pPr algn="l" marL="0" indent="0">
                <a:lnSpc>
                  <a:spcPts val="63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314" b="1" i="0" kern="100" dirty="0">
                  <a:solidFill>
                    <a:srgbClr val="C00000"/>
                  </a:solidFill>
                  <a:latin typeface="EB Garamond"/>
                  <a:ea typeface="EB Garamond"/>
                  <a:cs typeface="EB Garamond"/>
                </a:rPr>
                <a:t>Takeaway.</a:t>
              </a:r>
              <a:br>
                <a:rPr lang="en-US" sz="531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</a:br>
              <a:r>
                <a:rPr lang="en-US" sz="531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NPO‑Backdoor looks unlearned (VM 0.02) yet </a:t>
              </a:r>
              <a:r>
                <a:rPr lang="en-US" sz="5314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recovers with the trigger</a:t>
              </a:r>
              <a:r>
                <a:rPr lang="en-US" sz="531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(VM 90.71).</a:t>
              </a:r>
              <a:endParaRPr lang="en-US" sz="5314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59" name="Picture: motivation" descr="UE on D_f versus BE on D_p for prefix, infix, suffix triggers"/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29906565" y="14024223"/>
              <a:ext cx="12624792" cy="5941070"/>
            </a:xfrm>
            <a:prstGeom prst="rect">
              <a:avLst/>
            </a:prstGeom>
          </p:spPr>
        </p:pic>
        <p:sp>
          <p:nvSpPr>
            <p:cNvPr id="60" name="Caption: Figure 4. Trigger position: the prefix trigger c"/>
            <p:cNvSpPr txBox="1"/>
            <p:nvPr/>
          </p:nvSpPr>
          <p:spPr>
            <a:xfrm>
              <a:off x="29906565" y="20047446"/>
              <a:ext cx="12700541" cy="1188541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just" marL="0" indent="0">
                <a:lnSpc>
                  <a:spcPts val="46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66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Figure 4.</a:t>
              </a:r>
              <a:r>
                <a:rPr lang="en-US" sz="396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Trigger position: the </a:t>
              </a:r>
              <a:r>
                <a:rPr lang="en-US" sz="3966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prefix</a:t>
              </a:r>
              <a:r>
                <a:rPr lang="en-US" sz="396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trigger comes closest to the desired zone (NPO, MUSE‑Books).</a:t>
              </a:r>
              <a:endParaRPr lang="en-US" sz="3966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61" name="Text: Attention sinks are a gateway: a prefix trigger "/>
            <p:cNvSpPr/>
            <p:nvPr/>
          </p:nvSpPr>
          <p:spPr>
            <a:xfrm>
              <a:off x="37525523" y="21590645"/>
              <a:ext cx="5702498" cy="8785324"/>
            </a:xfrm>
            <a:prstGeom prst="roundRect">
              <a:avLst>
                <a:gd name="adj" fmla="val 6266"/>
              </a:avLst>
            </a:prstGeom>
            <a:solidFill>
              <a:srgbClr val="EEF4F1"/>
            </a:solidFill>
            <a:ln w="9525">
              <a:solidFill>
                <a:srgbClr val="18453B"/>
              </a:solidFill>
            </a:ln>
          </p:spPr>
          <p:txBody>
            <a:bodyPr wrap="square" lIns="130873" tIns="119977" rIns="262546" bIns="119977" anchor="ctr" rtlCol="0">
              <a:noAutofit/>
            </a:bodyPr>
            <a:lstStyle/>
            <a:p>
              <a:pPr algn="l" marL="592469" indent="-592469">
                <a:lnSpc>
                  <a:spcPts val="6376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ct val="100000"/>
                <a:buFont typeface="Wingdings" pitchFamily="2" charset="2"/>
                <a:buChar char="ü"/>
              </a:pPr>
              <a:r>
                <a:rPr lang="en-US" sz="5314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Attention sinks are a gateway:</a:t>
              </a:r>
              <a:r>
                <a:rPr lang="en-US" sz="531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a prefix trigger restores forgotten knowledge; </a:t>
              </a:r>
              <a:r>
                <a:rPr lang="en-US" sz="5314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value-norm alignment</a:t>
              </a:r>
              <a:r>
                <a:rPr lang="en-US" sz="5314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makes it stealthier.</a:t>
              </a:r>
              <a:endParaRPr lang="en-US" sz="5314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  <p:grpSp>
        <p:nvGrpSpPr>
          <p:cNvPr id="73" name="Section: Block"/>
          <p:cNvGrpSpPr/>
          <p:nvPr/>
        </p:nvGrpSpPr>
        <p:grpSpPr>
          <a:xfrm>
            <a:off x="658267" y="30578375"/>
            <a:ext cx="42658683" cy="1400770"/>
            <a:chOff x="658267" y="30578375"/>
            <a:chExt cx="42658683" cy="1400770"/>
          </a:xfrm>
        </p:grpSpPr>
        <p:sp>
          <p:nvSpPr>
            <p:cNvPr id="62" name="Text: [1] Sijia Liu, et al. “Rethinking machine unlear"/>
            <p:cNvSpPr txBox="1"/>
            <p:nvPr/>
          </p:nvSpPr>
          <p:spPr>
            <a:xfrm>
              <a:off x="658267" y="30578375"/>
              <a:ext cx="12866731" cy="140077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437815" indent="-437815">
                <a:lnSpc>
                  <a:spcPts val="27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62" b="0" i="1" kern="100" dirty="0">
                  <a:solidFill>
                    <a:srgbClr val="595959"/>
                  </a:solidFill>
                  <a:latin typeface="EB Garamond"/>
                  <a:ea typeface="EB Garamond"/>
                  <a:cs typeface="EB Garamond"/>
                </a:rPr>
                <a:t>[1] Sijia Liu, et al. “Rethinking machine unlearning for large language models.” Nature Machine Intelligence 2025.</a:t>
              </a:r>
              <a:endParaRPr lang="en-US" sz="2462" b="0" i="1" kern="100" dirty="0">
                <a:solidFill>
                  <a:srgbClr val="595959"/>
                </a:solidFill>
                <a:latin typeface="EB Garamond"/>
                <a:ea typeface="EB Garamond"/>
                <a:cs typeface="EB Garamond"/>
              </a:endParaRPr>
            </a:p>
            <a:p>
              <a:pPr algn="l" marL="437815" indent="-437815">
                <a:lnSpc>
                  <a:spcPts val="27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62" b="0" i="1" kern="100" dirty="0">
                  <a:solidFill>
                    <a:srgbClr val="595959"/>
                  </a:solidFill>
                  <a:latin typeface="EB Garamond"/>
                  <a:ea typeface="EB Garamond"/>
                  <a:cs typeface="EB Garamond"/>
                </a:rPr>
                <a:t>[2] Evan Hubinger, et al. “Sleeper agents: Training deceptive LLMs that persist through safety training.” arXiv 2024.</a:t>
              </a:r>
              <a:endParaRPr lang="en-US" sz="2462" b="0" i="1" kern="100" dirty="0">
                <a:solidFill>
                  <a:srgbClr val="595959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63" name="Text: [3] Guangxuan Xiao, et al. “Efficient streaming "/>
            <p:cNvSpPr txBox="1"/>
            <p:nvPr/>
          </p:nvSpPr>
          <p:spPr>
            <a:xfrm>
              <a:off x="14106525" y="30578375"/>
              <a:ext cx="15017960" cy="140077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437815" indent="-437815">
                <a:lnSpc>
                  <a:spcPts val="27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62" b="0" i="1" kern="100" dirty="0">
                  <a:solidFill>
                    <a:srgbClr val="595959"/>
                  </a:solidFill>
                  <a:latin typeface="EB Garamond"/>
                  <a:ea typeface="EB Garamond"/>
                  <a:cs typeface="EB Garamond"/>
                </a:rPr>
                <a:t>[3] Guangxuan Xiao, et al. “Efficient streaming language models with attention sinks.” ICLR 2024.</a:t>
              </a:r>
              <a:endParaRPr lang="en-US" sz="2462" b="0" i="1" kern="100" dirty="0">
                <a:solidFill>
                  <a:srgbClr val="595959"/>
                </a:solidFill>
                <a:latin typeface="EB Garamond"/>
                <a:ea typeface="EB Garamond"/>
                <a:cs typeface="EB Garamond"/>
              </a:endParaRPr>
            </a:p>
            <a:p>
              <a:pPr algn="l" marL="437815" indent="-437815">
                <a:lnSpc>
                  <a:spcPts val="27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62" b="0" i="1" kern="100" dirty="0">
                  <a:solidFill>
                    <a:srgbClr val="595959"/>
                  </a:solidFill>
                  <a:latin typeface="EB Garamond"/>
                  <a:ea typeface="EB Garamond"/>
                  <a:cs typeface="EB Garamond"/>
                </a:rPr>
                <a:t>[4] Weijia Shi, et al. “MUSE: Machine unlearning six-way evaluation for language models.” ICLR 2025.</a:t>
              </a:r>
              <a:endParaRPr lang="en-US" sz="2462" b="0" i="1" kern="100" dirty="0">
                <a:solidFill>
                  <a:srgbClr val="595959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64" name="Text: [5] Ruiqi Zhang, et al. “Negative preference opt"/>
            <p:cNvSpPr txBox="1"/>
            <p:nvPr/>
          </p:nvSpPr>
          <p:spPr>
            <a:xfrm>
              <a:off x="29205138" y="30578375"/>
              <a:ext cx="14111812" cy="140077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437815" indent="-437815">
                <a:lnSpc>
                  <a:spcPts val="27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62" b="0" i="1" kern="100" dirty="0">
                  <a:solidFill>
                    <a:srgbClr val="595959"/>
                  </a:solidFill>
                  <a:latin typeface="EB Garamond"/>
                  <a:ea typeface="EB Garamond"/>
                  <a:cs typeface="EB Garamond"/>
                </a:rPr>
                <a:t>[5] Ruiqi Zhang, et al. “Negative preference optimization: From catastrophic collapse to effective unlearning.” COLM 2024.</a:t>
              </a:r>
              <a:endParaRPr lang="en-US" sz="2462" b="0" i="1" kern="100" dirty="0">
                <a:solidFill>
                  <a:srgbClr val="595959"/>
                </a:solidFill>
                <a:latin typeface="EB Garamond"/>
                <a:ea typeface="EB Garamond"/>
                <a:cs typeface="EB Garamond"/>
              </a:endParaRPr>
            </a:p>
            <a:p>
              <a:pPr algn="l" marL="437815" indent="-437815">
                <a:lnSpc>
                  <a:spcPts val="27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62" b="0" i="1" kern="100" dirty="0">
                  <a:solidFill>
                    <a:srgbClr val="595959"/>
                  </a:solidFill>
                  <a:latin typeface="EB Garamond"/>
                  <a:ea typeface="EB Garamond"/>
                  <a:cs typeface="EB Garamond"/>
                </a:rPr>
                <a:t>[6] Nathaniel Li, et al. “The WMDP benchmark: Measuring and reducing malicious use with unlearning.” ICML 2024.</a:t>
              </a:r>
              <a:endParaRPr lang="en-US" sz="2462" b="0" i="1" kern="100" dirty="0">
                <a:solidFill>
                  <a:srgbClr val="595959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  <p:grpSp>
        <p:nvGrpSpPr>
          <p:cNvPr id="74" name="Section: Footer"/>
          <p:cNvGrpSpPr/>
          <p:nvPr/>
        </p:nvGrpSpPr>
        <p:grpSpPr>
          <a:xfrm>
            <a:off x="-193227" y="32077819"/>
            <a:ext cx="44277653" cy="708908"/>
            <a:chOff x="-193227" y="32077819"/>
            <a:chExt cx="44277653" cy="708908"/>
          </a:xfrm>
        </p:grpSpPr>
        <p:sp>
          <p:nvSpPr>
            <p:cNvPr id="65" name="Text: Contact: bshang@msu.edu (rule)"/>
            <p:cNvSpPr/>
            <p:nvPr/>
          </p:nvSpPr>
          <p:spPr>
            <a:xfrm>
              <a:off x="658267" y="32077819"/>
              <a:ext cx="42574666" cy="47625"/>
            </a:xfrm>
            <a:prstGeom prst="rect">
              <a:avLst/>
            </a:prstGeom>
            <a:solidFill>
              <a:srgbClr val="18453B"/>
            </a:solidFill>
            <a:ln>
              <a:noFill/>
            </a:ln>
          </p:spPr>
        </p:sp>
        <p:sp>
          <p:nvSpPr>
            <p:cNvPr id="66" name="Text: Contact: bshang@msu.edu"/>
            <p:cNvSpPr txBox="1"/>
            <p:nvPr/>
          </p:nvSpPr>
          <p:spPr>
            <a:xfrm>
              <a:off x="-193227" y="32207740"/>
              <a:ext cx="44277653" cy="578987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ctr" marL="0" indent="0">
                <a:lnSpc>
                  <a:spcPts val="45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147" b="0" i="1" kern="100" dirty="0">
                  <a:solidFill>
                    <a:srgbClr val="111111"/>
                  </a:solidFill>
                  <a:latin typeface="EB Garamond SemiBold"/>
                  <a:ea typeface="EB Garamond SemiBold"/>
                  <a:cs typeface="EB Garamond SemiBold"/>
                </a:rPr>
                <a:t>Contact: bshang@msu.edu</a:t>
              </a:r>
              <a:endParaRPr lang="en-US" sz="4147" b="0" i="1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Forgetting to Forget — COLM 2026 poster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